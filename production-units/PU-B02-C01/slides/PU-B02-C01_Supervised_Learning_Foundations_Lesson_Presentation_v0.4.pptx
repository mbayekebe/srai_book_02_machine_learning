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3f591374a74929" /><Relationship Type="http://schemas.openxmlformats.org/officeDocument/2006/relationships/extended-properties" Target="/docProps/app.xml" Id="R4f2dde2404594ae6" /><Relationship Type="http://schemas.openxmlformats.org/officeDocument/2006/relationships/officeDocument" Target="/ppt/presentation.xml" Id="Rff3aea09a61749b1" /></Relationships>
</file>

<file path=ppt/presentation.xml><?xml version="1.0" encoding="utf-8"?>
<p:presentation xmlns:p="http://schemas.openxmlformats.org/presentationml/2006/main">
  <p:sldMasterIdLst>
    <p:sldMasterId xmlns:r="http://schemas.openxmlformats.org/officeDocument/2006/relationships" id="2147483648" r:id="Ra51fd77503da458f"/>
  </p:sldMasterIdLst>
  <p:notesMasterIdLst>
    <p:notesMasterId xmlns:r="http://schemas.openxmlformats.org/officeDocument/2006/relationships" r:id="R019d9e4057184a07"/>
  </p:notesMasterIdLst>
  <p:sldIdLst>
    <p:sldId xmlns:r="http://schemas.openxmlformats.org/officeDocument/2006/relationships" id="256" r:id="Rdd697ab8f59a4ad3"/>
    <p:sldId xmlns:r="http://schemas.openxmlformats.org/officeDocument/2006/relationships" id="257" r:id="R49741b93e209444e"/>
    <p:sldId xmlns:r="http://schemas.openxmlformats.org/officeDocument/2006/relationships" id="258" r:id="Re71ff77c9d1a4d09"/>
    <p:sldId xmlns:r="http://schemas.openxmlformats.org/officeDocument/2006/relationships" id="259" r:id="R3342fc051de44f8b"/>
    <p:sldId xmlns:r="http://schemas.openxmlformats.org/officeDocument/2006/relationships" id="260" r:id="R162a84b464e741d5"/>
    <p:sldId xmlns:r="http://schemas.openxmlformats.org/officeDocument/2006/relationships" id="261" r:id="Rb374c47ee7304c99"/>
    <p:sldId xmlns:r="http://schemas.openxmlformats.org/officeDocument/2006/relationships" id="262" r:id="R39cb15d5352f43a6"/>
    <p:sldId xmlns:r="http://schemas.openxmlformats.org/officeDocument/2006/relationships" id="263" r:id="Ra7d99f241a21490a"/>
    <p:sldId xmlns:r="http://schemas.openxmlformats.org/officeDocument/2006/relationships" id="264" r:id="Rae29f402386644c4"/>
    <p:sldId xmlns:r="http://schemas.openxmlformats.org/officeDocument/2006/relationships" id="265" r:id="R7833dc7bced84eb9"/>
    <p:sldId xmlns:r="http://schemas.openxmlformats.org/officeDocument/2006/relationships" id="266" r:id="R0df2437ace0e4458"/>
    <p:sldId xmlns:r="http://schemas.openxmlformats.org/officeDocument/2006/relationships" id="267" r:id="R904824115bf74a5c"/>
    <p:sldId xmlns:r="http://schemas.openxmlformats.org/officeDocument/2006/relationships" id="268" r:id="R8ba916aed5ee4d83"/>
    <p:sldId xmlns:r="http://schemas.openxmlformats.org/officeDocument/2006/relationships" id="269" r:id="R3a819f7617ad41ae"/>
    <p:sldId xmlns:r="http://schemas.openxmlformats.org/officeDocument/2006/relationships" id="270" r:id="Rdb37dca912f046f0"/>
    <p:sldId xmlns:r="http://schemas.openxmlformats.org/officeDocument/2006/relationships" id="271" r:id="R150401d73d534e29"/>
    <p:sldId xmlns:r="http://schemas.openxmlformats.org/officeDocument/2006/relationships" id="272" r:id="R12101787441e44fd"/>
    <p:sldId xmlns:r="http://schemas.openxmlformats.org/officeDocument/2006/relationships" id="273" r:id="R8d0403a976c34ccd"/>
    <p:sldId xmlns:r="http://schemas.openxmlformats.org/officeDocument/2006/relationships" id="274" r:id="R32f482087da74b6e"/>
    <p:sldId xmlns:r="http://schemas.openxmlformats.org/officeDocument/2006/relationships" id="275" r:id="Rbcf03c7c2c284818"/>
    <p:sldId xmlns:r="http://schemas.openxmlformats.org/officeDocument/2006/relationships" id="276" r:id="R66d2c8ed53a444e8"/>
    <p:sldId xmlns:r="http://schemas.openxmlformats.org/officeDocument/2006/relationships" id="277" r:id="Re294401131384837"/>
    <p:sldId xmlns:r="http://schemas.openxmlformats.org/officeDocument/2006/relationships" id="278" r:id="Rb9022a3343784405"/>
    <p:sldId xmlns:r="http://schemas.openxmlformats.org/officeDocument/2006/relationships" id="279" r:id="R24370fe53f9e4dc3"/>
    <p:sldId xmlns:r="http://schemas.openxmlformats.org/officeDocument/2006/relationships" id="280" r:id="Rda559a2fb1244267"/>
    <p:sldId xmlns:r="http://schemas.openxmlformats.org/officeDocument/2006/relationships" id="281" r:id="Re6b66d5059da4414"/>
    <p:sldId xmlns:r="http://schemas.openxmlformats.org/officeDocument/2006/relationships" id="282" r:id="R7d349e1b816241dd"/>
    <p:sldId xmlns:r="http://schemas.openxmlformats.org/officeDocument/2006/relationships" id="283" r:id="R4e58d6ffe69b4b24"/>
    <p:sldId xmlns:r="http://schemas.openxmlformats.org/officeDocument/2006/relationships" id="284" r:id="R2e0ad4f7d64b44f1"/>
    <p:sldId xmlns:r="http://schemas.openxmlformats.org/officeDocument/2006/relationships" id="285" r:id="R35af2ab8df704c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c3fc1ad95b4f61" /><Relationship Type="http://schemas.openxmlformats.org/officeDocument/2006/relationships/slideMaster" Target="/ppt/slideMasters/slideMaster1.xml" Id="Ra51fd77503da458f" /><Relationship Type="http://schemas.openxmlformats.org/officeDocument/2006/relationships/notesMaster" Target="/ppt/notesMasters/notesMaster1.xml" Id="R019d9e4057184a07" /><Relationship Type="http://schemas.openxmlformats.org/officeDocument/2006/relationships/presProps" Target="/ppt/presProps.xml" Id="R2405dc73e2cd4c2a" /><Relationship Type="http://schemas.openxmlformats.org/officeDocument/2006/relationships/tableStyles" Target="/ppt/tableStyles.xml" Id="R424764284a39442a" /><Relationship Type="http://schemas.openxmlformats.org/officeDocument/2006/relationships/slide" Target="/ppt/slides/slide1.xml" Id="Rdd697ab8f59a4ad3" /><Relationship Type="http://schemas.openxmlformats.org/officeDocument/2006/relationships/slide" Target="/ppt/slides/slide2.xml" Id="R49741b93e209444e" /><Relationship Type="http://schemas.openxmlformats.org/officeDocument/2006/relationships/slide" Target="/ppt/slides/slide3.xml" Id="Re71ff77c9d1a4d09" /><Relationship Type="http://schemas.openxmlformats.org/officeDocument/2006/relationships/slide" Target="/ppt/slides/slide4.xml" Id="R3342fc051de44f8b" /><Relationship Type="http://schemas.openxmlformats.org/officeDocument/2006/relationships/slide" Target="/ppt/slides/slide5.xml" Id="R162a84b464e741d5" /><Relationship Type="http://schemas.openxmlformats.org/officeDocument/2006/relationships/slide" Target="/ppt/slides/slide6.xml" Id="Rb374c47ee7304c99" /><Relationship Type="http://schemas.openxmlformats.org/officeDocument/2006/relationships/slide" Target="/ppt/slides/slide7.xml" Id="R39cb15d5352f43a6" /><Relationship Type="http://schemas.openxmlformats.org/officeDocument/2006/relationships/slide" Target="/ppt/slides/slide8.xml" Id="Ra7d99f241a21490a" /><Relationship Type="http://schemas.openxmlformats.org/officeDocument/2006/relationships/slide" Target="/ppt/slides/slide9.xml" Id="Rae29f402386644c4" /><Relationship Type="http://schemas.openxmlformats.org/officeDocument/2006/relationships/slide" Target="/ppt/slides/slide10.xml" Id="R7833dc7bced84eb9" /><Relationship Type="http://schemas.openxmlformats.org/officeDocument/2006/relationships/slide" Target="/ppt/slides/slide11.xml" Id="R0df2437ace0e4458" /><Relationship Type="http://schemas.openxmlformats.org/officeDocument/2006/relationships/slide" Target="/ppt/slides/slide12.xml" Id="R904824115bf74a5c" /><Relationship Type="http://schemas.openxmlformats.org/officeDocument/2006/relationships/slide" Target="/ppt/slides/slide13.xml" Id="R8ba916aed5ee4d83" /><Relationship Type="http://schemas.openxmlformats.org/officeDocument/2006/relationships/slide" Target="/ppt/slides/slide14.xml" Id="R3a819f7617ad41ae" /><Relationship Type="http://schemas.openxmlformats.org/officeDocument/2006/relationships/slide" Target="/ppt/slides/slide15.xml" Id="Rdb37dca912f046f0" /><Relationship Type="http://schemas.openxmlformats.org/officeDocument/2006/relationships/slide" Target="/ppt/slides/slide16.xml" Id="R150401d73d534e29" /><Relationship Type="http://schemas.openxmlformats.org/officeDocument/2006/relationships/slide" Target="/ppt/slides/slide17.xml" Id="R12101787441e44fd" /><Relationship Type="http://schemas.openxmlformats.org/officeDocument/2006/relationships/slide" Target="/ppt/slides/slide18.xml" Id="R8d0403a976c34ccd" /><Relationship Type="http://schemas.openxmlformats.org/officeDocument/2006/relationships/slide" Target="/ppt/slides/slide19.xml" Id="R32f482087da74b6e" /><Relationship Type="http://schemas.openxmlformats.org/officeDocument/2006/relationships/slide" Target="/ppt/slides/slide20.xml" Id="Rbcf03c7c2c284818" /><Relationship Type="http://schemas.openxmlformats.org/officeDocument/2006/relationships/slide" Target="/ppt/slides/slide21.xml" Id="R66d2c8ed53a444e8" /><Relationship Type="http://schemas.openxmlformats.org/officeDocument/2006/relationships/slide" Target="/ppt/slides/slide22.xml" Id="Re294401131384837" /><Relationship Type="http://schemas.openxmlformats.org/officeDocument/2006/relationships/slide" Target="/ppt/slides/slide23.xml" Id="Rb9022a3343784405" /><Relationship Type="http://schemas.openxmlformats.org/officeDocument/2006/relationships/slide" Target="/ppt/slides/slide24.xml" Id="R24370fe53f9e4dc3" /><Relationship Type="http://schemas.openxmlformats.org/officeDocument/2006/relationships/slide" Target="/ppt/slides/slide25.xml" Id="Rda559a2fb1244267" /><Relationship Type="http://schemas.openxmlformats.org/officeDocument/2006/relationships/slide" Target="/ppt/slides/slide26.xml" Id="Re6b66d5059da4414" /><Relationship Type="http://schemas.openxmlformats.org/officeDocument/2006/relationships/slide" Target="/ppt/slides/slide27.xml" Id="R7d349e1b816241dd" /><Relationship Type="http://schemas.openxmlformats.org/officeDocument/2006/relationships/slide" Target="/ppt/slides/slide28.xml" Id="R4e58d6ffe69b4b24" /><Relationship Type="http://schemas.openxmlformats.org/officeDocument/2006/relationships/slide" Target="/ppt/slides/slide29.xml" Id="R2e0ad4f7d64b44f1" /><Relationship Type="http://schemas.openxmlformats.org/officeDocument/2006/relationships/slide" Target="/ppt/slides/slide30.xml" Id="R35af2ab8df704c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66efd8e1b240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adecbffd714466" /><Relationship Type="http://schemas.openxmlformats.org/officeDocument/2006/relationships/notesMaster" Target="/ppt/notesMasters/notesMaster1.xml" Id="R18e7657028e34d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ccba23b8124ae5" /><Relationship Type="http://schemas.openxmlformats.org/officeDocument/2006/relationships/notesMaster" Target="/ppt/notesMasters/notesMaster1.xml" Id="Ra134e36cea054d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2b3cf6ad734eb1" /><Relationship Type="http://schemas.openxmlformats.org/officeDocument/2006/relationships/notesMaster" Target="/ppt/notesMasters/notesMaster1.xml" Id="R3ae0d47a15684a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45f274f35a4b9b" /><Relationship Type="http://schemas.openxmlformats.org/officeDocument/2006/relationships/notesMaster" Target="/ppt/notesMasters/notesMaster1.xml" Id="Rb596fe909c2c4c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e5e461652d4de8" /><Relationship Type="http://schemas.openxmlformats.org/officeDocument/2006/relationships/notesMaster" Target="/ppt/notesMasters/notesMaster1.xml" Id="R6f5cde4311334a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e74408ccde4a5b" /><Relationship Type="http://schemas.openxmlformats.org/officeDocument/2006/relationships/notesMaster" Target="/ppt/notesMasters/notesMaster1.xml" Id="R53815e33cb0041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9f84638dee43ba" /><Relationship Type="http://schemas.openxmlformats.org/officeDocument/2006/relationships/notesMaster" Target="/ppt/notesMasters/notesMaster1.xml" Id="R6c64a778a7d741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31b91676b74f78" /><Relationship Type="http://schemas.openxmlformats.org/officeDocument/2006/relationships/notesMaster" Target="/ppt/notesMasters/notesMaster1.xml" Id="Rf1265347f11f48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d5e2e1869942e1" /><Relationship Type="http://schemas.openxmlformats.org/officeDocument/2006/relationships/notesMaster" Target="/ppt/notesMasters/notesMaster1.xml" Id="Rca1933d7404140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a46cbda0774abe" /><Relationship Type="http://schemas.openxmlformats.org/officeDocument/2006/relationships/notesMaster" Target="/ppt/notesMasters/notesMaster1.xml" Id="R355f7625f91a40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943b134a274d39" /><Relationship Type="http://schemas.openxmlformats.org/officeDocument/2006/relationships/notesMaster" Target="/ppt/notesMasters/notesMaster1.xml" Id="R933bdcca33e54a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0e6e175e514fb3" /><Relationship Type="http://schemas.openxmlformats.org/officeDocument/2006/relationships/notesMaster" Target="/ppt/notesMasters/notesMaster1.xml" Id="R0dbf1384409c42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42c825ab244484" /><Relationship Type="http://schemas.openxmlformats.org/officeDocument/2006/relationships/notesMaster" Target="/ppt/notesMasters/notesMaster1.xml" Id="R9d5039eab1e34a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9f8e5bd8494b63" /><Relationship Type="http://schemas.openxmlformats.org/officeDocument/2006/relationships/notesMaster" Target="/ppt/notesMasters/notesMaster1.xml" Id="R6bedad4b7e4847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eba08b2e6d24d71" /><Relationship Type="http://schemas.openxmlformats.org/officeDocument/2006/relationships/notesMaster" Target="/ppt/notesMasters/notesMaster1.xml" Id="R2474a045d414477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337440ce8541c1" /><Relationship Type="http://schemas.openxmlformats.org/officeDocument/2006/relationships/notesMaster" Target="/ppt/notesMasters/notesMaster1.xml" Id="Rd54af4b95ce94e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c984e7c48674168" /><Relationship Type="http://schemas.openxmlformats.org/officeDocument/2006/relationships/notesMaster" Target="/ppt/notesMasters/notesMaster1.xml" Id="R1dd7f228c31e46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cb9dcd0dc042cb" /><Relationship Type="http://schemas.openxmlformats.org/officeDocument/2006/relationships/notesMaster" Target="/ppt/notesMasters/notesMaster1.xml" Id="R3be8a25b51a3405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49f45d79d3d4525" /><Relationship Type="http://schemas.openxmlformats.org/officeDocument/2006/relationships/notesMaster" Target="/ppt/notesMasters/notesMaster1.xml" Id="Rcceba5d27ced43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df9031e258c46f8" /><Relationship Type="http://schemas.openxmlformats.org/officeDocument/2006/relationships/notesMaster" Target="/ppt/notesMasters/notesMaster1.xml" Id="R12ef42092ae8463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eea738869e4471a" /><Relationship Type="http://schemas.openxmlformats.org/officeDocument/2006/relationships/notesMaster" Target="/ppt/notesMasters/notesMaster1.xml" Id="R10c852490f6944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440848b10fc43c6" /><Relationship Type="http://schemas.openxmlformats.org/officeDocument/2006/relationships/notesMaster" Target="/ppt/notesMasters/notesMaster1.xml" Id="Rfd2883e20b85449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8b69a18acb145d9" /><Relationship Type="http://schemas.openxmlformats.org/officeDocument/2006/relationships/notesMaster" Target="/ppt/notesMasters/notesMaster1.xml" Id="Re79c0ced873341b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1e850b5e7764f11" /><Relationship Type="http://schemas.openxmlformats.org/officeDocument/2006/relationships/notesMaster" Target="/ppt/notesMasters/notesMaster1.xml" Id="R7e7d4c2c205643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fc9dc9cfdd4dc6" /><Relationship Type="http://schemas.openxmlformats.org/officeDocument/2006/relationships/notesMaster" Target="/ppt/notesMasters/notesMaster1.xml" Id="R2a701f0c958a4db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658e9e2aea64499" /><Relationship Type="http://schemas.openxmlformats.org/officeDocument/2006/relationships/notesMaster" Target="/ppt/notesMasters/notesMaster1.xml" Id="R9d85b038365f446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345ceeec06849f3" /><Relationship Type="http://schemas.openxmlformats.org/officeDocument/2006/relationships/notesMaster" Target="/ppt/notesMasters/notesMaster1.xml" Id="R3de5f6b195064ed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5dd6b1246544daf" /><Relationship Type="http://schemas.openxmlformats.org/officeDocument/2006/relationships/notesMaster" Target="/ppt/notesMasters/notesMaster1.xml" Id="Refd804892acd4bc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a1d99e50a0d4205" /><Relationship Type="http://schemas.openxmlformats.org/officeDocument/2006/relationships/notesMaster" Target="/ppt/notesMasters/notesMaster1.xml" Id="Reec0043c7c00433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3a16acf0cac4a38" /><Relationship Type="http://schemas.openxmlformats.org/officeDocument/2006/relationships/notesMaster" Target="/ppt/notesMasters/notesMaster1.xml" Id="R5066c1e27e404d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Book 2, Lesson 1 of SRAI. You are beginning with the central discipline of supervised learning: learning from labelled examples without confusing a good-looking score with trustworthy evidence. Throughout this lesson, you will keep the real decision visible. You will define what is known at prediction time, separate training from evaluation, compare credible baselines, and ask whether performance can be reproduced on genuinely unseen cases. The aim is not merely to fit a model. The aim is to build a defensible chain from data and assumptions to a prediction that a responsible decision-maker can interpret, challenge, and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lesson matters because predictive systems often fail before the algorithm becomes relevant. A poorly defined target, an unrealistic evaluation split, a leaked feature, or an unexamined decision rule can invalidate an otherwise sophisticated model. You should therefore treat supervised learning as a complete evidence system. The task establishes what is being predicted. The information boundary establishes what can legitimately be known. The evaluation establishes whether the system generalizes. The decision process establishes how a prediction becomes action. If any one of these elements remains implicit, the headline metric can create confidence without creating 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 the end of this lesson, you should be able to move from an operational question to a fully specified learning problem. You will identify the observational unit, the target, the feature boundary, and the prediction horizon. You will understand why optimization on training data is only a proxy for performance in use. You will design partitions that represent the deployment setting, recognize leakage and overfitting, and compare the learned model with credible alternatives. You will also be able to explain why uncertainty, subgroup behavior, and reproducibility are part of the result—not optional material added after the main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 service-demand model that predicts tomorrow's workload with almost perfect accuracy. The result looks extraordinary until you inspect the features and discover a field recorded only after the service event is completed. The model has learned from tomorrow while pretending to predict tomorrow. The test score is numerically correct for the constructed dataset, but the experiment is operationally invalid. This opening case gives you a durable habit: when performance appears unusually strong, inspect the information boundary before celebrating. Leakage often presents itself as success, so scientific skepticism is a form of quality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question is not whether the fitted model performs well on the data used to create it. The central question is whether the entire system can reproduce useful performance on cases it could not have known. That question forces you to examine the data-generating process, the timing of every feature, the way cases are partitioned, the relevance of the metric, and the uncertainty around the estimate. It also forces you to distinguish a prediction from a decision. A model may estimate risk, demand, or probability, but authority and accountability remain with the people and institutions that act on those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supervised learning task begins with the unit of analysis. In this example, one row represents one service-day. The features must contain only information available when the prediction is issued. The target records the future quantity of interest, and the horizon states how far ahead the estimate must reach. These choices are linked. If the unit changes, the meaning of the target and the permissible features may also change. Prediction time is especially important because it turns leakage control into a concrete test: for each candidate feature, you can ask whether that value would truly exist, be finalized, and be accessible at the moment of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formal notation keeps the structure precise. The dataset contains observed pairs of features and targets. A learning rule uses the training portion of those pairs to select parameters. The fitted function then maps a new feature vector to a prediction. The crucial distinction is between the observed sample and the wider process that will generate future cases. A model can memorize or exploit accidental features of the sample without learning relationships that persist. Generalization therefore concerns the gap between performance on the observed training data and expected performance on new data drawn under the intended operating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usually selects a model by minimizing empirical risk, the average loss on the training sample. Expected risk is different: it is the error we would expect across the relevant population of future cases. The training objective is therefore a proxy. Squared error emphasizes large misses, absolute error is easier to interpret in target units, and classification losses may optimize probabilities rather than a final intervention threshold. You should always reconnect the mathematical objective to the decision objective. A model can improve the optimization loss while failing to improve the outcome that matters to the institution.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generalization gap expresses the difference between expected performance and the empirical performance observed during fitting. You cannot observe expected risk directly, so you estimate it with carefully protected data and designs that approximate intended use. Underfitting occurs when the model or features cannot capture enough signal. Overfitting occurs when the fitted system adapts too closely to the training sample. The useful region lies between these extremes, but it is not defined by complexity alone. It is defined by stable performance under a valid evaluation design and by performance that is meaningful for the intended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SRAI workflow is deliberately sequential because later choices depend on earlier definitions. The decision determines the relevant unit. The unit and operational rhythm determine prediction time. Prediction time constrains the target and the admissible features. Those choices determine which split design can represent use. Only then should you compare baselines and candidate models. Verification asks whether the system was implemented as intended. Validation asks whether its evidence supports the intended use. Interpretation explains what the output means and does not mean. Action remains a governed human and institutional responsibility.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validation, and test data are separated because they answer different questions. Training data determine fitted parameters and any learned preprocessing. Validation data support choices among models, features, hyperparameters, and thresholds. The test set is reserved for a controlled final estimate. If you repeatedly inspect the test result and then adjust the system, your decisions adapt to that test sample. The test set is no longer untouched. This is a procedural form of leakage, and it is why experiment logs and predefined test policies matter even when the code itself is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random split is appropriate only when cases are effectively exchangeable for the intended use. Time-dependent prediction usually requires a temporal split so that the test period occurs after the training period. Repeated observations from the same person, site, organization, or device often require grouping, otherwise the model can benefit from near-duplicates across the boundary. Spatial applications may require geographic separation. The split is part of the scientific claim because it determines what kind of novelty the test set actually represents.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Leakage has several forms. Target leakage occurs when a feature contains the target or a post-outcome consequence. Temporal leakage occurs when later information influences an earlier prediction. Group leakage occurs when related records are split across partitions, allowing identity or shared context to cross the evaluation boundary. Pipeline leakage occurs when scaling, imputation, feature selection, or another learned transformation uses information from validation or test data. The universal control question is operational: would this exact value, definition, and transformation have existed using only information available at prediction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SRAI invariants protect the meaning of the experiment. The observational unit must remain stable across construction and interpretation. The target must be explicit and measured consistently. The information boundary must prevent unavailable values from entering the feature set. The evaluation split must protect independent evidence. The metric must reflect the decision and its costs. Finally, the complete result must be reproducible from recorded data, code, versions, seeds, and choices. When an invariant is broken, the numerical score may still be computed, but it no longer supports the claim you intended to make.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baseline is the simplest credible alternative available at the same decision time. For regression, it may be the training mean, a seasonal-naive forecast, or a current rule. For classification, it may be the majority class, a prevalence probability, or an existing screening rule. A baseline does more than set a low bar. It defines incremental value and can expose broken pipelines. If a complex model performs worse than a well-chosen simple alternative, the problem may be weak signal, misalignment, leakage removal, or implementation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curves compare training and validation performance as the sample size or model complexity changes. If both errors converge at a poor level, the system may be limited by features, capacity, target quality, or irreducible noise. If training performance remains strong while validation performance lags, the system may have high variance, hidden dependence, earlier leakage, or distribution mismatch. These patterns guide investigation but do not prove a single cause. Curves should be produced through the full pipeline so that every learned transformation is fitted only within the relevant training fold.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Regression metrics emphasize different aspects of error. Mean absolute error is expressed in the target units and describes the typical magnitude of a miss. Root mean squared error gives greater weight to large errors, which can be appropriate when extreme misses are especially costly. R-squared compares squared error with a constant reference and can be negative on unseen data. No single metric replaces residual analysis. You should still inspect whether errors change by demand level, time, region, subgroup, or other operational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Classification evidence has several layers. ROC AUC summarizes ranking across thresholds, but it does not choose the operational threshold. Precision and recall describe the consequences of a particular threshold, especially when the positive class is uncommon. Calibration asks whether predicted probabilities correspond to observed frequencies in comparable cases. A model can rank well and still produce unreliable probabilities. The final threshold should reflect prevalence, intervention capacity, the costs of false positives and false negatives, and the institution's authority to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canonical notebook uses a synthetic but realistic service-demand problem. One row represents one service-day, and the target is next-day demand. Candidate features include calendar information, lagged demand, weather, and region, all evaluated against the declared prediction time. The split is chronological so that later periods remain genuinely unseen. Seed 42 supports reproducibility, and validation RMSE is the declared selection metric. This design record makes the numerical results interpretable because you can reconstruct what was predicted, with what information, and under which evaluation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test results show a training-mean baseline RMSE of 103.958, a seasonal-naive RMSE of 40.496, and a learned-model RMSE of 30.876. The learned model therefore improves RMSE by about 23.8 percent relative to the seasonal baseline under the same temporal test design. This comparison is meaningful because the target, partition, and information boundary are held constant. The result supports incremental predictive value in this laboratory setting, but it does not by itself establish deployment readiness. You still need uncertainty, subgroup behavior, operational validation, and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deliberately adds a post-outcome variable. The resulting RMSE falls from 30.876 to 2.048, and R-squared becomes approximately one. The computation is correct, but the claim is invalid because the feature would not exist when the prediction must be issued. This contrast is pedagogically important. Leakage does not always produce an error message. It often produces a result that looks dramatically better. The correct response is not to prefer the smaller number. The correct response is to reject the experiment that violates the prediction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classification framing predicts whether demand will be high. On the controlled test set, accuracy is 0.889, precision is 0.802, recall is 0.839, F1 is 0.820, and ROC AUC is 0.955. The AUC indicates strong ranking in this synthetic laboratory, while precision and recall describe performance at the chosen threshold. The threshold itself is a policy choice influenced by staffing capacity and the relative costs of missed high-demand days and unnecessary escalation. A strong ranking score supports further review, but it does not authorize an intervention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test score is an estimate from one finite sample. The notebook uses one thousand paired bootstrap replicates to estimate uncertainty in the MAE improvement over the seasonal baseline, with every replicate showing positive improvement in the controlled run. You should also inspect subgroup performance and sample size because a favorable average can conceal systematic errors in a region or population. Sensitivity analysis extends the check by changing time cut-offs, noise, features, and thresholds. Together, these analyses show how stable the conclusion remains when reasonable aspects of the experiment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Reproducibility requires more than saving a final metric. The notebook records the random seed and split identifiers, fits all learned preprocessing only on training data, executes the regression and classification pipelines, reproduces the deliberate leakage example, and records uncertainty and subgroup evidence. Environment information and decision metadata complete the record. A successful rerun should reconstruct not only the numbers but also the logic that made those numbers meaningful. If another analyst cannot determine which data, code, versions, transformations, and choices produced the result, the evidence chain remains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official statistics, supervised learning can support imputation, classification, coding, nowcasting, and the targeting of review resources. These uses do not remove the obligations of statistical production. Sampling designs, weights, frame coverage, revisions, definitions, confidentiality, and uncertainty remain part of the result. A model may improve a production step while also changing who is represented or how errors are distributed. The statistical authority therefore retains responsibility for validation, publication standards, and communication. Prediction is a component of the system, not a substitute for the institution's mandate.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an AI-enabled workflow, the model produces an estimate. The interface should communicate the unit, horizon, uncertainty, threshold meaning, and known limitations. A reviewer interprets context, identifies exceptions, and records overrides. The authorized institution or decision-maker remains responsible for action and consequences. This separation prevents the model score from silently becoming a decision. Automation can change speed and consistency, but it does not erase accountability. The design should make observed facts, model estimates, recommended actions, human decisions, and realized outcomes distinguishable.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claim moves directly from a high score to deployment readiness. That inference is not justified. A score is meaningful only under a stated target, information boundary, partition, baseline, metric, and operating condition. The controlled revision preserves what the result can support: it may be promising under the stated evaluation design. It then identifies the remaining obligations—leakage audit, baseline comparison, pipeline verification, uncertainty, subgroup assessment, deployment validity, and confirmation that the output supports the intended decision. This is the SRAI reasoning habit: qualify the conclusion without dismissing useful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changes the risk landscape. Input distributions can drift, labels can arrive late, relationships can change, and users can adapt their behavior to the system. Governance therefore needs at least two thresholds. A warning threshold triggers investigation while the system continues under heightened review. A suspension threshold stops automated or high-impact use when evidence leaves the approved envelope. Recovery rules define what must be demonstrated before use resumes. Each trigger needs a responsible owner, an evidence window, a response time, and a documented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SRAI evidence chain connects the operational purpose to every technical and governance choice. It begins with the decision and authorized use. It records the unit, target, horizon, and admissible information. It preserves data provenance and the partition design, followed by the baseline, model, and learned preprocessing. Verification and validation establish whether the implementation and evidence are fit for purpose. Uncertainty, subgroup, and sensitivity findings qualify the headline result. Interpretation, limitations, monitoring, and accountability complete the chain. If a link is missing, the supported claim must become narrower.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principle to retain is that generalization is not a score. It is a controlled claim about how evidence from observed cases transfers to future cases under stated conditions. That claim becomes credible only when the information boundary is explicit, the evaluation design reproduces intended use, leakage is controlled, baselines are surpassed, uncertainty and subgroup behavior are examined, and the experiment is reproducible. You should now be able to look beyond the headline metric and ask what system produced it, what decision it supports, and what evidence would cause you to revise or suspend the claim. The next lesson develops linear regression as a transparent foundation for continuous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8fff7a056f4a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fb377d7a344000" /><Relationship Type="http://schemas.openxmlformats.org/officeDocument/2006/relationships/slideLayout" Target="/ppt/slideLayouts/slideLayout1.xml" Id="Rf806d4a2a1f549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06d4a2a1f549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be69fbf46b4243" /><Relationship Type="http://schemas.openxmlformats.org/officeDocument/2006/relationships/notesSlide" Target="/ppt/notesSlides/notesSlide1.xml" Id="Rceaa8787039642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f4e56f48a64f28" /><Relationship Type="http://schemas.openxmlformats.org/officeDocument/2006/relationships/notesSlide" Target="/ppt/notesSlides/notesSlide2.xml" Id="Rfca416e40fcc41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5b42f62d5343ca" /><Relationship Type="http://schemas.openxmlformats.org/officeDocument/2006/relationships/notesSlide" Target="/ppt/notesSlides/notesSlide3.xml" Id="R95b2d57d46cb40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f6fa42d963444e" /><Relationship Type="http://schemas.openxmlformats.org/officeDocument/2006/relationships/notesSlide" Target="/ppt/notesSlides/notesSlide4.xml" Id="Rfc0e9841871b43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cc45dc8f354056" /><Relationship Type="http://schemas.openxmlformats.org/officeDocument/2006/relationships/notesSlide" Target="/ppt/notesSlides/notesSlide5.xml" Id="Rffacd54832a245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ea5f9ba796402b" /><Relationship Type="http://schemas.openxmlformats.org/officeDocument/2006/relationships/notesSlide" Target="/ppt/notesSlides/notesSlide6.xml" Id="Re06276ebea4d49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c75a3207da4091" /><Relationship Type="http://schemas.openxmlformats.org/officeDocument/2006/relationships/notesSlide" Target="/ppt/notesSlides/notesSlide7.xml" Id="R91a2d7644b5c4a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3edf61cf5a4f8e" /><Relationship Type="http://schemas.openxmlformats.org/officeDocument/2006/relationships/notesSlide" Target="/ppt/notesSlides/notesSlide8.xml" Id="Rd043bff0cb4343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748b0fe086c469d" /><Relationship Type="http://schemas.openxmlformats.org/officeDocument/2006/relationships/notesSlide" Target="/ppt/notesSlides/notesSlide9.xml" Id="R551e158e7ee949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025d1072fb4330" /><Relationship Type="http://schemas.openxmlformats.org/officeDocument/2006/relationships/notesSlide" Target="/ppt/notesSlides/notesSlide10.xml" Id="R564a0952509a46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0bede4b28646d4" /><Relationship Type="http://schemas.openxmlformats.org/officeDocument/2006/relationships/notesSlide" Target="/ppt/notesSlides/notesSlide11.xml" Id="R6d9e490a8cb34c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c930c90abd4ea6" /><Relationship Type="http://schemas.openxmlformats.org/officeDocument/2006/relationships/notesSlide" Target="/ppt/notesSlides/notesSlide12.xml" Id="Raff2afb9eca94d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fdd15f4566941f0" /><Relationship Type="http://schemas.openxmlformats.org/officeDocument/2006/relationships/notesSlide" Target="/ppt/notesSlides/notesSlide13.xml" Id="R8ec3385441f441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76d00ebfe864516" /><Relationship Type="http://schemas.openxmlformats.org/officeDocument/2006/relationships/notesSlide" Target="/ppt/notesSlides/notesSlide14.xml" Id="Rb9bb9454c2a340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b18c82314d44b4" /><Relationship Type="http://schemas.openxmlformats.org/officeDocument/2006/relationships/notesSlide" Target="/ppt/notesSlides/notesSlide15.xml" Id="Rbb655e83830747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cea4843c320417e" /><Relationship Type="http://schemas.openxmlformats.org/officeDocument/2006/relationships/notesSlide" Target="/ppt/notesSlides/notesSlide16.xml" Id="R5dceba1219344b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0a4cb0ffbd24f4b" /><Relationship Type="http://schemas.openxmlformats.org/officeDocument/2006/relationships/notesSlide" Target="/ppt/notesSlides/notesSlide17.xml" Id="R000fac342a5a4f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c9419c9b644d7c" /><Relationship Type="http://schemas.openxmlformats.org/officeDocument/2006/relationships/notesSlide" Target="/ppt/notesSlides/notesSlide18.xml" Id="R2526fe08e97c41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bd5282384324b15" /><Relationship Type="http://schemas.openxmlformats.org/officeDocument/2006/relationships/notesSlide" Target="/ppt/notesSlides/notesSlide19.xml" Id="Re409db8b3eed48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c0c4bd158304141" /><Relationship Type="http://schemas.openxmlformats.org/officeDocument/2006/relationships/chart" Target="/ppt/slides/charts/chart1.xml" Id="R4dc8128af36a4f7b" /><Relationship Type="http://schemas.openxmlformats.org/officeDocument/2006/relationships/notesSlide" Target="/ppt/notesSlides/notesSlide20.xml" Id="Rbe972db8ad7d4ff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a37df7099e74649" /><Relationship Type="http://schemas.openxmlformats.org/officeDocument/2006/relationships/notesSlide" Target="/ppt/notesSlides/notesSlide21.xml" Id="R2c1810f3bc4a49e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0aed8944e334f55" /><Relationship Type="http://schemas.openxmlformats.org/officeDocument/2006/relationships/chart" Target="/ppt/slides/charts/chart2.xml" Id="Rbd7c7769be294ca1" /><Relationship Type="http://schemas.openxmlformats.org/officeDocument/2006/relationships/notesSlide" Target="/ppt/notesSlides/notesSlide22.xml" Id="R1867ff01326c4d2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74f031866d6427e" /><Relationship Type="http://schemas.openxmlformats.org/officeDocument/2006/relationships/notesSlide" Target="/ppt/notesSlides/notesSlide23.xml" Id="R9c1a35aeb4a54ea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6eb3c2eb4e14213" /><Relationship Type="http://schemas.openxmlformats.org/officeDocument/2006/relationships/notesSlide" Target="/ppt/notesSlides/notesSlide24.xml" Id="R3bd4f9c2e9dc48a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b5dfe5e2db542b8" /><Relationship Type="http://schemas.openxmlformats.org/officeDocument/2006/relationships/notesSlide" Target="/ppt/notesSlides/notesSlide25.xml" Id="R9fb827af35d04de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4455e383ec24215" /><Relationship Type="http://schemas.openxmlformats.org/officeDocument/2006/relationships/notesSlide" Target="/ppt/notesSlides/notesSlide26.xml" Id="Rf92691067f804e5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8b5968d876b46f0" /><Relationship Type="http://schemas.openxmlformats.org/officeDocument/2006/relationships/notesSlide" Target="/ppt/notesSlides/notesSlide27.xml" Id="R18070568ab5c4aa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a44400b15ac43e4" /><Relationship Type="http://schemas.openxmlformats.org/officeDocument/2006/relationships/notesSlide" Target="/ppt/notesSlides/notesSlide28.xml" Id="Rec4e5ed36d9b42d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27538acb8244dbd" /><Relationship Type="http://schemas.openxmlformats.org/officeDocument/2006/relationships/notesSlide" Target="/ppt/notesSlides/notesSlide29.xml" Id="Rcede1a62092e454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20d09eb10374e33" /><Relationship Type="http://schemas.openxmlformats.org/officeDocument/2006/relationships/notesSlide" Target="/ppt/notesSlides/notesSlide30.xml" Id="Rcd3c20f5888044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RMSE</c:v>
          </c:tx>
          <c:spPr>
            <a:solidFill xmlns:a="http://schemas.openxmlformats.org/drawingml/2006/main">
              <a:srgbClr val="2F776F"/>
            </a:solidFill>
          </c:spPr>
          <c:cat>
            <c:strRef>
              <c:f>'Chart Data'!$A$2:$A$4</c:f>
              <c:strCache>
                <c:ptCount val="3"/>
                <c:pt idx="0">
                  <c:v>Training mean</c:v>
                </c:pt>
                <c:pt idx="1">
                  <c:v>Seasonal naive</c:v>
                </c:pt>
                <c:pt idx="2">
                  <c:v>Learned model</c:v>
                </c:pt>
              </c:strCache>
            </c:strRef>
          </c:cat>
          <c:val>
            <c:numRef>
              <c:f>'Chart Data'!$B$2:$B$4</c:f>
              <c:numCache>
                <c:formatCode>General</c:formatCode>
                <c:ptCount val="3"/>
                <c:pt idx="0">
                  <c:v>103.958</c:v>
                </c:pt>
                <c:pt idx="1">
                  <c:v>40.496</c:v>
                </c:pt>
                <c:pt idx="2">
                  <c:v>30.876</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Score</c:v>
          </c:tx>
          <c:spPr>
            <a:solidFill xmlns:a="http://schemas.openxmlformats.org/drawingml/2006/main">
              <a:srgbClr val="DCA24A"/>
            </a:solidFill>
          </c:spPr>
          <c:cat>
            <c:strRef>
              <c:f>'Chart Data'!$A$2:$A$6</c:f>
              <c:strCache>
                <c:ptCount val="5"/>
                <c:pt idx="0">
                  <c:v>Accuracy</c:v>
                </c:pt>
                <c:pt idx="1">
                  <c:v>Precision</c:v>
                </c:pt>
                <c:pt idx="2">
                  <c:v>Recall</c:v>
                </c:pt>
                <c:pt idx="3">
                  <c:v>F1</c:v>
                </c:pt>
                <c:pt idx="4">
                  <c:v>ROC AUC</c:v>
                </c:pt>
              </c:strCache>
            </c:strRef>
          </c:cat>
          <c:val>
            <c:numRef>
              <c:f>'Chart Data'!$B$2:$B$6</c:f>
              <c:numCache>
                <c:formatCode>General</c:formatCode>
                <c:ptCount val="5"/>
                <c:pt idx="0">
                  <c:v>0.889</c:v>
                </c:pt>
                <c:pt idx="1">
                  <c:v>0.802</c:v>
                </c:pt>
                <c:pt idx="2">
                  <c:v>0.839</c:v>
                </c:pt>
                <c:pt idx="3">
                  <c:v>0.82</c:v>
                </c:pt>
                <c:pt idx="4">
                  <c:v>0.955</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3172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574F35B-2279-4CFB-BF30-1BF39F471E6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BAF860-4A54-4714-8C8A-28925E33A5E5}"/>
              </a:ext>
            </a:extLst>
          </p:cNvPr>
          <p:cNvSpPr>
            <a:spLocks xmlns:a="http://schemas.openxmlformats.org/drawingml/2006/main" noGrp="1"/>
          </p:cNvSpPr>
          <p:nvPr/>
        </p:nvSpPr>
        <p:spPr>
          <a:xfrm xmlns:a="http://schemas.openxmlformats.org/drawingml/2006/main">
            <a:off x="8382000" y="0"/>
            <a:ext cx="3810000" cy="6858000"/>
          </a:xfrm>
          <a:prstGeom xmlns:a="http://schemas.openxmlformats.org/drawingml/2006/main" prst="rect">
            <a:avLst/>
          </a:prstGeom>
          <a:solidFill xmlns:a="http://schemas.openxmlformats.org/drawingml/2006/main">
            <a:srgbClr val="0A23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59174B-83A1-4E48-BA45-3A113B2D941B}"/>
              </a:ext>
            </a:extLst>
          </p:cNvPr>
          <p:cNvSpPr>
            <a:spLocks xmlns:a="http://schemas.openxmlformats.org/drawingml/2006/main" noGrp="1"/>
          </p:cNvSpPr>
          <p:nvPr/>
        </p:nvSpPr>
        <p:spPr>
          <a:xfrm xmlns:a="http://schemas.openxmlformats.org/drawingml/2006/main">
            <a:off x="666750" y="4953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SRAI</a:t>
            </a:r>
          </a:p>
        </p:txBody>
      </p:sp>
      <p:sp>
        <p:nvSpPr>
          <p:cNvPr id="4" name="">
            <a:extLst xmlns:a="http://schemas.openxmlformats.org/drawingml/2006/main">
              <a:ext uri="{FF2B5EF4-FFF2-40B4-BE49-F238E27FC236}">
                <a16:creationId xmlns:a16="http://schemas.microsoft.com/office/drawing/2014/main" id="{2E7E53AD-CD14-4184-8AEC-9DE17BF7340B}"/>
              </a:ext>
            </a:extLst>
          </p:cNvPr>
          <p:cNvSpPr>
            <a:spLocks xmlns:a="http://schemas.openxmlformats.org/drawingml/2006/main" noGrp="1"/>
          </p:cNvSpPr>
          <p:nvPr/>
        </p:nvSpPr>
        <p:spPr>
          <a:xfrm xmlns:a="http://schemas.openxmlformats.org/drawingml/2006/main">
            <a:off x="666750" y="1428750"/>
            <a:ext cx="6572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0">
                <a:solidFill>
                  <a:srgbClr val="FFFFFF"/>
                </a:solidFill>
                <a:latin typeface="Calibri"/>
                <a:ea typeface="Calibri"/>
                <a:cs typeface="Calibri"/>
              </a:defRPr>
            </a:pPr>
            <a:r>
              <a:rPr sz="2775" b="0">
                <a:solidFill>
                  <a:srgbClr val="FFFFFF"/>
                </a:solidFill>
                <a:latin typeface="Calibri"/>
                <a:ea typeface="Calibri"/>
                <a:cs typeface="Calibri"/>
              </a:rPr>
              <a:t>SUPERVISED</a:t>
            </a:r>
          </a:p>
          <a:p xmlns:a="http://schemas.openxmlformats.org/drawingml/2006/main">
            <a:pPr algn="l">
              <a:defRPr sz="2775" b="0">
                <a:solidFill>
                  <a:srgbClr val="FFFFFF"/>
                </a:solidFill>
                <a:latin typeface="Calibri"/>
                <a:ea typeface="Calibri"/>
                <a:cs typeface="Calibri"/>
              </a:defRPr>
            </a:pPr>
            <a:r>
              <a:rPr sz="2775" b="0">
                <a:solidFill>
                  <a:srgbClr val="FFFFFF"/>
                </a:solidFill>
                <a:latin typeface="Calibri"/>
                <a:ea typeface="Calibri"/>
                <a:cs typeface="Calibri"/>
              </a:rPr>
              <a:t>LEARNING</a:t>
            </a:r>
          </a:p>
          <a:p xmlns:a="http://schemas.openxmlformats.org/drawingml/2006/main">
            <a:pPr algn="l">
              <a:defRPr sz="2775" b="0">
                <a:solidFill>
                  <a:srgbClr val="FFFFFF"/>
                </a:solidFill>
                <a:latin typeface="Calibri"/>
                <a:ea typeface="Calibri"/>
                <a:cs typeface="Calibri"/>
              </a:defRPr>
            </a:pPr>
            <a:r>
              <a:rPr sz="2775" b="0">
                <a:solidFill>
                  <a:srgbClr val="FFFFFF"/>
                </a:solidFill>
                <a:latin typeface="Calibri"/>
                <a:ea typeface="Calibri"/>
                <a:cs typeface="Calibri"/>
              </a:rPr>
              <a:t>FOUNDATIONS</a:t>
            </a:r>
          </a:p>
        </p:txBody>
      </p:sp>
      <p:sp>
        <p:nvSpPr>
          <p:cNvPr id="5" name="">
            <a:extLst xmlns:a="http://schemas.openxmlformats.org/drawingml/2006/main">
              <a:ext uri="{FF2B5EF4-FFF2-40B4-BE49-F238E27FC236}">
                <a16:creationId xmlns:a16="http://schemas.microsoft.com/office/drawing/2014/main" id="{FBEB50C7-6A9F-4D98-944A-79154581D88F}"/>
              </a:ext>
            </a:extLst>
          </p:cNvPr>
          <p:cNvSpPr>
            <a:spLocks xmlns:a="http://schemas.openxmlformats.org/drawingml/2006/main" noGrp="1"/>
          </p:cNvSpPr>
          <p:nvPr/>
        </p:nvSpPr>
        <p:spPr>
          <a:xfrm xmlns:a="http://schemas.openxmlformats.org/drawingml/2006/main">
            <a:off x="666750" y="3762375"/>
            <a:ext cx="1666875" cy="3810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2574913-F23B-4096-9859-53B11B1993ED}"/>
              </a:ext>
            </a:extLst>
          </p:cNvPr>
          <p:cNvSpPr>
            <a:spLocks xmlns:a="http://schemas.openxmlformats.org/drawingml/2006/main" noGrp="1"/>
          </p:cNvSpPr>
          <p:nvPr/>
        </p:nvSpPr>
        <p:spPr>
          <a:xfrm xmlns:a="http://schemas.openxmlformats.org/drawingml/2006/main">
            <a:off x="666750" y="40957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DE8E7"/>
                </a:solidFill>
                <a:latin typeface="Calibri"/>
                <a:ea typeface="Calibri"/>
                <a:cs typeface="Calibri"/>
              </a:defRPr>
            </a:pPr>
            <a:r>
              <a:rPr sz="975" b="1">
                <a:solidFill>
                  <a:srgbClr val="DDE8E7"/>
                </a:solidFill>
                <a:latin typeface="Calibri"/>
                <a:ea typeface="Calibri"/>
                <a:cs typeface="Calibri"/>
              </a:rPr>
              <a:t>Book 2 · Lesson 1 · PU-B02-C01</a:t>
            </a:r>
          </a:p>
        </p:txBody>
      </p:sp>
      <p:sp>
        <p:nvSpPr>
          <p:cNvPr id="7" name="">
            <a:extLst xmlns:a="http://schemas.openxmlformats.org/drawingml/2006/main">
              <a:ext uri="{FF2B5EF4-FFF2-40B4-BE49-F238E27FC236}">
                <a16:creationId xmlns:a16="http://schemas.microsoft.com/office/drawing/2014/main" id="{0CCC4380-7D26-4AB0-8282-F99083DDEDF0}"/>
              </a:ext>
            </a:extLst>
          </p:cNvPr>
          <p:cNvSpPr>
            <a:spLocks xmlns:a="http://schemas.openxmlformats.org/drawingml/2006/main" noGrp="1"/>
          </p:cNvSpPr>
          <p:nvPr/>
        </p:nvSpPr>
        <p:spPr>
          <a:xfrm xmlns:a="http://schemas.openxmlformats.org/drawingml/2006/main">
            <a:off x="666750" y="45148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DDE8E7"/>
                </a:solidFill>
                <a:latin typeface="Calibri"/>
                <a:ea typeface="Calibri"/>
                <a:cs typeface="Calibri"/>
              </a:defRPr>
            </a:pPr>
            <a:r>
              <a:rPr sz="1200" b="0">
                <a:solidFill>
                  <a:srgbClr val="DDE8E7"/>
                </a:solidFill>
                <a:latin typeface="Calibri"/>
                <a:ea typeface="Calibri"/>
                <a:cs typeface="Calibri"/>
              </a:rPr>
              <a:t>From labelled data to defensible decisions.</a:t>
            </a:r>
          </a:p>
        </p:txBody>
      </p:sp>
      <p:sp>
        <p:nvSpPr>
          <p:cNvPr id="8" name="">
            <a:extLst xmlns:a="http://schemas.openxmlformats.org/drawingml/2006/main">
              <a:ext uri="{FF2B5EF4-FFF2-40B4-BE49-F238E27FC236}">
                <a16:creationId xmlns:a16="http://schemas.microsoft.com/office/drawing/2014/main" id="{4BCB9771-87F0-4F3F-BAC6-FDFDC39AF307}"/>
              </a:ext>
            </a:extLst>
          </p:cNvPr>
          <p:cNvSpPr>
            <a:spLocks xmlns:a="http://schemas.openxmlformats.org/drawingml/2006/main" noGrp="1"/>
          </p:cNvSpPr>
          <p:nvPr/>
        </p:nvSpPr>
        <p:spPr>
          <a:xfrm xmlns:a="http://schemas.openxmlformats.org/drawingml/2006/main">
            <a:off x="9620250" y="15240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DCA24A"/>
                </a:solidFill>
                <a:latin typeface="Calibri"/>
                <a:ea typeface="Calibri"/>
                <a:cs typeface="Calibri"/>
              </a:defRPr>
            </a:pPr>
            <a:r>
              <a:rPr sz="2550" b="1">
                <a:solidFill>
                  <a:srgbClr val="DCA24A"/>
                </a:solidFill>
                <a:latin typeface="Calibri"/>
                <a:ea typeface="Calibri"/>
                <a:cs typeface="Calibri"/>
              </a:rPr>
              <a:t>1</a:t>
            </a:r>
          </a:p>
        </p:txBody>
      </p:sp>
      <p:sp>
        <p:nvSpPr>
          <p:cNvPr id="9" name="">
            <a:extLst xmlns:a="http://schemas.openxmlformats.org/drawingml/2006/main">
              <a:ext uri="{FF2B5EF4-FFF2-40B4-BE49-F238E27FC236}">
                <a16:creationId xmlns:a16="http://schemas.microsoft.com/office/drawing/2014/main" id="{BFFB6328-629F-4487-BCE7-3E6D291E747B}"/>
              </a:ext>
            </a:extLst>
          </p:cNvPr>
          <p:cNvSpPr>
            <a:spLocks xmlns:a="http://schemas.openxmlformats.org/drawingml/2006/main" noGrp="1"/>
          </p:cNvSpPr>
          <p:nvPr/>
        </p:nvSpPr>
        <p:spPr>
          <a:xfrm xmlns:a="http://schemas.openxmlformats.org/drawingml/2006/main">
            <a:off x="9191625" y="20478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DDE8E7"/>
                </a:solidFill>
                <a:latin typeface="Calibri"/>
                <a:ea typeface="Calibri"/>
                <a:cs typeface="Calibri"/>
              </a:defRPr>
            </a:pPr>
            <a:r>
              <a:rPr sz="900" b="0">
                <a:solidFill>
                  <a:srgbClr val="DDE8E7"/>
                </a:solidFill>
                <a:latin typeface="Calibri"/>
                <a:ea typeface="Calibri"/>
                <a:cs typeface="Calibri"/>
              </a:rPr>
              <a:t>foundation lesson</a:t>
            </a:r>
          </a:p>
        </p:txBody>
      </p:sp>
      <p:sp>
        <p:nvSpPr>
          <p:cNvPr id="10" name="">
            <a:extLst xmlns:a="http://schemas.openxmlformats.org/drawingml/2006/main">
              <a:ext uri="{FF2B5EF4-FFF2-40B4-BE49-F238E27FC236}">
                <a16:creationId xmlns:a16="http://schemas.microsoft.com/office/drawing/2014/main" id="{89BBEA17-9221-4072-B1F3-B4787301F10C}"/>
              </a:ext>
            </a:extLst>
          </p:cNvPr>
          <p:cNvSpPr>
            <a:spLocks xmlns:a="http://schemas.openxmlformats.org/drawingml/2006/main" noGrp="1"/>
          </p:cNvSpPr>
          <p:nvPr/>
        </p:nvSpPr>
        <p:spPr>
          <a:xfrm xmlns:a="http://schemas.openxmlformats.org/drawingml/2006/main">
            <a:off x="9620250" y="295275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DCA24A"/>
                </a:solidFill>
                <a:latin typeface="Calibri"/>
                <a:ea typeface="Calibri"/>
                <a:cs typeface="Calibri"/>
              </a:defRPr>
            </a:pPr>
            <a:r>
              <a:rPr sz="2550" b="1">
                <a:solidFill>
                  <a:srgbClr val="DCA24A"/>
                </a:solidFill>
                <a:latin typeface="Calibri"/>
                <a:ea typeface="Calibri"/>
                <a:cs typeface="Calibri"/>
              </a:rPr>
              <a:t>1</a:t>
            </a:r>
          </a:p>
        </p:txBody>
      </p:sp>
      <p:sp>
        <p:nvSpPr>
          <p:cNvPr id="11" name="">
            <a:extLst xmlns:a="http://schemas.openxmlformats.org/drawingml/2006/main">
              <a:ext uri="{FF2B5EF4-FFF2-40B4-BE49-F238E27FC236}">
                <a16:creationId xmlns:a16="http://schemas.microsoft.com/office/drawing/2014/main" id="{0F8A1E6A-DC0F-4559-9F2D-E06D4F87BB65}"/>
              </a:ext>
            </a:extLst>
          </p:cNvPr>
          <p:cNvSpPr>
            <a:spLocks xmlns:a="http://schemas.openxmlformats.org/drawingml/2006/main" noGrp="1"/>
          </p:cNvSpPr>
          <p:nvPr/>
        </p:nvSpPr>
        <p:spPr>
          <a:xfrm xmlns:a="http://schemas.openxmlformats.org/drawingml/2006/main">
            <a:off x="9096375" y="347662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DDE8E7"/>
                </a:solidFill>
                <a:latin typeface="Calibri"/>
                <a:ea typeface="Calibri"/>
                <a:cs typeface="Calibri"/>
              </a:defRPr>
            </a:pPr>
            <a:r>
              <a:rPr sz="900" b="0">
                <a:solidFill>
                  <a:srgbClr val="DDE8E7"/>
                </a:solidFill>
                <a:latin typeface="Calibri"/>
                <a:ea typeface="Calibri"/>
                <a:cs typeface="Calibri"/>
              </a:rPr>
              <a:t>evidence discipline</a:t>
            </a:r>
          </a:p>
        </p:txBody>
      </p:sp>
      <p:sp>
        <p:nvSpPr>
          <p:cNvPr id="12" name="">
            <a:extLst xmlns:a="http://schemas.openxmlformats.org/drawingml/2006/main">
              <a:ext uri="{FF2B5EF4-FFF2-40B4-BE49-F238E27FC236}">
                <a16:creationId xmlns:a16="http://schemas.microsoft.com/office/drawing/2014/main" id="{B51ADF7C-BB2B-47D5-8067-DC40113A9EB7}"/>
              </a:ext>
            </a:extLst>
          </p:cNvPr>
          <p:cNvSpPr>
            <a:spLocks xmlns:a="http://schemas.openxmlformats.org/drawingml/2006/main" noGrp="1"/>
          </p:cNvSpPr>
          <p:nvPr/>
        </p:nvSpPr>
        <p:spPr>
          <a:xfrm xmlns:a="http://schemas.openxmlformats.org/drawingml/2006/main">
            <a:off x="9286875" y="50482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ctr">
              <a:defRPr sz="975" b="1">
                <a:solidFill>
                  <a:srgbClr val="FFFFFF"/>
                </a:solidFill>
                <a:latin typeface="Calibri"/>
                <a:ea typeface="Calibri"/>
                <a:cs typeface="Calibri"/>
              </a:defRPr>
            </a:pPr>
            <a:r>
              <a:rPr sz="975" b="1">
                <a:solidFill>
                  <a:srgbClr val="FFFFFF"/>
                </a:solidFill>
                <a:latin typeface="Calibri"/>
                <a:ea typeface="Calibri"/>
                <a:cs typeface="Calibri"/>
              </a:rPr>
              <a:t>Mbaye Kebe</a:t>
            </a:r>
          </a:p>
        </p:txBody>
      </p:sp>
      <p:sp>
        <p:nvSpPr>
          <p:cNvPr id="13" name="">
            <a:extLst xmlns:a="http://schemas.openxmlformats.org/drawingml/2006/main">
              <a:ext uri="{FF2B5EF4-FFF2-40B4-BE49-F238E27FC236}">
                <a16:creationId xmlns:a16="http://schemas.microsoft.com/office/drawing/2014/main" id="{331786ED-4523-40E2-B708-9306AFDAD141}"/>
              </a:ext>
            </a:extLst>
          </p:cNvPr>
          <p:cNvSpPr>
            <a:spLocks xmlns:a="http://schemas.openxmlformats.org/drawingml/2006/main" noGrp="1"/>
          </p:cNvSpPr>
          <p:nvPr/>
        </p:nvSpPr>
        <p:spPr>
          <a:xfrm xmlns:a="http://schemas.openxmlformats.org/drawingml/2006/main">
            <a:off x="9477375" y="53149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ctr">
              <a:defRPr sz="750" b="1">
                <a:solidFill>
                  <a:srgbClr val="67B7B4"/>
                </a:solidFill>
                <a:latin typeface="Calibri"/>
                <a:ea typeface="Calibri"/>
                <a:cs typeface="Calibri"/>
              </a:defRPr>
            </a:pPr>
            <a:r>
              <a:rPr sz="750" b="1">
                <a:solidFill>
                  <a:srgbClr val="67B7B4"/>
                </a:solidFill>
                <a:latin typeface="Calibri"/>
                <a:ea typeface="Calibri"/>
                <a:cs typeface="Calibri"/>
              </a:rPr>
              <a:t>SRAI · v0.1</a:t>
            </a:r>
          </a:p>
        </p:txBody>
      </p:sp>
    </p:spTree>
    <p:extLst>
      <p:ext uri="{BB962C8B-B14F-4D97-AF65-F5344CB8AC3E}">
        <p14:creationId xmlns:p14="http://schemas.microsoft.com/office/powerpoint/2010/main" val="1200709462"/>
      </p:ext>
    </p:extLst>
  </p:cSld>
</p:sld>
</file>

<file path=ppt/slides/slide2.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5908376-8801-43C6-B522-E902B01AF8AE}"/>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BF8F93C5-C595-4E4B-BB07-74DBE062C0B8}"/>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79CF6DDE-B970-44F2-9E7C-98C15C6F8C1C}"/>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02</a:t>
            </a:r>
          </a:p>
        </p:txBody>
      </p:sp>
      <p:sp>
        <p:nvSpPr>
          <p:cNvPr id="4" name="">
            <a:extLst xmlns:a="http://schemas.openxmlformats.org/drawingml/2006/main">
              <a:ext uri="{FF2B5EF4-FFF2-40B4-BE49-F238E27FC236}">
                <a16:creationId xmlns:a16="http://schemas.microsoft.com/office/drawing/2014/main" id="{4EE5DCC0-1926-436B-BAFB-9F827CC153FB}"/>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E3DC4B-ABFA-4402-87B9-83B70474E369}"/>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WHY THIS LESSON MATTERS</a:t>
            </a:r>
          </a:p>
        </p:txBody>
      </p:sp>
      <p:sp>
        <p:nvSpPr>
          <p:cNvPr id="6" name="">
            <a:extLst xmlns:a="http://schemas.openxmlformats.org/drawingml/2006/main">
              <a:ext uri="{FF2B5EF4-FFF2-40B4-BE49-F238E27FC236}">
                <a16:creationId xmlns:a16="http://schemas.microsoft.com/office/drawing/2014/main" id="{7CCFDD8B-E8F8-4140-B063-0BC8FAB48388}"/>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A model can look successful and still fail the decision</a:t>
            </a:r>
          </a:p>
        </p:txBody>
      </p:sp>
      <p:sp>
        <p:nvSpPr>
          <p:cNvPr id="7" name="">
            <a:extLst xmlns:a="http://schemas.openxmlformats.org/drawingml/2006/main">
              <a:ext uri="{FF2B5EF4-FFF2-40B4-BE49-F238E27FC236}">
                <a16:creationId xmlns:a16="http://schemas.microsoft.com/office/drawing/2014/main" id="{B32843DD-5B67-4825-ABDA-21BEF8F89D03}"/>
              </a:ext>
            </a:extLst>
          </p:cNvPr>
          <p:cNvSpPr>
            <a:spLocks xmlns:a="http://schemas.openxmlformats.org/drawingml/2006/main" noGrp="1"/>
          </p:cNvSpPr>
          <p:nvPr/>
        </p:nvSpPr>
        <p:spPr>
          <a:xfrm xmlns:a="http://schemas.openxmlformats.org/drawingml/2006/main">
            <a:off x="457200" y="17145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4E6472"/>
                </a:solidFill>
                <a:latin typeface="Calibri"/>
                <a:ea typeface="Calibri"/>
                <a:cs typeface="Calibri"/>
              </a:defRPr>
            </a:pPr>
            <a:r>
              <a:rPr sz="1275" b="0">
                <a:solidFill>
                  <a:srgbClr val="4E6472"/>
                </a:solidFill>
                <a:latin typeface="Calibri"/>
                <a:ea typeface="Calibri"/>
                <a:cs typeface="Calibri"/>
              </a:rPr>
              <a:t>Before trusting a score, you need explicit answers.</a:t>
            </a:r>
          </a:p>
        </p:txBody>
      </p:sp>
      <p:sp>
        <p:nvSpPr>
          <p:cNvPr id="8" name="">
            <a:extLst xmlns:a="http://schemas.openxmlformats.org/drawingml/2006/main">
              <a:ext uri="{FF2B5EF4-FFF2-40B4-BE49-F238E27FC236}">
                <a16:creationId xmlns:a16="http://schemas.microsoft.com/office/drawing/2014/main" id="{AF5D3F51-9068-4B27-8FFF-517183269AB8}"/>
              </a:ext>
            </a:extLst>
          </p:cNvPr>
          <p:cNvSpPr>
            <a:spLocks xmlns:a="http://schemas.openxmlformats.org/drawingml/2006/main" noGrp="1"/>
          </p:cNvSpPr>
          <p:nvPr/>
        </p:nvSpPr>
        <p:spPr>
          <a:xfrm xmlns:a="http://schemas.openxmlformats.org/drawingml/2006/main">
            <a:off x="571500" y="2381250"/>
            <a:ext cx="2571750" cy="2047875"/>
          </a:xfrm>
          <a:prstGeom xmlns:a="http://schemas.openxmlformats.org/drawingml/2006/main" prst="roundRect">
            <a:avLst>
              <a:gd name="adj" fmla="val 3721"/>
            </a:avLst>
          </a:prstGeom>
          <a:solidFill xmlns:a="http://schemas.openxmlformats.org/drawingml/2006/main">
            <a:srgbClr val="0A233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A506377-5E6E-43B0-8AFB-F6716E71F321}"/>
              </a:ext>
            </a:extLst>
          </p:cNvPr>
          <p:cNvSpPr>
            <a:spLocks xmlns:a="http://schemas.openxmlformats.org/drawingml/2006/main" noGrp="1"/>
          </p:cNvSpPr>
          <p:nvPr/>
        </p:nvSpPr>
        <p:spPr>
          <a:xfrm xmlns:a="http://schemas.openxmlformats.org/drawingml/2006/main">
            <a:off x="742950" y="2533650"/>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TASK</a:t>
            </a:r>
          </a:p>
        </p:txBody>
      </p:sp>
      <p:sp>
        <p:nvSpPr>
          <p:cNvPr id="10" name="">
            <a:extLst xmlns:a="http://schemas.openxmlformats.org/drawingml/2006/main">
              <a:ext uri="{FF2B5EF4-FFF2-40B4-BE49-F238E27FC236}">
                <a16:creationId xmlns:a16="http://schemas.microsoft.com/office/drawing/2014/main" id="{85F100F8-B5AB-4129-A364-72B3A203BD72}"/>
              </a:ext>
            </a:extLst>
          </p:cNvPr>
          <p:cNvSpPr>
            <a:spLocks xmlns:a="http://schemas.openxmlformats.org/drawingml/2006/main" noGrp="1"/>
          </p:cNvSpPr>
          <p:nvPr/>
        </p:nvSpPr>
        <p:spPr>
          <a:xfrm xmlns:a="http://schemas.openxmlformats.org/drawingml/2006/main">
            <a:off x="742950" y="2838450"/>
            <a:ext cx="2228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What must be predicted?</a:t>
            </a:r>
          </a:p>
        </p:txBody>
      </p:sp>
      <p:sp>
        <p:nvSpPr>
          <p:cNvPr id="11" name="">
            <a:extLst xmlns:a="http://schemas.openxmlformats.org/drawingml/2006/main">
              <a:ext uri="{FF2B5EF4-FFF2-40B4-BE49-F238E27FC236}">
                <a16:creationId xmlns:a16="http://schemas.microsoft.com/office/drawing/2014/main" id="{69839469-CB2F-436B-AA76-0A4D24B9705C}"/>
              </a:ext>
            </a:extLst>
          </p:cNvPr>
          <p:cNvSpPr>
            <a:spLocks xmlns:a="http://schemas.openxmlformats.org/drawingml/2006/main" noGrp="1"/>
          </p:cNvSpPr>
          <p:nvPr/>
        </p:nvSpPr>
        <p:spPr>
          <a:xfrm xmlns:a="http://schemas.openxmlformats.org/drawingml/2006/main">
            <a:off x="3429000" y="2381250"/>
            <a:ext cx="2571750" cy="2047875"/>
          </a:xfrm>
          <a:prstGeom xmlns:a="http://schemas.openxmlformats.org/drawingml/2006/main" prst="roundRect">
            <a:avLst>
              <a:gd name="adj" fmla="val 3721"/>
            </a:avLst>
          </a:prstGeom>
          <a:solidFill xmlns:a="http://schemas.openxmlformats.org/drawingml/2006/main">
            <a:srgbClr val="0A233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17DFCC0-2183-4F89-A713-153BEA9033B5}"/>
              </a:ext>
            </a:extLst>
          </p:cNvPr>
          <p:cNvSpPr>
            <a:spLocks xmlns:a="http://schemas.openxmlformats.org/drawingml/2006/main" noGrp="1"/>
          </p:cNvSpPr>
          <p:nvPr/>
        </p:nvSpPr>
        <p:spPr>
          <a:xfrm xmlns:a="http://schemas.openxmlformats.org/drawingml/2006/main">
            <a:off x="3600450" y="2533650"/>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BOUNDARY</a:t>
            </a:r>
          </a:p>
        </p:txBody>
      </p:sp>
      <p:sp>
        <p:nvSpPr>
          <p:cNvPr id="13" name="">
            <a:extLst xmlns:a="http://schemas.openxmlformats.org/drawingml/2006/main">
              <a:ext uri="{FF2B5EF4-FFF2-40B4-BE49-F238E27FC236}">
                <a16:creationId xmlns:a16="http://schemas.microsoft.com/office/drawing/2014/main" id="{95D6CE57-C156-4D46-B02E-1DF9C93FF535}"/>
              </a:ext>
            </a:extLst>
          </p:cNvPr>
          <p:cNvSpPr>
            <a:spLocks xmlns:a="http://schemas.openxmlformats.org/drawingml/2006/main" noGrp="1"/>
          </p:cNvSpPr>
          <p:nvPr/>
        </p:nvSpPr>
        <p:spPr>
          <a:xfrm xmlns:a="http://schemas.openxmlformats.org/drawingml/2006/main">
            <a:off x="3600450" y="2838450"/>
            <a:ext cx="2228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What is known at prediction time?</a:t>
            </a:r>
          </a:p>
        </p:txBody>
      </p:sp>
      <p:sp>
        <p:nvSpPr>
          <p:cNvPr id="14" name="">
            <a:extLst xmlns:a="http://schemas.openxmlformats.org/drawingml/2006/main">
              <a:ext uri="{FF2B5EF4-FFF2-40B4-BE49-F238E27FC236}">
                <a16:creationId xmlns:a16="http://schemas.microsoft.com/office/drawing/2014/main" id="{9042B52E-4048-425C-B7DB-E4339E3D2ED8}"/>
              </a:ext>
            </a:extLst>
          </p:cNvPr>
          <p:cNvSpPr>
            <a:spLocks xmlns:a="http://schemas.openxmlformats.org/drawingml/2006/main" noGrp="1"/>
          </p:cNvSpPr>
          <p:nvPr/>
        </p:nvSpPr>
        <p:spPr>
          <a:xfrm xmlns:a="http://schemas.openxmlformats.org/drawingml/2006/main">
            <a:off x="6286500" y="2381250"/>
            <a:ext cx="2571750" cy="2047875"/>
          </a:xfrm>
          <a:prstGeom xmlns:a="http://schemas.openxmlformats.org/drawingml/2006/main" prst="roundRect">
            <a:avLst>
              <a:gd name="adj" fmla="val 3721"/>
            </a:avLst>
          </a:prstGeom>
          <a:solidFill xmlns:a="http://schemas.openxmlformats.org/drawingml/2006/main">
            <a:srgbClr val="0A233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84CBD4B-C784-40AD-9E55-CC2B65D34316}"/>
              </a:ext>
            </a:extLst>
          </p:cNvPr>
          <p:cNvSpPr>
            <a:spLocks xmlns:a="http://schemas.openxmlformats.org/drawingml/2006/main" noGrp="1"/>
          </p:cNvSpPr>
          <p:nvPr/>
        </p:nvSpPr>
        <p:spPr>
          <a:xfrm xmlns:a="http://schemas.openxmlformats.org/drawingml/2006/main">
            <a:off x="6457950" y="2533650"/>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EVIDENCE</a:t>
            </a:r>
          </a:p>
        </p:txBody>
      </p:sp>
      <p:sp>
        <p:nvSpPr>
          <p:cNvPr id="16" name="">
            <a:extLst xmlns:a="http://schemas.openxmlformats.org/drawingml/2006/main">
              <a:ext uri="{FF2B5EF4-FFF2-40B4-BE49-F238E27FC236}">
                <a16:creationId xmlns:a16="http://schemas.microsoft.com/office/drawing/2014/main" id="{81CE49DE-41E2-412C-9F36-5CA0D9328298}"/>
              </a:ext>
            </a:extLst>
          </p:cNvPr>
          <p:cNvSpPr>
            <a:spLocks xmlns:a="http://schemas.openxmlformats.org/drawingml/2006/main" noGrp="1"/>
          </p:cNvSpPr>
          <p:nvPr/>
        </p:nvSpPr>
        <p:spPr>
          <a:xfrm xmlns:a="http://schemas.openxmlformats.org/drawingml/2006/main">
            <a:off x="6457950" y="2838450"/>
            <a:ext cx="2228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What proves generalization?</a:t>
            </a:r>
          </a:p>
        </p:txBody>
      </p:sp>
      <p:sp>
        <p:nvSpPr>
          <p:cNvPr id="17" name="">
            <a:extLst xmlns:a="http://schemas.openxmlformats.org/drawingml/2006/main">
              <a:ext uri="{FF2B5EF4-FFF2-40B4-BE49-F238E27FC236}">
                <a16:creationId xmlns:a16="http://schemas.microsoft.com/office/drawing/2014/main" id="{5698C1F0-618B-4B74-9CB1-14CDAE55BA4F}"/>
              </a:ext>
            </a:extLst>
          </p:cNvPr>
          <p:cNvSpPr>
            <a:spLocks xmlns:a="http://schemas.openxmlformats.org/drawingml/2006/main" noGrp="1"/>
          </p:cNvSpPr>
          <p:nvPr/>
        </p:nvSpPr>
        <p:spPr>
          <a:xfrm xmlns:a="http://schemas.openxmlformats.org/drawingml/2006/main">
            <a:off x="9144000" y="2381250"/>
            <a:ext cx="2571750" cy="2047875"/>
          </a:xfrm>
          <a:prstGeom xmlns:a="http://schemas.openxmlformats.org/drawingml/2006/main" prst="roundRect">
            <a:avLst>
              <a:gd name="adj" fmla="val 3721"/>
            </a:avLst>
          </a:prstGeom>
          <a:solidFill xmlns:a="http://schemas.openxmlformats.org/drawingml/2006/main">
            <a:srgbClr val="0A233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970322D-4BD2-4B90-8FFF-97C6D3E676D6}"/>
              </a:ext>
            </a:extLst>
          </p:cNvPr>
          <p:cNvSpPr>
            <a:spLocks xmlns:a="http://schemas.openxmlformats.org/drawingml/2006/main" noGrp="1"/>
          </p:cNvSpPr>
          <p:nvPr/>
        </p:nvSpPr>
        <p:spPr>
          <a:xfrm xmlns:a="http://schemas.openxmlformats.org/drawingml/2006/main">
            <a:off x="9315450" y="2533650"/>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ACTION</a:t>
            </a:r>
          </a:p>
        </p:txBody>
      </p:sp>
      <p:sp>
        <p:nvSpPr>
          <p:cNvPr id="19" name="">
            <a:extLst xmlns:a="http://schemas.openxmlformats.org/drawingml/2006/main">
              <a:ext uri="{FF2B5EF4-FFF2-40B4-BE49-F238E27FC236}">
                <a16:creationId xmlns:a16="http://schemas.microsoft.com/office/drawing/2014/main" id="{69703498-A4E9-4A69-982C-3FB72780B762}"/>
              </a:ext>
            </a:extLst>
          </p:cNvPr>
          <p:cNvSpPr>
            <a:spLocks xmlns:a="http://schemas.openxmlformats.org/drawingml/2006/main" noGrp="1"/>
          </p:cNvSpPr>
          <p:nvPr/>
        </p:nvSpPr>
        <p:spPr>
          <a:xfrm xmlns:a="http://schemas.openxmlformats.org/drawingml/2006/main">
            <a:off x="9315450" y="2838450"/>
            <a:ext cx="2228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Who decides what happens next?</a:t>
            </a:r>
          </a:p>
        </p:txBody>
      </p:sp>
      <p:sp>
        <p:nvSpPr>
          <p:cNvPr id="20" name="">
            <a:extLst xmlns:a="http://schemas.openxmlformats.org/drawingml/2006/main">
              <a:ext uri="{FF2B5EF4-FFF2-40B4-BE49-F238E27FC236}">
                <a16:creationId xmlns:a16="http://schemas.microsoft.com/office/drawing/2014/main" id="{F8FF5728-52DC-4507-9703-3A71CAC38852}"/>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Supervised learning is an evidence system—not merely an algorithm.</a:t>
            </a:r>
          </a:p>
        </p:txBody>
      </p:sp>
    </p:spTree>
    <p:extLst>
      <p:ext uri="{BB962C8B-B14F-4D97-AF65-F5344CB8AC3E}">
        <p14:creationId xmlns:p14="http://schemas.microsoft.com/office/powerpoint/2010/main" val="404645405"/>
      </p:ext>
    </p:extLst>
  </p:cSld>
</p:sld>
</file>

<file path=ppt/slides/slide3.xml><?xml version="1.0" encoding="utf-8"?>
<p:sld xmlns:p="http://schemas.openxmlformats.org/presentationml/2006/main">
  <p:cSld>
    <p:bg>
      <p:bgPr>
        <a:solidFill xmlns:a="http://schemas.openxmlformats.org/drawingml/2006/main">
          <a:srgbClr val="03172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46DFE06-B67C-49A7-A281-39C437D42DEE}"/>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92698EDB-442A-4675-B483-2D2B85A6DFF1}"/>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67B7B4"/>
                </a:solidFill>
                <a:latin typeface="Calibri"/>
                <a:ea typeface="Calibri"/>
                <a:cs typeface="Calibri"/>
              </a:defRPr>
            </a:pPr>
            <a:r>
              <a:rPr sz="750" b="1">
                <a:solidFill>
                  <a:srgbClr val="67B7B4"/>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103C18D7-07BB-462E-9664-9929312CF22B}"/>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7B7B4"/>
                </a:solidFill>
                <a:latin typeface="Calibri"/>
                <a:ea typeface="Calibri"/>
                <a:cs typeface="Calibri"/>
              </a:defRPr>
            </a:pPr>
            <a:r>
              <a:rPr sz="750" b="1">
                <a:solidFill>
                  <a:srgbClr val="67B7B4"/>
                </a:solidFill>
                <a:latin typeface="Calibri"/>
                <a:ea typeface="Calibri"/>
                <a:cs typeface="Calibri"/>
              </a:rPr>
              <a:t>03</a:t>
            </a:r>
          </a:p>
        </p:txBody>
      </p:sp>
      <p:sp>
        <p:nvSpPr>
          <p:cNvPr id="4" name="">
            <a:extLst xmlns:a="http://schemas.openxmlformats.org/drawingml/2006/main">
              <a:ext uri="{FF2B5EF4-FFF2-40B4-BE49-F238E27FC236}">
                <a16:creationId xmlns:a16="http://schemas.microsoft.com/office/drawing/2014/main" id="{D5E6C7FD-9DDD-4795-AA96-3E2672DC2E39}"/>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2F77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FEB63C-27C6-49AE-ADF2-EFCB9593BCFA}"/>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LEARNING OBJECTIVES</a:t>
            </a:r>
          </a:p>
        </p:txBody>
      </p:sp>
      <p:sp>
        <p:nvSpPr>
          <p:cNvPr id="6" name="">
            <a:extLst xmlns:a="http://schemas.openxmlformats.org/drawingml/2006/main">
              <a:ext uri="{FF2B5EF4-FFF2-40B4-BE49-F238E27FC236}">
                <a16:creationId xmlns:a16="http://schemas.microsoft.com/office/drawing/2014/main" id="{6C5BA986-9F53-47C5-B587-91608FCB3256}"/>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FFFFFF"/>
                </a:solidFill>
                <a:latin typeface="Calibri"/>
                <a:ea typeface="Calibri"/>
                <a:cs typeface="Calibri"/>
              </a:defRPr>
            </a:pPr>
            <a:r>
              <a:rPr sz="2325" b="0">
                <a:solidFill>
                  <a:srgbClr val="FFFFFF"/>
                </a:solidFill>
                <a:latin typeface="Calibri"/>
                <a:ea typeface="Calibri"/>
                <a:cs typeface="Calibri"/>
              </a:rPr>
              <a:t>By the end, you can reason through the full learning system</a:t>
            </a:r>
          </a:p>
        </p:txBody>
      </p:sp>
      <p:sp>
        <p:nvSpPr>
          <p:cNvPr id="7" name="">
            <a:extLst xmlns:a="http://schemas.openxmlformats.org/drawingml/2006/main">
              <a:ext uri="{FF2B5EF4-FFF2-40B4-BE49-F238E27FC236}">
                <a16:creationId xmlns:a16="http://schemas.microsoft.com/office/drawing/2014/main" id="{CB9E147C-2BF3-4B76-B3EE-0C43BD4F9A4A}"/>
              </a:ext>
            </a:extLst>
          </p:cNvPr>
          <p:cNvSpPr>
            <a:spLocks xmlns:a="http://schemas.openxmlformats.org/drawingml/2006/main" noGrp="1"/>
          </p:cNvSpPr>
          <p:nvPr/>
        </p:nvSpPr>
        <p:spPr>
          <a:xfrm xmlns:a="http://schemas.openxmlformats.org/drawingml/2006/main">
            <a:off x="857250" y="20955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85F32973-1A00-421A-BD2A-BF53020EFFA7}"/>
              </a:ext>
            </a:extLst>
          </p:cNvPr>
          <p:cNvSpPr>
            <a:spLocks xmlns:a="http://schemas.openxmlformats.org/drawingml/2006/main" noGrp="1"/>
          </p:cNvSpPr>
          <p:nvPr/>
        </p:nvSpPr>
        <p:spPr>
          <a:xfrm xmlns:a="http://schemas.openxmlformats.org/drawingml/2006/main">
            <a:off x="1333500" y="22098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D8FCABC-5D47-42AE-8253-9ACEAE4D16ED}"/>
              </a:ext>
            </a:extLst>
          </p:cNvPr>
          <p:cNvSpPr>
            <a:spLocks xmlns:a="http://schemas.openxmlformats.org/drawingml/2006/main" noGrp="1"/>
          </p:cNvSpPr>
          <p:nvPr/>
        </p:nvSpPr>
        <p:spPr>
          <a:xfrm xmlns:a="http://schemas.openxmlformats.org/drawingml/2006/main">
            <a:off x="1952625" y="20097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Translate an operational need into a prediction task</a:t>
            </a:r>
          </a:p>
        </p:txBody>
      </p:sp>
      <p:sp>
        <p:nvSpPr>
          <p:cNvPr id="10" name="">
            <a:extLst xmlns:a="http://schemas.openxmlformats.org/drawingml/2006/main">
              <a:ext uri="{FF2B5EF4-FFF2-40B4-BE49-F238E27FC236}">
                <a16:creationId xmlns:a16="http://schemas.microsoft.com/office/drawing/2014/main" id="{5A4F2FF3-C6E3-492B-950C-710F2CF91BC1}"/>
              </a:ext>
            </a:extLst>
          </p:cNvPr>
          <p:cNvSpPr>
            <a:spLocks xmlns:a="http://schemas.openxmlformats.org/drawingml/2006/main" noGrp="1"/>
          </p:cNvSpPr>
          <p:nvPr/>
        </p:nvSpPr>
        <p:spPr>
          <a:xfrm xmlns:a="http://schemas.openxmlformats.org/drawingml/2006/main">
            <a:off x="857250" y="26479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02</a:t>
            </a:r>
          </a:p>
        </p:txBody>
      </p:sp>
      <p:sp>
        <p:nvSpPr>
          <p:cNvPr id="11" name="">
            <a:extLst xmlns:a="http://schemas.openxmlformats.org/drawingml/2006/main">
              <a:ext uri="{FF2B5EF4-FFF2-40B4-BE49-F238E27FC236}">
                <a16:creationId xmlns:a16="http://schemas.microsoft.com/office/drawing/2014/main" id="{18563811-4C39-46BD-8A3D-07B6E3E10219}"/>
              </a:ext>
            </a:extLst>
          </p:cNvPr>
          <p:cNvSpPr>
            <a:spLocks xmlns:a="http://schemas.openxmlformats.org/drawingml/2006/main" noGrp="1"/>
          </p:cNvSpPr>
          <p:nvPr/>
        </p:nvSpPr>
        <p:spPr>
          <a:xfrm xmlns:a="http://schemas.openxmlformats.org/drawingml/2006/main">
            <a:off x="1333500" y="276225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BC860E1-EC17-4034-BB8A-770C3C6BC339}"/>
              </a:ext>
            </a:extLst>
          </p:cNvPr>
          <p:cNvSpPr>
            <a:spLocks xmlns:a="http://schemas.openxmlformats.org/drawingml/2006/main" noGrp="1"/>
          </p:cNvSpPr>
          <p:nvPr/>
        </p:nvSpPr>
        <p:spPr>
          <a:xfrm xmlns:a="http://schemas.openxmlformats.org/drawingml/2006/main">
            <a:off x="1952625" y="25622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Distinguish observations, features, targets and prediction time</a:t>
            </a:r>
          </a:p>
        </p:txBody>
      </p:sp>
      <p:sp>
        <p:nvSpPr>
          <p:cNvPr id="13" name="">
            <a:extLst xmlns:a="http://schemas.openxmlformats.org/drawingml/2006/main">
              <a:ext uri="{FF2B5EF4-FFF2-40B4-BE49-F238E27FC236}">
                <a16:creationId xmlns:a16="http://schemas.microsoft.com/office/drawing/2014/main" id="{EA47ACCC-EE5F-4D31-9CB8-8EEFECC19155}"/>
              </a:ext>
            </a:extLst>
          </p:cNvPr>
          <p:cNvSpPr>
            <a:spLocks xmlns:a="http://schemas.openxmlformats.org/drawingml/2006/main" noGrp="1"/>
          </p:cNvSpPr>
          <p:nvPr/>
        </p:nvSpPr>
        <p:spPr>
          <a:xfrm xmlns:a="http://schemas.openxmlformats.org/drawingml/2006/main">
            <a:off x="857250" y="32004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03</a:t>
            </a:r>
          </a:p>
        </p:txBody>
      </p:sp>
      <p:sp>
        <p:nvSpPr>
          <p:cNvPr id="14" name="">
            <a:extLst xmlns:a="http://schemas.openxmlformats.org/drawingml/2006/main">
              <a:ext uri="{FF2B5EF4-FFF2-40B4-BE49-F238E27FC236}">
                <a16:creationId xmlns:a16="http://schemas.microsoft.com/office/drawing/2014/main" id="{5BC8AB9C-03F1-41A3-B341-7D3B383B34B9}"/>
              </a:ext>
            </a:extLst>
          </p:cNvPr>
          <p:cNvSpPr>
            <a:spLocks xmlns:a="http://schemas.openxmlformats.org/drawingml/2006/main" noGrp="1"/>
          </p:cNvSpPr>
          <p:nvPr/>
        </p:nvSpPr>
        <p:spPr>
          <a:xfrm xmlns:a="http://schemas.openxmlformats.org/drawingml/2006/main">
            <a:off x="1333500" y="33147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CD1955D-F168-495C-ABE5-AC30CCB59FFC}"/>
              </a:ext>
            </a:extLst>
          </p:cNvPr>
          <p:cNvSpPr>
            <a:spLocks xmlns:a="http://schemas.openxmlformats.org/drawingml/2006/main" noGrp="1"/>
          </p:cNvSpPr>
          <p:nvPr/>
        </p:nvSpPr>
        <p:spPr>
          <a:xfrm xmlns:a="http://schemas.openxmlformats.org/drawingml/2006/main">
            <a:off x="1952625" y="31146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Explain empirical risk, expected risk and generalization</a:t>
            </a:r>
          </a:p>
        </p:txBody>
      </p:sp>
      <p:sp>
        <p:nvSpPr>
          <p:cNvPr id="16" name="">
            <a:extLst xmlns:a="http://schemas.openxmlformats.org/drawingml/2006/main">
              <a:ext uri="{FF2B5EF4-FFF2-40B4-BE49-F238E27FC236}">
                <a16:creationId xmlns:a16="http://schemas.microsoft.com/office/drawing/2014/main" id="{02C337F3-08FA-4794-B7B0-5A083C26CE9C}"/>
              </a:ext>
            </a:extLst>
          </p:cNvPr>
          <p:cNvSpPr>
            <a:spLocks xmlns:a="http://schemas.openxmlformats.org/drawingml/2006/main" noGrp="1"/>
          </p:cNvSpPr>
          <p:nvPr/>
        </p:nvSpPr>
        <p:spPr>
          <a:xfrm xmlns:a="http://schemas.openxmlformats.org/drawingml/2006/main">
            <a:off x="857250" y="37528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C1C4DFD2-9AF3-48CE-A7E1-DD8D10691BC5}"/>
              </a:ext>
            </a:extLst>
          </p:cNvPr>
          <p:cNvSpPr>
            <a:spLocks xmlns:a="http://schemas.openxmlformats.org/drawingml/2006/main" noGrp="1"/>
          </p:cNvSpPr>
          <p:nvPr/>
        </p:nvSpPr>
        <p:spPr>
          <a:xfrm xmlns:a="http://schemas.openxmlformats.org/drawingml/2006/main">
            <a:off x="1333500" y="386715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AC8DBC4-564B-499F-972E-C4AF4437D274}"/>
              </a:ext>
            </a:extLst>
          </p:cNvPr>
          <p:cNvSpPr>
            <a:spLocks xmlns:a="http://schemas.openxmlformats.org/drawingml/2006/main" noGrp="1"/>
          </p:cNvSpPr>
          <p:nvPr/>
        </p:nvSpPr>
        <p:spPr>
          <a:xfrm xmlns:a="http://schemas.openxmlformats.org/drawingml/2006/main">
            <a:off x="1952625" y="36671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Construct training, validation and test partitions</a:t>
            </a:r>
          </a:p>
        </p:txBody>
      </p:sp>
      <p:sp>
        <p:nvSpPr>
          <p:cNvPr id="19" name="">
            <a:extLst xmlns:a="http://schemas.openxmlformats.org/drawingml/2006/main">
              <a:ext uri="{FF2B5EF4-FFF2-40B4-BE49-F238E27FC236}">
                <a16:creationId xmlns:a16="http://schemas.microsoft.com/office/drawing/2014/main" id="{C88A17E5-0829-49FA-B469-3A8F46B372A2}"/>
              </a:ext>
            </a:extLst>
          </p:cNvPr>
          <p:cNvSpPr>
            <a:spLocks xmlns:a="http://schemas.openxmlformats.org/drawingml/2006/main" noGrp="1"/>
          </p:cNvSpPr>
          <p:nvPr/>
        </p:nvSpPr>
        <p:spPr>
          <a:xfrm xmlns:a="http://schemas.openxmlformats.org/drawingml/2006/main">
            <a:off x="857250" y="43053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05</a:t>
            </a:r>
          </a:p>
        </p:txBody>
      </p:sp>
      <p:sp>
        <p:nvSpPr>
          <p:cNvPr id="20" name="">
            <a:extLst xmlns:a="http://schemas.openxmlformats.org/drawingml/2006/main">
              <a:ext uri="{FF2B5EF4-FFF2-40B4-BE49-F238E27FC236}">
                <a16:creationId xmlns:a16="http://schemas.microsoft.com/office/drawing/2014/main" id="{5ECCEA2E-7A1F-4796-A6D7-06D277B546BD}"/>
              </a:ext>
            </a:extLst>
          </p:cNvPr>
          <p:cNvSpPr>
            <a:spLocks xmlns:a="http://schemas.openxmlformats.org/drawingml/2006/main" noGrp="1"/>
          </p:cNvSpPr>
          <p:nvPr/>
        </p:nvSpPr>
        <p:spPr>
          <a:xfrm xmlns:a="http://schemas.openxmlformats.org/drawingml/2006/main">
            <a:off x="1333500" y="44196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FA6CA67-3D90-42CA-AF37-C1BCBD90F32B}"/>
              </a:ext>
            </a:extLst>
          </p:cNvPr>
          <p:cNvSpPr>
            <a:spLocks xmlns:a="http://schemas.openxmlformats.org/drawingml/2006/main" noGrp="1"/>
          </p:cNvSpPr>
          <p:nvPr/>
        </p:nvSpPr>
        <p:spPr>
          <a:xfrm xmlns:a="http://schemas.openxmlformats.org/drawingml/2006/main">
            <a:off x="1952625" y="42195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Detect leakage, compare baselines and select appropriate metrics</a:t>
            </a:r>
          </a:p>
        </p:txBody>
      </p:sp>
      <p:sp>
        <p:nvSpPr>
          <p:cNvPr id="22" name="">
            <a:extLst xmlns:a="http://schemas.openxmlformats.org/drawingml/2006/main">
              <a:ext uri="{FF2B5EF4-FFF2-40B4-BE49-F238E27FC236}">
                <a16:creationId xmlns:a16="http://schemas.microsoft.com/office/drawing/2014/main" id="{1511E488-BD6D-4ECA-A1BF-CF368F49D1F6}"/>
              </a:ext>
            </a:extLst>
          </p:cNvPr>
          <p:cNvSpPr>
            <a:spLocks xmlns:a="http://schemas.openxmlformats.org/drawingml/2006/main" noGrp="1"/>
          </p:cNvSpPr>
          <p:nvPr/>
        </p:nvSpPr>
        <p:spPr>
          <a:xfrm xmlns:a="http://schemas.openxmlformats.org/drawingml/2006/main">
            <a:off x="857250" y="48577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06</a:t>
            </a:r>
          </a:p>
        </p:txBody>
      </p:sp>
      <p:sp>
        <p:nvSpPr>
          <p:cNvPr id="23" name="">
            <a:extLst xmlns:a="http://schemas.openxmlformats.org/drawingml/2006/main">
              <a:ext uri="{FF2B5EF4-FFF2-40B4-BE49-F238E27FC236}">
                <a16:creationId xmlns:a16="http://schemas.microsoft.com/office/drawing/2014/main" id="{ACFD12CC-DCC7-446E-B41D-EB2E81FBC447}"/>
              </a:ext>
            </a:extLst>
          </p:cNvPr>
          <p:cNvSpPr>
            <a:spLocks xmlns:a="http://schemas.openxmlformats.org/drawingml/2006/main" noGrp="1"/>
          </p:cNvSpPr>
          <p:nvPr/>
        </p:nvSpPr>
        <p:spPr>
          <a:xfrm xmlns:a="http://schemas.openxmlformats.org/drawingml/2006/main">
            <a:off x="1333500" y="497205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3D12F86-3470-4F19-B164-D17DA2802642}"/>
              </a:ext>
            </a:extLst>
          </p:cNvPr>
          <p:cNvSpPr>
            <a:spLocks xmlns:a="http://schemas.openxmlformats.org/drawingml/2006/main" noGrp="1"/>
          </p:cNvSpPr>
          <p:nvPr/>
        </p:nvSpPr>
        <p:spPr>
          <a:xfrm xmlns:a="http://schemas.openxmlformats.org/drawingml/2006/main">
            <a:off x="1952625" y="47720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Qualify results with uncertainty, subgroup evidence and reproducibility</a:t>
            </a:r>
          </a:p>
        </p:txBody>
      </p:sp>
      <p:sp>
        <p:nvSpPr>
          <p:cNvPr id="25" name="">
            <a:extLst xmlns:a="http://schemas.openxmlformats.org/drawingml/2006/main">
              <a:ext uri="{FF2B5EF4-FFF2-40B4-BE49-F238E27FC236}">
                <a16:creationId xmlns:a16="http://schemas.microsoft.com/office/drawing/2014/main" id="{C455D0B4-C716-4CC3-944E-D4BC0715078F}"/>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67B7B4"/>
                </a:solidFill>
                <a:latin typeface="Calibri"/>
                <a:ea typeface="Calibri"/>
                <a:cs typeface="Calibri"/>
              </a:defRPr>
            </a:pPr>
            <a:r>
              <a:rPr sz="1050" b="1">
                <a:solidFill>
                  <a:srgbClr val="67B7B4"/>
                </a:solidFill>
                <a:latin typeface="Calibri"/>
                <a:ea typeface="Calibri"/>
                <a:cs typeface="Calibri"/>
              </a:rPr>
              <a:t>Every objective ends in an auditable decision record.</a:t>
            </a:r>
          </a:p>
        </p:txBody>
      </p:sp>
    </p:spTree>
    <p:extLst>
      <p:ext uri="{BB962C8B-B14F-4D97-AF65-F5344CB8AC3E}">
        <p14:creationId xmlns:p14="http://schemas.microsoft.com/office/powerpoint/2010/main" val="119487153"/>
      </p:ext>
    </p:extLst>
  </p:cSld>
</p:sld>
</file>

<file path=ppt/slides/slide4.xml><?xml version="1.0" encoding="utf-8"?>
<p:sld xmlns:p="http://schemas.openxmlformats.org/presentationml/2006/main">
  <p:cSld>
    <p:bg>
      <p:bgPr>
        <a:solidFill xmlns:a="http://schemas.openxmlformats.org/drawingml/2006/main">
          <a:srgbClr val="0317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A67D740-4A36-49BB-AF6B-442E5685D8D1}"/>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C93D6CD5-4DB7-4247-AD19-D00579495429}"/>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67B7B4"/>
                </a:solidFill>
                <a:latin typeface="Calibri"/>
                <a:ea typeface="Calibri"/>
                <a:cs typeface="Calibri"/>
              </a:defRPr>
            </a:pPr>
            <a:r>
              <a:rPr sz="750" b="1">
                <a:solidFill>
                  <a:srgbClr val="67B7B4"/>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B95C3C2F-CBA1-4E55-9C6D-E77F003BB2E3}"/>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7B7B4"/>
                </a:solidFill>
                <a:latin typeface="Calibri"/>
                <a:ea typeface="Calibri"/>
                <a:cs typeface="Calibri"/>
              </a:defRPr>
            </a:pPr>
            <a:r>
              <a:rPr sz="750" b="1">
                <a:solidFill>
                  <a:srgbClr val="67B7B4"/>
                </a:solidFill>
                <a:latin typeface="Calibri"/>
                <a:ea typeface="Calibri"/>
                <a:cs typeface="Calibri"/>
              </a:rPr>
              <a:t>04</a:t>
            </a:r>
          </a:p>
        </p:txBody>
      </p:sp>
      <p:sp>
        <p:nvSpPr>
          <p:cNvPr id="4" name="">
            <a:extLst xmlns:a="http://schemas.openxmlformats.org/drawingml/2006/main">
              <a:ext uri="{FF2B5EF4-FFF2-40B4-BE49-F238E27FC236}">
                <a16:creationId xmlns:a16="http://schemas.microsoft.com/office/drawing/2014/main" id="{6113AEC7-EC17-4423-97C7-40F37C199DA0}"/>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2F77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8980C9-0A62-4BDE-B3B0-F0242A44AB14}"/>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OPENING CASE</a:t>
            </a:r>
          </a:p>
        </p:txBody>
      </p:sp>
      <p:sp>
        <p:nvSpPr>
          <p:cNvPr id="6" name="">
            <a:extLst xmlns:a="http://schemas.openxmlformats.org/drawingml/2006/main">
              <a:ext uri="{FF2B5EF4-FFF2-40B4-BE49-F238E27FC236}">
                <a16:creationId xmlns:a16="http://schemas.microsoft.com/office/drawing/2014/main" id="{170A76C4-2849-45CF-A37D-CE14C3853014}"/>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FFFFFF"/>
                </a:solidFill>
                <a:latin typeface="Calibri"/>
                <a:ea typeface="Calibri"/>
                <a:cs typeface="Calibri"/>
              </a:defRPr>
            </a:pPr>
            <a:r>
              <a:rPr sz="2325" b="0">
                <a:solidFill>
                  <a:srgbClr val="FFFFFF"/>
                </a:solidFill>
                <a:latin typeface="Calibri"/>
                <a:ea typeface="Calibri"/>
                <a:cs typeface="Calibri"/>
              </a:rPr>
              <a:t>The model that knew tomorrow</a:t>
            </a:r>
          </a:p>
        </p:txBody>
      </p:sp>
      <p:sp>
        <p:nvSpPr>
          <p:cNvPr id="7" name="">
            <a:extLst xmlns:a="http://schemas.openxmlformats.org/drawingml/2006/main">
              <a:ext uri="{FF2B5EF4-FFF2-40B4-BE49-F238E27FC236}">
                <a16:creationId xmlns:a16="http://schemas.microsoft.com/office/drawing/2014/main" id="{30452C3A-E6A6-41F8-8C41-9822D9A92FF4}"/>
              </a:ext>
            </a:extLst>
          </p:cNvPr>
          <p:cNvSpPr>
            <a:spLocks xmlns:a="http://schemas.openxmlformats.org/drawingml/2006/main" noGrp="1"/>
          </p:cNvSpPr>
          <p:nvPr/>
        </p:nvSpPr>
        <p:spPr>
          <a:xfrm xmlns:a="http://schemas.openxmlformats.org/drawingml/2006/main">
            <a:off x="457200" y="1581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DDE8E7"/>
                </a:solidFill>
                <a:latin typeface="Calibri"/>
                <a:ea typeface="Calibri"/>
                <a:cs typeface="Calibri"/>
              </a:defRPr>
            </a:pPr>
            <a:r>
              <a:rPr sz="1200" b="0">
                <a:solidFill>
                  <a:srgbClr val="DDE8E7"/>
                </a:solidFill>
                <a:latin typeface="Calibri"/>
                <a:ea typeface="Calibri"/>
                <a:cs typeface="Calibri"/>
              </a:rPr>
              <a:t>A spectacular score can expose an invalid information boundary.</a:t>
            </a:r>
          </a:p>
        </p:txBody>
      </p:sp>
      <p:sp>
        <p:nvSpPr>
          <p:cNvPr id="8" name="">
            <a:extLst xmlns:a="http://schemas.openxmlformats.org/drawingml/2006/main">
              <a:ext uri="{FF2B5EF4-FFF2-40B4-BE49-F238E27FC236}">
                <a16:creationId xmlns:a16="http://schemas.microsoft.com/office/drawing/2014/main" id="{3522D1F9-400F-4348-91C6-CCA65BE0D5B9}"/>
              </a:ext>
            </a:extLst>
          </p:cNvPr>
          <p:cNvSpPr>
            <a:spLocks xmlns:a="http://schemas.openxmlformats.org/drawingml/2006/main" noGrp="1"/>
          </p:cNvSpPr>
          <p:nvPr/>
        </p:nvSpPr>
        <p:spPr>
          <a:xfrm xmlns:a="http://schemas.openxmlformats.org/drawingml/2006/main">
            <a:off x="1143000" y="2476500"/>
            <a:ext cx="990600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B752887-5BDE-4E03-B20F-DB0B2BF9643E}"/>
              </a:ext>
            </a:extLst>
          </p:cNvPr>
          <p:cNvSpPr>
            <a:spLocks xmlns:a="http://schemas.openxmlformats.org/drawingml/2006/main" noGrp="1"/>
          </p:cNvSpPr>
          <p:nvPr/>
        </p:nvSpPr>
        <p:spPr>
          <a:xfrm xmlns:a="http://schemas.openxmlformats.org/drawingml/2006/main">
            <a:off x="1476375" y="2609850"/>
            <a:ext cx="923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0A2336"/>
                </a:solidFill>
                <a:latin typeface="Calibri"/>
                <a:ea typeface="Calibri"/>
                <a:cs typeface="Calibri"/>
              </a:defRPr>
            </a:pPr>
            <a:r>
              <a:rPr sz="1875" b="1">
                <a:solidFill>
                  <a:srgbClr val="0A2336"/>
                </a:solidFill>
                <a:latin typeface="Calibri"/>
                <a:ea typeface="Calibri"/>
                <a:cs typeface="Calibri"/>
              </a:rPr>
              <a:t>Test RMSE = 2.048</a:t>
            </a:r>
          </a:p>
        </p:txBody>
      </p:sp>
      <p:sp>
        <p:nvSpPr>
          <p:cNvPr id="10" name="">
            <a:extLst xmlns:a="http://schemas.openxmlformats.org/drawingml/2006/main">
              <a:ext uri="{FF2B5EF4-FFF2-40B4-BE49-F238E27FC236}">
                <a16:creationId xmlns:a16="http://schemas.microsoft.com/office/drawing/2014/main" id="{EDC92B6D-6131-4DAB-8C50-DA911C0E1A38}"/>
              </a:ext>
            </a:extLst>
          </p:cNvPr>
          <p:cNvSpPr>
            <a:spLocks xmlns:a="http://schemas.openxmlformats.org/drawingml/2006/main" noGrp="1"/>
          </p:cNvSpPr>
          <p:nvPr/>
        </p:nvSpPr>
        <p:spPr>
          <a:xfrm xmlns:a="http://schemas.openxmlformats.org/drawingml/2006/main">
            <a:off x="4191000" y="37147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DCA24A"/>
                </a:solidFill>
                <a:latin typeface="Calibri"/>
                <a:ea typeface="Calibri"/>
                <a:cs typeface="Calibri"/>
              </a:defRPr>
            </a:pPr>
            <a:r>
              <a:rPr sz="975" b="1">
                <a:solidFill>
                  <a:srgbClr val="DCA24A"/>
                </a:solidFill>
                <a:latin typeface="Calibri"/>
                <a:ea typeface="Calibri"/>
                <a:cs typeface="Calibri"/>
              </a:rPr>
              <a:t>POST-OUTCOME FEATURE</a:t>
            </a:r>
          </a:p>
        </p:txBody>
      </p:sp>
      <p:sp>
        <p:nvSpPr>
          <p:cNvPr id="11" name="">
            <a:extLst xmlns:a="http://schemas.openxmlformats.org/drawingml/2006/main">
              <a:ext uri="{FF2B5EF4-FFF2-40B4-BE49-F238E27FC236}">
                <a16:creationId xmlns:a16="http://schemas.microsoft.com/office/drawing/2014/main" id="{E0E9EC07-F002-4966-95A1-EC87D646BE18}"/>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CA24A"/>
                </a:solidFill>
                <a:latin typeface="Calibri"/>
                <a:ea typeface="Calibri"/>
                <a:cs typeface="Calibri"/>
              </a:defRPr>
            </a:pPr>
            <a:r>
              <a:rPr sz="1050" b="1">
                <a:solidFill>
                  <a:srgbClr val="DCA24A"/>
                </a:solidFill>
                <a:latin typeface="Calibri"/>
                <a:ea typeface="Calibri"/>
                <a:cs typeface="Calibri"/>
              </a:rPr>
              <a:t>The score is impressive because the experiment is impossible in real use.</a:t>
            </a:r>
          </a:p>
        </p:txBody>
      </p:sp>
    </p:spTree>
    <p:extLst>
      <p:ext uri="{BB962C8B-B14F-4D97-AF65-F5344CB8AC3E}">
        <p14:creationId xmlns:p14="http://schemas.microsoft.com/office/powerpoint/2010/main" val="1699069171"/>
      </p:ext>
    </p:extLst>
  </p:cSld>
</p:sld>
</file>

<file path=ppt/slides/slide5.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1F07BE-E46A-4331-9A2B-FF4C6DD09065}"/>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88AD3993-8404-4080-A991-80DF0858E2C4}"/>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C489ADB6-B869-4A02-8870-8463A0E31AB6}"/>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05</a:t>
            </a:r>
          </a:p>
        </p:txBody>
      </p:sp>
      <p:sp>
        <p:nvSpPr>
          <p:cNvPr id="4" name="">
            <a:extLst xmlns:a="http://schemas.openxmlformats.org/drawingml/2006/main">
              <a:ext uri="{FF2B5EF4-FFF2-40B4-BE49-F238E27FC236}">
                <a16:creationId xmlns:a16="http://schemas.microsoft.com/office/drawing/2014/main" id="{B93EB5AF-7C87-4F6B-9CC6-5769CA6D9703}"/>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BF39245-7648-46AB-AC06-B72630A3213B}"/>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CENTRAL QUESTION</a:t>
            </a:r>
          </a:p>
        </p:txBody>
      </p:sp>
      <p:sp>
        <p:nvSpPr>
          <p:cNvPr id="6" name="">
            <a:extLst xmlns:a="http://schemas.openxmlformats.org/drawingml/2006/main">
              <a:ext uri="{FF2B5EF4-FFF2-40B4-BE49-F238E27FC236}">
                <a16:creationId xmlns:a16="http://schemas.microsoft.com/office/drawing/2014/main" id="{12427DB6-FAA0-49D2-9B78-AE36758B6030}"/>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What must be true before a prediction becomes credible?</a:t>
            </a:r>
          </a:p>
        </p:txBody>
      </p:sp>
      <p:sp>
        <p:nvSpPr>
          <p:cNvPr id="7" name="">
            <a:extLst xmlns:a="http://schemas.openxmlformats.org/drawingml/2006/main">
              <a:ext uri="{FF2B5EF4-FFF2-40B4-BE49-F238E27FC236}">
                <a16:creationId xmlns:a16="http://schemas.microsoft.com/office/drawing/2014/main" id="{4D0CD021-1489-42E4-A24D-7D922726F945}"/>
              </a:ext>
            </a:extLst>
          </p:cNvPr>
          <p:cNvSpPr>
            <a:spLocks xmlns:a="http://schemas.openxmlformats.org/drawingml/2006/main" noGrp="1"/>
          </p:cNvSpPr>
          <p:nvPr/>
        </p:nvSpPr>
        <p:spPr>
          <a:xfrm xmlns:a="http://schemas.openxmlformats.org/drawingml/2006/main">
            <a:off x="1143000" y="2476500"/>
            <a:ext cx="9906000" cy="857250"/>
          </a:xfrm>
          <a:prstGeom xmlns:a="http://schemas.openxmlformats.org/drawingml/2006/main" prst="roundRect">
            <a:avLst>
              <a:gd name="adj" fmla="val 8889"/>
            </a:avLst>
          </a:prstGeom>
          <a:solidFill xmlns:a="http://schemas.openxmlformats.org/drawingml/2006/main">
            <a:srgbClr val="03172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4FCEEEA-85BA-4B1F-A8D5-33BEB28A013D}"/>
              </a:ext>
            </a:extLst>
          </p:cNvPr>
          <p:cNvSpPr>
            <a:spLocks xmlns:a="http://schemas.openxmlformats.org/drawingml/2006/main" noGrp="1"/>
          </p:cNvSpPr>
          <p:nvPr/>
        </p:nvSpPr>
        <p:spPr>
          <a:xfrm xmlns:a="http://schemas.openxmlformats.org/drawingml/2006/main">
            <a:off x="1476375" y="2609850"/>
            <a:ext cx="923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90"/>
          </a:bodyPr>
          <a:lstStyle xmlns:a="http://schemas.openxmlformats.org/drawingml/2006/main"/>
          <a:p xmlns:a="http://schemas.openxmlformats.org/drawingml/2006/main">
            <a:pPr algn="ctr">
              <a:defRPr sz="1875" b="1">
                <a:solidFill>
                  <a:srgbClr val="FFFFFF"/>
                </a:solidFill>
                <a:latin typeface="Calibri"/>
                <a:ea typeface="Calibri"/>
                <a:cs typeface="Calibri"/>
              </a:defRPr>
            </a:pPr>
            <a:r>
              <a:rPr sz="1875" b="1">
                <a:solidFill>
                  <a:srgbClr val="FFFFFF"/>
                </a:solidFill>
                <a:latin typeface="Calibri"/>
                <a:ea typeface="Calibri"/>
                <a:cs typeface="Calibri"/>
              </a:rPr>
              <a:t>Can the system reproduce useful performance on cases it could not have known?</a:t>
            </a:r>
          </a:p>
        </p:txBody>
      </p:sp>
      <p:sp>
        <p:nvSpPr>
          <p:cNvPr id="9" name="">
            <a:extLst xmlns:a="http://schemas.openxmlformats.org/drawingml/2006/main">
              <a:ext uri="{FF2B5EF4-FFF2-40B4-BE49-F238E27FC236}">
                <a16:creationId xmlns:a16="http://schemas.microsoft.com/office/drawing/2014/main" id="{687437C2-F143-4996-983B-FF5808409F9E}"/>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Credibility joins task definition, valid evaluation, interpretation and accountable use.</a:t>
            </a:r>
          </a:p>
        </p:txBody>
      </p:sp>
    </p:spTree>
    <p:extLst>
      <p:ext uri="{BB962C8B-B14F-4D97-AF65-F5344CB8AC3E}">
        <p14:creationId xmlns:p14="http://schemas.microsoft.com/office/powerpoint/2010/main" val="1344749412"/>
      </p:ext>
    </p:extLst>
  </p:cSld>
</p:sld>
</file>

<file path=ppt/slides/slide6.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4B496A3-BE3A-42A3-BFD2-4C8A1710E70B}"/>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E824F6AF-C9B2-413E-A6DE-867A51631EBF}"/>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1267A40F-710B-43F8-A252-F05A21A4DE53}"/>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06</a:t>
            </a:r>
          </a:p>
        </p:txBody>
      </p:sp>
      <p:sp>
        <p:nvSpPr>
          <p:cNvPr id="4" name="">
            <a:extLst xmlns:a="http://schemas.openxmlformats.org/drawingml/2006/main">
              <a:ext uri="{FF2B5EF4-FFF2-40B4-BE49-F238E27FC236}">
                <a16:creationId xmlns:a16="http://schemas.microsoft.com/office/drawing/2014/main" id="{7FEEC711-D4BE-40BD-8DBF-9035645D82E8}"/>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6C9811-572C-48F8-A1BB-EC7CAAC1C8D3}"/>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PREDICTION ANATOMY</a:t>
            </a:r>
          </a:p>
        </p:txBody>
      </p:sp>
      <p:sp>
        <p:nvSpPr>
          <p:cNvPr id="6" name="">
            <a:extLst xmlns:a="http://schemas.openxmlformats.org/drawingml/2006/main">
              <a:ext uri="{FF2B5EF4-FFF2-40B4-BE49-F238E27FC236}">
                <a16:creationId xmlns:a16="http://schemas.microsoft.com/office/drawing/2014/main" id="{AF3FA466-6285-4481-ACCC-9B54F36E0585}"/>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A prediction task is defined before a model is selected</a:t>
            </a:r>
          </a:p>
        </p:txBody>
      </p:sp>
      <p:sp>
        <p:nvSpPr>
          <p:cNvPr id="7" name="">
            <a:extLst xmlns:a="http://schemas.openxmlformats.org/drawingml/2006/main">
              <a:ext uri="{FF2B5EF4-FFF2-40B4-BE49-F238E27FC236}">
                <a16:creationId xmlns:a16="http://schemas.microsoft.com/office/drawing/2014/main" id="{7F9B60BB-AD79-4FA6-B35E-7C0211B296D5}"/>
              </a:ext>
            </a:extLst>
          </p:cNvPr>
          <p:cNvSpPr>
            <a:spLocks xmlns:a="http://schemas.openxmlformats.org/drawingml/2006/main" noGrp="1"/>
          </p:cNvSpPr>
          <p:nvPr/>
        </p:nvSpPr>
        <p:spPr>
          <a:xfrm xmlns:a="http://schemas.openxmlformats.org/drawingml/2006/main">
            <a:off x="571500" y="2238375"/>
            <a:ext cx="2571750" cy="2000250"/>
          </a:xfrm>
          <a:prstGeom xmlns:a="http://schemas.openxmlformats.org/drawingml/2006/main" prst="roundRect">
            <a:avLst>
              <a:gd name="adj" fmla="val 3810"/>
            </a:avLst>
          </a:prstGeom>
          <a:solidFill xmlns:a="http://schemas.openxmlformats.org/drawingml/2006/main">
            <a:srgbClr val="0A23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D27B0B-19D9-4811-810A-2014C625160F}"/>
              </a:ext>
            </a:extLst>
          </p:cNvPr>
          <p:cNvSpPr>
            <a:spLocks xmlns:a="http://schemas.openxmlformats.org/drawingml/2006/main" noGrp="1"/>
          </p:cNvSpPr>
          <p:nvPr/>
        </p:nvSpPr>
        <p:spPr>
          <a:xfrm xmlns:a="http://schemas.openxmlformats.org/drawingml/2006/main">
            <a:off x="742950" y="23907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UNIT</a:t>
            </a:r>
          </a:p>
        </p:txBody>
      </p:sp>
      <p:sp>
        <p:nvSpPr>
          <p:cNvPr id="9" name="">
            <a:extLst xmlns:a="http://schemas.openxmlformats.org/drawingml/2006/main">
              <a:ext uri="{FF2B5EF4-FFF2-40B4-BE49-F238E27FC236}">
                <a16:creationId xmlns:a16="http://schemas.microsoft.com/office/drawing/2014/main" id="{7BB3A180-11CC-406F-B293-4097995CF47C}"/>
              </a:ext>
            </a:extLst>
          </p:cNvPr>
          <p:cNvSpPr>
            <a:spLocks xmlns:a="http://schemas.openxmlformats.org/drawingml/2006/main" noGrp="1"/>
          </p:cNvSpPr>
          <p:nvPr/>
        </p:nvSpPr>
        <p:spPr>
          <a:xfrm xmlns:a="http://schemas.openxmlformats.org/drawingml/2006/main">
            <a:off x="742950" y="2695575"/>
            <a:ext cx="2228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one service-day</a:t>
            </a:r>
          </a:p>
        </p:txBody>
      </p:sp>
      <p:sp>
        <p:nvSpPr>
          <p:cNvPr id="10" name="">
            <a:extLst xmlns:a="http://schemas.openxmlformats.org/drawingml/2006/main">
              <a:ext uri="{FF2B5EF4-FFF2-40B4-BE49-F238E27FC236}">
                <a16:creationId xmlns:a16="http://schemas.microsoft.com/office/drawing/2014/main" id="{3EE664E2-2A47-4C59-B1F5-9BF2FDACFC69}"/>
              </a:ext>
            </a:extLst>
          </p:cNvPr>
          <p:cNvSpPr>
            <a:spLocks xmlns:a="http://schemas.openxmlformats.org/drawingml/2006/main" noGrp="1"/>
          </p:cNvSpPr>
          <p:nvPr/>
        </p:nvSpPr>
        <p:spPr>
          <a:xfrm xmlns:a="http://schemas.openxmlformats.org/drawingml/2006/main">
            <a:off x="3429000" y="2238375"/>
            <a:ext cx="2571750" cy="2000250"/>
          </a:xfrm>
          <a:prstGeom xmlns:a="http://schemas.openxmlformats.org/drawingml/2006/main" prst="roundRect">
            <a:avLst>
              <a:gd name="adj" fmla="val 3810"/>
            </a:avLst>
          </a:prstGeom>
          <a:solidFill xmlns:a="http://schemas.openxmlformats.org/drawingml/2006/main">
            <a:srgbClr val="2F776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E60CB30-7EFD-433B-A6D9-9E1C9338C107}"/>
              </a:ext>
            </a:extLst>
          </p:cNvPr>
          <p:cNvSpPr>
            <a:spLocks xmlns:a="http://schemas.openxmlformats.org/drawingml/2006/main" noGrp="1"/>
          </p:cNvSpPr>
          <p:nvPr/>
        </p:nvSpPr>
        <p:spPr>
          <a:xfrm xmlns:a="http://schemas.openxmlformats.org/drawingml/2006/main">
            <a:off x="3600450" y="23907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FEATURES</a:t>
            </a:r>
          </a:p>
        </p:txBody>
      </p:sp>
      <p:sp>
        <p:nvSpPr>
          <p:cNvPr id="12" name="">
            <a:extLst xmlns:a="http://schemas.openxmlformats.org/drawingml/2006/main">
              <a:ext uri="{FF2B5EF4-FFF2-40B4-BE49-F238E27FC236}">
                <a16:creationId xmlns:a16="http://schemas.microsoft.com/office/drawing/2014/main" id="{9576902E-50C5-4BB0-AD46-090F2A0A38BA}"/>
              </a:ext>
            </a:extLst>
          </p:cNvPr>
          <p:cNvSpPr>
            <a:spLocks xmlns:a="http://schemas.openxmlformats.org/drawingml/2006/main" noGrp="1"/>
          </p:cNvSpPr>
          <p:nvPr/>
        </p:nvSpPr>
        <p:spPr>
          <a:xfrm xmlns:a="http://schemas.openxmlformats.org/drawingml/2006/main">
            <a:off x="3600450" y="2695575"/>
            <a:ext cx="2228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information available now</a:t>
            </a:r>
          </a:p>
        </p:txBody>
      </p:sp>
      <p:sp>
        <p:nvSpPr>
          <p:cNvPr id="13" name="">
            <a:extLst xmlns:a="http://schemas.openxmlformats.org/drawingml/2006/main">
              <a:ext uri="{FF2B5EF4-FFF2-40B4-BE49-F238E27FC236}">
                <a16:creationId xmlns:a16="http://schemas.microsoft.com/office/drawing/2014/main" id="{4EA49CA8-792F-40C9-83FA-280017C81D13}"/>
              </a:ext>
            </a:extLst>
          </p:cNvPr>
          <p:cNvSpPr>
            <a:spLocks xmlns:a="http://schemas.openxmlformats.org/drawingml/2006/main" noGrp="1"/>
          </p:cNvSpPr>
          <p:nvPr/>
        </p:nvSpPr>
        <p:spPr>
          <a:xfrm xmlns:a="http://schemas.openxmlformats.org/drawingml/2006/main">
            <a:off x="6286500" y="2238375"/>
            <a:ext cx="2571750" cy="2000250"/>
          </a:xfrm>
          <a:prstGeom xmlns:a="http://schemas.openxmlformats.org/drawingml/2006/main" prst="roundRect">
            <a:avLst>
              <a:gd name="adj" fmla="val 3810"/>
            </a:avLst>
          </a:prstGeom>
          <a:solidFill xmlns:a="http://schemas.openxmlformats.org/drawingml/2006/main">
            <a:srgbClr val="0A233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5313AD8-6E4F-42CB-9347-3D7A936BA2AD}"/>
              </a:ext>
            </a:extLst>
          </p:cNvPr>
          <p:cNvSpPr>
            <a:spLocks xmlns:a="http://schemas.openxmlformats.org/drawingml/2006/main" noGrp="1"/>
          </p:cNvSpPr>
          <p:nvPr/>
        </p:nvSpPr>
        <p:spPr>
          <a:xfrm xmlns:a="http://schemas.openxmlformats.org/drawingml/2006/main">
            <a:off x="6457950" y="23907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TARGET</a:t>
            </a:r>
          </a:p>
        </p:txBody>
      </p:sp>
      <p:sp>
        <p:nvSpPr>
          <p:cNvPr id="15" name="">
            <a:extLst xmlns:a="http://schemas.openxmlformats.org/drawingml/2006/main">
              <a:ext uri="{FF2B5EF4-FFF2-40B4-BE49-F238E27FC236}">
                <a16:creationId xmlns:a16="http://schemas.microsoft.com/office/drawing/2014/main" id="{0725FA56-BD3C-45CD-9221-14DAFDF2CC2C}"/>
              </a:ext>
            </a:extLst>
          </p:cNvPr>
          <p:cNvSpPr>
            <a:spLocks xmlns:a="http://schemas.openxmlformats.org/drawingml/2006/main" noGrp="1"/>
          </p:cNvSpPr>
          <p:nvPr/>
        </p:nvSpPr>
        <p:spPr>
          <a:xfrm xmlns:a="http://schemas.openxmlformats.org/drawingml/2006/main">
            <a:off x="6457950" y="2695575"/>
            <a:ext cx="2228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future demand</a:t>
            </a:r>
          </a:p>
        </p:txBody>
      </p:sp>
      <p:sp>
        <p:nvSpPr>
          <p:cNvPr id="16" name="">
            <a:extLst xmlns:a="http://schemas.openxmlformats.org/drawingml/2006/main">
              <a:ext uri="{FF2B5EF4-FFF2-40B4-BE49-F238E27FC236}">
                <a16:creationId xmlns:a16="http://schemas.microsoft.com/office/drawing/2014/main" id="{C5106F67-8EB3-45B2-BA7A-BD3BA8BA4F3A}"/>
              </a:ext>
            </a:extLst>
          </p:cNvPr>
          <p:cNvSpPr>
            <a:spLocks xmlns:a="http://schemas.openxmlformats.org/drawingml/2006/main" noGrp="1"/>
          </p:cNvSpPr>
          <p:nvPr/>
        </p:nvSpPr>
        <p:spPr>
          <a:xfrm xmlns:a="http://schemas.openxmlformats.org/drawingml/2006/main">
            <a:off x="9144000" y="2238375"/>
            <a:ext cx="2571750" cy="2000250"/>
          </a:xfrm>
          <a:prstGeom xmlns:a="http://schemas.openxmlformats.org/drawingml/2006/main" prst="roundRect">
            <a:avLst>
              <a:gd name="adj" fmla="val 3810"/>
            </a:avLst>
          </a:prstGeom>
          <a:solidFill xmlns:a="http://schemas.openxmlformats.org/drawingml/2006/main">
            <a:srgbClr val="0A233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08B42B5-70BF-470B-A7A8-61C6C3E4F091}"/>
              </a:ext>
            </a:extLst>
          </p:cNvPr>
          <p:cNvSpPr>
            <a:spLocks xmlns:a="http://schemas.openxmlformats.org/drawingml/2006/main" noGrp="1"/>
          </p:cNvSpPr>
          <p:nvPr/>
        </p:nvSpPr>
        <p:spPr>
          <a:xfrm xmlns:a="http://schemas.openxmlformats.org/drawingml/2006/main">
            <a:off x="9315450" y="23907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HORIZON</a:t>
            </a:r>
          </a:p>
        </p:txBody>
      </p:sp>
      <p:sp>
        <p:nvSpPr>
          <p:cNvPr id="18" name="">
            <a:extLst xmlns:a="http://schemas.openxmlformats.org/drawingml/2006/main">
              <a:ext uri="{FF2B5EF4-FFF2-40B4-BE49-F238E27FC236}">
                <a16:creationId xmlns:a16="http://schemas.microsoft.com/office/drawing/2014/main" id="{F74D8A07-8553-4C64-B278-091B546DF206}"/>
              </a:ext>
            </a:extLst>
          </p:cNvPr>
          <p:cNvSpPr>
            <a:spLocks xmlns:a="http://schemas.openxmlformats.org/drawingml/2006/main" noGrp="1"/>
          </p:cNvSpPr>
          <p:nvPr/>
        </p:nvSpPr>
        <p:spPr>
          <a:xfrm xmlns:a="http://schemas.openxmlformats.org/drawingml/2006/main">
            <a:off x="9315450" y="2695575"/>
            <a:ext cx="2228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next operating day</a:t>
            </a:r>
          </a:p>
        </p:txBody>
      </p:sp>
      <p:sp>
        <p:nvSpPr>
          <p:cNvPr id="19" name="">
            <a:extLst xmlns:a="http://schemas.openxmlformats.org/drawingml/2006/main">
              <a:ext uri="{FF2B5EF4-FFF2-40B4-BE49-F238E27FC236}">
                <a16:creationId xmlns:a16="http://schemas.microsoft.com/office/drawing/2014/main" id="{4BB10B20-5015-4316-8A50-A6581CABE5A9}"/>
              </a:ext>
            </a:extLst>
          </p:cNvPr>
          <p:cNvSpPr>
            <a:spLocks xmlns:a="http://schemas.openxmlformats.org/drawingml/2006/main" noGrp="1"/>
          </p:cNvSpPr>
          <p:nvPr/>
        </p:nvSpPr>
        <p:spPr>
          <a:xfrm xmlns:a="http://schemas.openxmlformats.org/drawingml/2006/main">
            <a:off x="3238500" y="476250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A2336"/>
                </a:solidFill>
                <a:latin typeface="Calibri"/>
                <a:ea typeface="Calibri"/>
                <a:cs typeface="Calibri"/>
              </a:defRPr>
            </a:pPr>
            <a:r>
              <a:rPr sz="2100" b="1">
                <a:solidFill>
                  <a:srgbClr val="0A2336"/>
                </a:solidFill>
                <a:latin typeface="Calibri"/>
                <a:ea typeface="Calibri"/>
                <a:cs typeface="Calibri"/>
              </a:rPr>
              <a:t>xᵢ → fθ(xᵢ) = ŷᵢ</a:t>
            </a:r>
          </a:p>
        </p:txBody>
      </p:sp>
      <p:sp>
        <p:nvSpPr>
          <p:cNvPr id="20" name="">
            <a:extLst xmlns:a="http://schemas.openxmlformats.org/drawingml/2006/main">
              <a:ext uri="{FF2B5EF4-FFF2-40B4-BE49-F238E27FC236}">
                <a16:creationId xmlns:a16="http://schemas.microsoft.com/office/drawing/2014/main" id="{E8799DA7-B043-4AC8-8590-57C5A013A67A}"/>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Prediction time determines which information is admissible.</a:t>
            </a:r>
          </a:p>
        </p:txBody>
      </p:sp>
    </p:spTree>
    <p:extLst>
      <p:ext uri="{BB962C8B-B14F-4D97-AF65-F5344CB8AC3E}">
        <p14:creationId xmlns:p14="http://schemas.microsoft.com/office/powerpoint/2010/main" val="423695448"/>
      </p:ext>
    </p:extLst>
  </p:cSld>
</p:sld>
</file>

<file path=ppt/slides/slide7.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F8C6AC3-CBD5-49E3-8381-ADCD21A00D75}"/>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A025AE5A-E2B2-4187-8730-4901B4004DAF}"/>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B8E7ACA9-9130-4303-B478-E4712225E477}"/>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07</a:t>
            </a:r>
          </a:p>
        </p:txBody>
      </p:sp>
      <p:sp>
        <p:nvSpPr>
          <p:cNvPr id="4" name="">
            <a:extLst xmlns:a="http://schemas.openxmlformats.org/drawingml/2006/main">
              <a:ext uri="{FF2B5EF4-FFF2-40B4-BE49-F238E27FC236}">
                <a16:creationId xmlns:a16="http://schemas.microsoft.com/office/drawing/2014/main" id="{7642E046-10C7-47AA-8F24-D5BD5EB13222}"/>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EAC242E-28DB-4D92-B7E3-27C0A648E951}"/>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FORMAL MODEL</a:t>
            </a:r>
          </a:p>
        </p:txBody>
      </p:sp>
      <p:sp>
        <p:nvSpPr>
          <p:cNvPr id="6" name="">
            <a:extLst xmlns:a="http://schemas.openxmlformats.org/drawingml/2006/main">
              <a:ext uri="{FF2B5EF4-FFF2-40B4-BE49-F238E27FC236}">
                <a16:creationId xmlns:a16="http://schemas.microsoft.com/office/drawing/2014/main" id="{956FC20B-144F-4D60-8974-323EE6503BD4}"/>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0A2336"/>
                </a:solidFill>
                <a:latin typeface="Calibri"/>
                <a:ea typeface="Calibri"/>
                <a:cs typeface="Calibri"/>
              </a:defRPr>
            </a:pPr>
            <a:r>
              <a:rPr sz="2100" b="0">
                <a:solidFill>
                  <a:srgbClr val="0A2336"/>
                </a:solidFill>
                <a:latin typeface="Calibri"/>
                <a:ea typeface="Calibri"/>
                <a:cs typeface="Calibri"/>
              </a:rPr>
              <a:t>Supervised learning maps observations to targets under uncertainty</a:t>
            </a:r>
          </a:p>
        </p:txBody>
      </p:sp>
      <p:sp>
        <p:nvSpPr>
          <p:cNvPr id="7" name="">
            <a:extLst xmlns:a="http://schemas.openxmlformats.org/drawingml/2006/main">
              <a:ext uri="{FF2B5EF4-FFF2-40B4-BE49-F238E27FC236}">
                <a16:creationId xmlns:a16="http://schemas.microsoft.com/office/drawing/2014/main" id="{CD00766C-53F0-4342-BA9F-CBB727B3BC8E}"/>
              </a:ext>
            </a:extLst>
          </p:cNvPr>
          <p:cNvSpPr>
            <a:spLocks xmlns:a="http://schemas.openxmlformats.org/drawingml/2006/main" noGrp="1"/>
          </p:cNvSpPr>
          <p:nvPr/>
        </p:nvSpPr>
        <p:spPr>
          <a:xfrm xmlns:a="http://schemas.openxmlformats.org/drawingml/2006/main">
            <a:off x="1143000" y="2238375"/>
            <a:ext cx="9906000" cy="857250"/>
          </a:xfrm>
          <a:prstGeom xmlns:a="http://schemas.openxmlformats.org/drawingml/2006/main" prst="roundRect">
            <a:avLst>
              <a:gd name="adj" fmla="val 8889"/>
            </a:avLst>
          </a:prstGeom>
          <a:solidFill xmlns:a="http://schemas.openxmlformats.org/drawingml/2006/main">
            <a:srgbClr val="03172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BBAB5BC-809E-4132-9F62-D8E9C03AB254}"/>
              </a:ext>
            </a:extLst>
          </p:cNvPr>
          <p:cNvSpPr>
            <a:spLocks xmlns:a="http://schemas.openxmlformats.org/drawingml/2006/main" noGrp="1"/>
          </p:cNvSpPr>
          <p:nvPr/>
        </p:nvSpPr>
        <p:spPr>
          <a:xfrm xmlns:a="http://schemas.openxmlformats.org/drawingml/2006/main">
            <a:off x="1476375" y="2371725"/>
            <a:ext cx="923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Calibri"/>
                <a:ea typeface="Calibri"/>
                <a:cs typeface="Calibri"/>
              </a:defRPr>
            </a:pPr>
            <a:r>
              <a:rPr sz="1875" b="1">
                <a:solidFill>
                  <a:srgbClr val="FFFFFF"/>
                </a:solidFill>
                <a:latin typeface="Calibri"/>
                <a:ea typeface="Calibri"/>
                <a:cs typeface="Calibri"/>
              </a:rPr>
              <a:t>D = {(xᵢ, yᵢ)}ᵢ₌₁ⁿ    ·    fθ : X → Y    ·    ŷᵢ = fθ(xᵢ)</a:t>
            </a:r>
          </a:p>
        </p:txBody>
      </p:sp>
      <p:sp>
        <p:nvSpPr>
          <p:cNvPr id="9" name="">
            <a:extLst xmlns:a="http://schemas.openxmlformats.org/drawingml/2006/main">
              <a:ext uri="{FF2B5EF4-FFF2-40B4-BE49-F238E27FC236}">
                <a16:creationId xmlns:a16="http://schemas.microsoft.com/office/drawing/2014/main" id="{EF2BEB17-2C54-43F2-8E44-9C2896FA9C4B}"/>
              </a:ext>
            </a:extLst>
          </p:cNvPr>
          <p:cNvSpPr>
            <a:spLocks xmlns:a="http://schemas.openxmlformats.org/drawingml/2006/main" noGrp="1"/>
          </p:cNvSpPr>
          <p:nvPr/>
        </p:nvSpPr>
        <p:spPr>
          <a:xfrm xmlns:a="http://schemas.openxmlformats.org/drawingml/2006/main">
            <a:off x="1428750" y="3619500"/>
            <a:ext cx="2762250" cy="1381125"/>
          </a:xfrm>
          <a:prstGeom xmlns:a="http://schemas.openxmlformats.org/drawingml/2006/main" prst="roundRect">
            <a:avLst>
              <a:gd name="adj" fmla="val 5517"/>
            </a:avLst>
          </a:prstGeom>
          <a:solidFill xmlns:a="http://schemas.openxmlformats.org/drawingml/2006/main">
            <a:srgbClr val="DDE8E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0BA3420-4802-418E-A13F-603EBE8741CD}"/>
              </a:ext>
            </a:extLst>
          </p:cNvPr>
          <p:cNvSpPr>
            <a:spLocks xmlns:a="http://schemas.openxmlformats.org/drawingml/2006/main" noGrp="1"/>
          </p:cNvSpPr>
          <p:nvPr/>
        </p:nvSpPr>
        <p:spPr>
          <a:xfrm xmlns:a="http://schemas.openxmlformats.org/drawingml/2006/main">
            <a:off x="1600200" y="3771900"/>
            <a:ext cx="2419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OBSERVED SAMPLE</a:t>
            </a:r>
          </a:p>
        </p:txBody>
      </p:sp>
      <p:sp>
        <p:nvSpPr>
          <p:cNvPr id="11" name="">
            <a:extLst xmlns:a="http://schemas.openxmlformats.org/drawingml/2006/main">
              <a:ext uri="{FF2B5EF4-FFF2-40B4-BE49-F238E27FC236}">
                <a16:creationId xmlns:a16="http://schemas.microsoft.com/office/drawing/2014/main" id="{D1E482E4-B233-4EEC-B779-0D47022F0F06}"/>
              </a:ext>
            </a:extLst>
          </p:cNvPr>
          <p:cNvSpPr>
            <a:spLocks xmlns:a="http://schemas.openxmlformats.org/drawingml/2006/main" noGrp="1"/>
          </p:cNvSpPr>
          <p:nvPr/>
        </p:nvSpPr>
        <p:spPr>
          <a:xfrm xmlns:a="http://schemas.openxmlformats.org/drawingml/2006/main">
            <a:off x="1600200" y="4076700"/>
            <a:ext cx="2419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labelled pairs drawn from a process</a:t>
            </a:r>
          </a:p>
        </p:txBody>
      </p:sp>
      <p:sp>
        <p:nvSpPr>
          <p:cNvPr id="12" name="">
            <a:extLst xmlns:a="http://schemas.openxmlformats.org/drawingml/2006/main">
              <a:ext uri="{FF2B5EF4-FFF2-40B4-BE49-F238E27FC236}">
                <a16:creationId xmlns:a16="http://schemas.microsoft.com/office/drawing/2014/main" id="{C83ECF0B-C504-46C1-949F-27E932D60988}"/>
              </a:ext>
            </a:extLst>
          </p:cNvPr>
          <p:cNvSpPr>
            <a:spLocks xmlns:a="http://schemas.openxmlformats.org/drawingml/2006/main" noGrp="1"/>
          </p:cNvSpPr>
          <p:nvPr/>
        </p:nvSpPr>
        <p:spPr>
          <a:xfrm xmlns:a="http://schemas.openxmlformats.org/drawingml/2006/main">
            <a:off x="4714875" y="3619500"/>
            <a:ext cx="2762250" cy="1381125"/>
          </a:xfrm>
          <a:prstGeom xmlns:a="http://schemas.openxmlformats.org/drawingml/2006/main" prst="roundRect">
            <a:avLst>
              <a:gd name="adj" fmla="val 5517"/>
            </a:avLst>
          </a:prstGeom>
          <a:solidFill xmlns:a="http://schemas.openxmlformats.org/drawingml/2006/main">
            <a:srgbClr val="0A233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259AF8B-E615-45D5-AFC3-A9BBF31AEBF4}"/>
              </a:ext>
            </a:extLst>
          </p:cNvPr>
          <p:cNvSpPr>
            <a:spLocks xmlns:a="http://schemas.openxmlformats.org/drawingml/2006/main" noGrp="1"/>
          </p:cNvSpPr>
          <p:nvPr/>
        </p:nvSpPr>
        <p:spPr>
          <a:xfrm xmlns:a="http://schemas.openxmlformats.org/drawingml/2006/main">
            <a:off x="4886325" y="3771900"/>
            <a:ext cx="2419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LEARNING RULE</a:t>
            </a:r>
          </a:p>
        </p:txBody>
      </p:sp>
      <p:sp>
        <p:nvSpPr>
          <p:cNvPr id="14" name="">
            <a:extLst xmlns:a="http://schemas.openxmlformats.org/drawingml/2006/main">
              <a:ext uri="{FF2B5EF4-FFF2-40B4-BE49-F238E27FC236}">
                <a16:creationId xmlns:a16="http://schemas.microsoft.com/office/drawing/2014/main" id="{D9E136DF-B516-4E77-A535-1A5F539DDF4A}"/>
              </a:ext>
            </a:extLst>
          </p:cNvPr>
          <p:cNvSpPr>
            <a:spLocks xmlns:a="http://schemas.openxmlformats.org/drawingml/2006/main" noGrp="1"/>
          </p:cNvSpPr>
          <p:nvPr/>
        </p:nvSpPr>
        <p:spPr>
          <a:xfrm xmlns:a="http://schemas.openxmlformats.org/drawingml/2006/main">
            <a:off x="4886325" y="4076700"/>
            <a:ext cx="2419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selects parameters from training evidence</a:t>
            </a:r>
          </a:p>
        </p:txBody>
      </p:sp>
      <p:sp>
        <p:nvSpPr>
          <p:cNvPr id="15" name="">
            <a:extLst xmlns:a="http://schemas.openxmlformats.org/drawingml/2006/main">
              <a:ext uri="{FF2B5EF4-FFF2-40B4-BE49-F238E27FC236}">
                <a16:creationId xmlns:a16="http://schemas.microsoft.com/office/drawing/2014/main" id="{010DA2A0-ACE5-4E43-A295-091DD202F05D}"/>
              </a:ext>
            </a:extLst>
          </p:cNvPr>
          <p:cNvSpPr>
            <a:spLocks xmlns:a="http://schemas.openxmlformats.org/drawingml/2006/main" noGrp="1"/>
          </p:cNvSpPr>
          <p:nvPr/>
        </p:nvSpPr>
        <p:spPr>
          <a:xfrm xmlns:a="http://schemas.openxmlformats.org/drawingml/2006/main">
            <a:off x="8001000" y="3619500"/>
            <a:ext cx="2762250" cy="1381125"/>
          </a:xfrm>
          <a:prstGeom xmlns:a="http://schemas.openxmlformats.org/drawingml/2006/main" prst="roundRect">
            <a:avLst>
              <a:gd name="adj" fmla="val 5517"/>
            </a:avLst>
          </a:prstGeom>
          <a:solidFill xmlns:a="http://schemas.openxmlformats.org/drawingml/2006/main">
            <a:srgbClr val="F1DFC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CBD98E6-A92B-498E-8D86-849F54B74984}"/>
              </a:ext>
            </a:extLst>
          </p:cNvPr>
          <p:cNvSpPr>
            <a:spLocks xmlns:a="http://schemas.openxmlformats.org/drawingml/2006/main" noGrp="1"/>
          </p:cNvSpPr>
          <p:nvPr/>
        </p:nvSpPr>
        <p:spPr>
          <a:xfrm xmlns:a="http://schemas.openxmlformats.org/drawingml/2006/main">
            <a:off x="8172450" y="3771900"/>
            <a:ext cx="2419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PREDICTION</a:t>
            </a:r>
          </a:p>
        </p:txBody>
      </p:sp>
      <p:sp>
        <p:nvSpPr>
          <p:cNvPr id="17" name="">
            <a:extLst xmlns:a="http://schemas.openxmlformats.org/drawingml/2006/main">
              <a:ext uri="{FF2B5EF4-FFF2-40B4-BE49-F238E27FC236}">
                <a16:creationId xmlns:a16="http://schemas.microsoft.com/office/drawing/2014/main" id="{285C399C-DE4A-49AE-8441-CF86598C0885}"/>
              </a:ext>
            </a:extLst>
          </p:cNvPr>
          <p:cNvSpPr>
            <a:spLocks xmlns:a="http://schemas.openxmlformats.org/drawingml/2006/main" noGrp="1"/>
          </p:cNvSpPr>
          <p:nvPr/>
        </p:nvSpPr>
        <p:spPr>
          <a:xfrm xmlns:a="http://schemas.openxmlformats.org/drawingml/2006/main">
            <a:off x="8172450" y="4076700"/>
            <a:ext cx="2419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applies the fitted rule to a new case</a:t>
            </a:r>
          </a:p>
        </p:txBody>
      </p:sp>
      <p:sp>
        <p:nvSpPr>
          <p:cNvPr id="18" name="">
            <a:extLst xmlns:a="http://schemas.openxmlformats.org/drawingml/2006/main">
              <a:ext uri="{FF2B5EF4-FFF2-40B4-BE49-F238E27FC236}">
                <a16:creationId xmlns:a16="http://schemas.microsoft.com/office/drawing/2014/main" id="{6E7B5807-CE83-42A4-9929-DFF722D95A12}"/>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The sample is evidence about a process—not the process itself.</a:t>
            </a:r>
          </a:p>
        </p:txBody>
      </p:sp>
    </p:spTree>
    <p:extLst>
      <p:ext uri="{BB962C8B-B14F-4D97-AF65-F5344CB8AC3E}">
        <p14:creationId xmlns:p14="http://schemas.microsoft.com/office/powerpoint/2010/main" val="1232251391"/>
      </p:ext>
    </p:extLst>
  </p:cSld>
</p:sld>
</file>

<file path=ppt/slides/slide8.xml><?xml version="1.0" encoding="utf-8"?>
<p:sld xmlns:p="http://schemas.openxmlformats.org/presentationml/2006/main">
  <p:cSld>
    <p:bg>
      <p:bgPr>
        <a:solidFill xmlns:a="http://schemas.openxmlformats.org/drawingml/2006/main">
          <a:srgbClr val="03172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F097082-57B0-43C0-AAB8-2268BC72E76B}"/>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C6F6BDB1-3349-47EC-8075-A6EFE19B8BE3}"/>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67B7B4"/>
                </a:solidFill>
                <a:latin typeface="Calibri"/>
                <a:ea typeface="Calibri"/>
                <a:cs typeface="Calibri"/>
              </a:defRPr>
            </a:pPr>
            <a:r>
              <a:rPr sz="750" b="1">
                <a:solidFill>
                  <a:srgbClr val="67B7B4"/>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B35180F0-179F-4E2C-AB55-D758793CF068}"/>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7B7B4"/>
                </a:solidFill>
                <a:latin typeface="Calibri"/>
                <a:ea typeface="Calibri"/>
                <a:cs typeface="Calibri"/>
              </a:defRPr>
            </a:pPr>
            <a:r>
              <a:rPr sz="750" b="1">
                <a:solidFill>
                  <a:srgbClr val="67B7B4"/>
                </a:solidFill>
                <a:latin typeface="Calibri"/>
                <a:ea typeface="Calibri"/>
                <a:cs typeface="Calibri"/>
              </a:rPr>
              <a:t>08</a:t>
            </a:r>
          </a:p>
        </p:txBody>
      </p:sp>
      <p:sp>
        <p:nvSpPr>
          <p:cNvPr id="4" name="">
            <a:extLst xmlns:a="http://schemas.openxmlformats.org/drawingml/2006/main">
              <a:ext uri="{FF2B5EF4-FFF2-40B4-BE49-F238E27FC236}">
                <a16:creationId xmlns:a16="http://schemas.microsoft.com/office/drawing/2014/main" id="{7ACED0A7-1222-4C38-AD1D-68DE2D3A1B3B}"/>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2F77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56AF9D4-D4B5-447E-BC49-A75233D8E236}"/>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LOSS AND RISK</a:t>
            </a:r>
          </a:p>
        </p:txBody>
      </p:sp>
      <p:sp>
        <p:nvSpPr>
          <p:cNvPr id="6" name="">
            <a:extLst xmlns:a="http://schemas.openxmlformats.org/drawingml/2006/main">
              <a:ext uri="{FF2B5EF4-FFF2-40B4-BE49-F238E27FC236}">
                <a16:creationId xmlns:a16="http://schemas.microsoft.com/office/drawing/2014/main" id="{8B962764-631C-48BD-BCEF-6AAD21019451}"/>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FFFFFF"/>
                </a:solidFill>
                <a:latin typeface="Calibri"/>
                <a:ea typeface="Calibri"/>
                <a:cs typeface="Calibri"/>
              </a:defRPr>
            </a:pPr>
            <a:r>
              <a:rPr sz="2325" b="0">
                <a:solidFill>
                  <a:srgbClr val="FFFFFF"/>
                </a:solidFill>
                <a:latin typeface="Calibri"/>
                <a:ea typeface="Calibri"/>
                <a:cs typeface="Calibri"/>
              </a:rPr>
              <a:t>Optimization minimizes a proxy for the real decision objective</a:t>
            </a:r>
          </a:p>
        </p:txBody>
      </p:sp>
      <p:sp>
        <p:nvSpPr>
          <p:cNvPr id="7" name="">
            <a:extLst xmlns:a="http://schemas.openxmlformats.org/drawingml/2006/main">
              <a:ext uri="{FF2B5EF4-FFF2-40B4-BE49-F238E27FC236}">
                <a16:creationId xmlns:a16="http://schemas.microsoft.com/office/drawing/2014/main" id="{5282C584-2EDF-4120-9520-0B7A189416B1}"/>
              </a:ext>
            </a:extLst>
          </p:cNvPr>
          <p:cNvSpPr>
            <a:spLocks xmlns:a="http://schemas.openxmlformats.org/drawingml/2006/main" noGrp="1"/>
          </p:cNvSpPr>
          <p:nvPr/>
        </p:nvSpPr>
        <p:spPr>
          <a:xfrm xmlns:a="http://schemas.openxmlformats.org/drawingml/2006/main">
            <a:off x="457200" y="1581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DDE8E7"/>
                </a:solidFill>
                <a:latin typeface="Calibri"/>
                <a:ea typeface="Calibri"/>
                <a:cs typeface="Calibri"/>
              </a:defRPr>
            </a:pPr>
            <a:r>
              <a:rPr sz="1200" b="0">
                <a:solidFill>
                  <a:srgbClr val="DDE8E7"/>
                </a:solidFill>
                <a:latin typeface="Calibri"/>
                <a:ea typeface="Calibri"/>
                <a:cs typeface="Calibri"/>
              </a:rPr>
              <a:t>Loss makes error measurable; risk makes the target population visible.</a:t>
            </a:r>
          </a:p>
        </p:txBody>
      </p:sp>
      <p:sp>
        <p:nvSpPr>
          <p:cNvPr id="8" name="">
            <a:extLst xmlns:a="http://schemas.openxmlformats.org/drawingml/2006/main">
              <a:ext uri="{FF2B5EF4-FFF2-40B4-BE49-F238E27FC236}">
                <a16:creationId xmlns:a16="http://schemas.microsoft.com/office/drawing/2014/main" id="{97B00D08-EF52-45A4-B627-CCD2BFB1A834}"/>
              </a:ext>
            </a:extLst>
          </p:cNvPr>
          <p:cNvSpPr>
            <a:spLocks xmlns:a="http://schemas.openxmlformats.org/drawingml/2006/main" noGrp="1"/>
          </p:cNvSpPr>
          <p:nvPr/>
        </p:nvSpPr>
        <p:spPr>
          <a:xfrm xmlns:a="http://schemas.openxmlformats.org/drawingml/2006/main">
            <a:off x="1143000" y="2190750"/>
            <a:ext cx="990600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029A85C-C0B0-4C59-B510-4AA4B0295BAC}"/>
              </a:ext>
            </a:extLst>
          </p:cNvPr>
          <p:cNvSpPr>
            <a:spLocks xmlns:a="http://schemas.openxmlformats.org/drawingml/2006/main" noGrp="1"/>
          </p:cNvSpPr>
          <p:nvPr/>
        </p:nvSpPr>
        <p:spPr>
          <a:xfrm xmlns:a="http://schemas.openxmlformats.org/drawingml/2006/main">
            <a:off x="1476375" y="2324100"/>
            <a:ext cx="923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0A2336"/>
                </a:solidFill>
                <a:latin typeface="Calibri"/>
                <a:ea typeface="Calibri"/>
                <a:cs typeface="Calibri"/>
              </a:defRPr>
            </a:pPr>
            <a:r>
              <a:rPr sz="1875" b="1">
                <a:solidFill>
                  <a:srgbClr val="0A2336"/>
                </a:solidFill>
                <a:latin typeface="Calibri"/>
                <a:ea typeface="Calibri"/>
                <a:cs typeface="Calibri"/>
              </a:rPr>
              <a:t>R̂ₙ(f) = (1/n) Σᵢ L(yᵢ, f(xᵢ))</a:t>
            </a:r>
          </a:p>
        </p:txBody>
      </p:sp>
      <p:sp>
        <p:nvSpPr>
          <p:cNvPr id="10" name="">
            <a:extLst xmlns:a="http://schemas.openxmlformats.org/drawingml/2006/main">
              <a:ext uri="{FF2B5EF4-FFF2-40B4-BE49-F238E27FC236}">
                <a16:creationId xmlns:a16="http://schemas.microsoft.com/office/drawing/2014/main" id="{88302F2B-EBCE-489A-9F5C-09B193FE98BE}"/>
              </a:ext>
            </a:extLst>
          </p:cNvPr>
          <p:cNvSpPr>
            <a:spLocks xmlns:a="http://schemas.openxmlformats.org/drawingml/2006/main" noGrp="1"/>
          </p:cNvSpPr>
          <p:nvPr/>
        </p:nvSpPr>
        <p:spPr>
          <a:xfrm xmlns:a="http://schemas.openxmlformats.org/drawingml/2006/main">
            <a:off x="1666875" y="338137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67B7B4"/>
                </a:solidFill>
                <a:latin typeface="Calibri"/>
                <a:ea typeface="Calibri"/>
                <a:cs typeface="Calibri"/>
              </a:defRPr>
            </a:pPr>
            <a:r>
              <a:rPr sz="1200" b="1">
                <a:solidFill>
                  <a:srgbClr val="67B7B4"/>
                </a:solidFill>
                <a:latin typeface="Calibri"/>
                <a:ea typeface="Calibri"/>
                <a:cs typeface="Calibri"/>
              </a:rPr>
              <a:t>Empirical risk</a:t>
            </a:r>
          </a:p>
        </p:txBody>
      </p:sp>
      <p:sp>
        <p:nvSpPr>
          <p:cNvPr id="11" name="">
            <a:extLst xmlns:a="http://schemas.openxmlformats.org/drawingml/2006/main">
              <a:ext uri="{FF2B5EF4-FFF2-40B4-BE49-F238E27FC236}">
                <a16:creationId xmlns:a16="http://schemas.microsoft.com/office/drawing/2014/main" id="{A25D3240-F0FE-4FE0-AA95-14EC4C003076}"/>
              </a:ext>
            </a:extLst>
          </p:cNvPr>
          <p:cNvSpPr>
            <a:spLocks xmlns:a="http://schemas.openxmlformats.org/drawingml/2006/main" noGrp="1"/>
          </p:cNvSpPr>
          <p:nvPr/>
        </p:nvSpPr>
        <p:spPr>
          <a:xfrm xmlns:a="http://schemas.openxmlformats.org/drawingml/2006/main">
            <a:off x="5429250" y="338137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CA24A"/>
                </a:solidFill>
                <a:latin typeface="Calibri"/>
                <a:ea typeface="Calibri"/>
                <a:cs typeface="Calibri"/>
              </a:defRPr>
            </a:pPr>
            <a:r>
              <a:rPr sz="1200" b="1">
                <a:solidFill>
                  <a:srgbClr val="DCA24A"/>
                </a:solidFill>
                <a:latin typeface="Calibri"/>
                <a:ea typeface="Calibri"/>
                <a:cs typeface="Calibri"/>
              </a:rPr>
              <a:t>Expected risk  R(f) = 𝔼[L(Y,f(X))]</a:t>
            </a:r>
          </a:p>
        </p:txBody>
      </p:sp>
      <p:sp>
        <p:nvSpPr>
          <p:cNvPr id="12" name="">
            <a:extLst xmlns:a="http://schemas.openxmlformats.org/drawingml/2006/main">
              <a:ext uri="{FF2B5EF4-FFF2-40B4-BE49-F238E27FC236}">
                <a16:creationId xmlns:a16="http://schemas.microsoft.com/office/drawing/2014/main" id="{BDA4A14D-9B4B-4B66-97C1-174F163959D0}"/>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67B7B4"/>
                </a:solidFill>
                <a:latin typeface="Calibri"/>
                <a:ea typeface="Calibri"/>
                <a:cs typeface="Calibri"/>
              </a:defRPr>
            </a:pPr>
            <a:r>
              <a:rPr sz="1050" b="1">
                <a:solidFill>
                  <a:srgbClr val="67B7B4"/>
                </a:solidFill>
                <a:latin typeface="Calibri"/>
                <a:ea typeface="Calibri"/>
                <a:cs typeface="Calibri"/>
              </a:rPr>
              <a:t>A mathematically convenient loss is not automatically the right institutional metric.</a:t>
            </a:r>
          </a:p>
        </p:txBody>
      </p:sp>
    </p:spTree>
    <p:extLst>
      <p:ext uri="{BB962C8B-B14F-4D97-AF65-F5344CB8AC3E}">
        <p14:creationId xmlns:p14="http://schemas.microsoft.com/office/powerpoint/2010/main" val="1420730120"/>
      </p:ext>
    </p:extLst>
  </p:cSld>
</p:sld>
</file>

<file path=ppt/slides/slide9.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0CAB52-ED8D-4167-BC5A-F2995C27FBC1}"/>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A06EF267-197A-4AE5-9E9E-E8580C3471AA}"/>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A4746F69-4C7C-4DB3-8DF5-7B828EC2A69D}"/>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09</a:t>
            </a:r>
          </a:p>
        </p:txBody>
      </p:sp>
      <p:sp>
        <p:nvSpPr>
          <p:cNvPr id="4" name="">
            <a:extLst xmlns:a="http://schemas.openxmlformats.org/drawingml/2006/main">
              <a:ext uri="{FF2B5EF4-FFF2-40B4-BE49-F238E27FC236}">
                <a16:creationId xmlns:a16="http://schemas.microsoft.com/office/drawing/2014/main" id="{4D319271-8E6C-43EB-BAA3-68724662C9CD}"/>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56093A-B75D-451E-B84C-515B2E6AED1D}"/>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GENERALIZATION</a:t>
            </a:r>
          </a:p>
        </p:txBody>
      </p:sp>
      <p:sp>
        <p:nvSpPr>
          <p:cNvPr id="6" name="">
            <a:extLst xmlns:a="http://schemas.openxmlformats.org/drawingml/2006/main">
              <a:ext uri="{FF2B5EF4-FFF2-40B4-BE49-F238E27FC236}">
                <a16:creationId xmlns:a16="http://schemas.microsoft.com/office/drawing/2014/main" id="{C3A260B7-3593-4723-9AD1-EED75A2D0DAD}"/>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0A2336"/>
                </a:solidFill>
                <a:latin typeface="Calibri"/>
                <a:ea typeface="Calibri"/>
                <a:cs typeface="Calibri"/>
              </a:defRPr>
            </a:pPr>
            <a:r>
              <a:rPr sz="2100" b="0">
                <a:solidFill>
                  <a:srgbClr val="0A2336"/>
                </a:solidFill>
                <a:latin typeface="Calibri"/>
                <a:ea typeface="Calibri"/>
                <a:cs typeface="Calibri"/>
              </a:rPr>
              <a:t>The generalization gap measures how far training evidence travels</a:t>
            </a:r>
          </a:p>
        </p:txBody>
      </p:sp>
      <p:sp>
        <p:nvSpPr>
          <p:cNvPr id="7" name="">
            <a:extLst xmlns:a="http://schemas.openxmlformats.org/drawingml/2006/main">
              <a:ext uri="{FF2B5EF4-FFF2-40B4-BE49-F238E27FC236}">
                <a16:creationId xmlns:a16="http://schemas.microsoft.com/office/drawing/2014/main" id="{554E07E6-4F13-48CE-BD69-1A648D6BBC5C}"/>
              </a:ext>
            </a:extLst>
          </p:cNvPr>
          <p:cNvSpPr>
            <a:spLocks xmlns:a="http://schemas.openxmlformats.org/drawingml/2006/main" noGrp="1"/>
          </p:cNvSpPr>
          <p:nvPr/>
        </p:nvSpPr>
        <p:spPr>
          <a:xfrm xmlns:a="http://schemas.openxmlformats.org/drawingml/2006/main">
            <a:off x="1143000" y="2238375"/>
            <a:ext cx="9906000" cy="857250"/>
          </a:xfrm>
          <a:prstGeom xmlns:a="http://schemas.openxmlformats.org/drawingml/2006/main" prst="roundRect">
            <a:avLst>
              <a:gd name="adj" fmla="val 8889"/>
            </a:avLst>
          </a:prstGeom>
          <a:solidFill xmlns:a="http://schemas.openxmlformats.org/drawingml/2006/main">
            <a:srgbClr val="03172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741586F-3349-42BD-B5C1-1921CD2F12E4}"/>
              </a:ext>
            </a:extLst>
          </p:cNvPr>
          <p:cNvSpPr>
            <a:spLocks xmlns:a="http://schemas.openxmlformats.org/drawingml/2006/main" noGrp="1"/>
          </p:cNvSpPr>
          <p:nvPr/>
        </p:nvSpPr>
        <p:spPr>
          <a:xfrm xmlns:a="http://schemas.openxmlformats.org/drawingml/2006/main">
            <a:off x="1476375" y="2371725"/>
            <a:ext cx="923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Calibri"/>
                <a:ea typeface="Calibri"/>
                <a:cs typeface="Calibri"/>
              </a:defRPr>
            </a:pPr>
            <a:r>
              <a:rPr sz="1875" b="1">
                <a:solidFill>
                  <a:srgbClr val="FFFFFF"/>
                </a:solidFill>
                <a:latin typeface="Calibri"/>
                <a:ea typeface="Calibri"/>
                <a:cs typeface="Calibri"/>
              </a:rPr>
              <a:t>Generalization gap = R(f̂) − R̂train(f̂)</a:t>
            </a:r>
          </a:p>
        </p:txBody>
      </p:sp>
      <p:sp>
        <p:nvSpPr>
          <p:cNvPr id="9" name="">
            <a:extLst xmlns:a="http://schemas.openxmlformats.org/drawingml/2006/main">
              <a:ext uri="{FF2B5EF4-FFF2-40B4-BE49-F238E27FC236}">
                <a16:creationId xmlns:a16="http://schemas.microsoft.com/office/drawing/2014/main" id="{F23F70B0-B6DD-4F49-AC75-A7766BE28925}"/>
              </a:ext>
            </a:extLst>
          </p:cNvPr>
          <p:cNvSpPr>
            <a:spLocks xmlns:a="http://schemas.openxmlformats.org/drawingml/2006/main" noGrp="1"/>
          </p:cNvSpPr>
          <p:nvPr/>
        </p:nvSpPr>
        <p:spPr>
          <a:xfrm xmlns:a="http://schemas.openxmlformats.org/drawingml/2006/main">
            <a:off x="1476375" y="3619500"/>
            <a:ext cx="2857500" cy="1428750"/>
          </a:xfrm>
          <a:prstGeom xmlns:a="http://schemas.openxmlformats.org/drawingml/2006/main" prst="roundRect">
            <a:avLst>
              <a:gd name="adj" fmla="val 5333"/>
            </a:avLst>
          </a:prstGeom>
          <a:solidFill xmlns:a="http://schemas.openxmlformats.org/drawingml/2006/main">
            <a:srgbClr val="DDE8E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B296A1A-C1F1-4AC9-B113-E014D0A03672}"/>
              </a:ext>
            </a:extLst>
          </p:cNvPr>
          <p:cNvSpPr>
            <a:spLocks xmlns:a="http://schemas.openxmlformats.org/drawingml/2006/main" noGrp="1"/>
          </p:cNvSpPr>
          <p:nvPr/>
        </p:nvSpPr>
        <p:spPr>
          <a:xfrm xmlns:a="http://schemas.openxmlformats.org/drawingml/2006/main">
            <a:off x="1647825" y="3771900"/>
            <a:ext cx="2514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UNDERFITTING</a:t>
            </a:r>
          </a:p>
        </p:txBody>
      </p:sp>
      <p:sp>
        <p:nvSpPr>
          <p:cNvPr id="11" name="">
            <a:extLst xmlns:a="http://schemas.openxmlformats.org/drawingml/2006/main">
              <a:ext uri="{FF2B5EF4-FFF2-40B4-BE49-F238E27FC236}">
                <a16:creationId xmlns:a16="http://schemas.microsoft.com/office/drawing/2014/main" id="{07E720D4-221D-4D9E-8004-49749A11B4B1}"/>
              </a:ext>
            </a:extLst>
          </p:cNvPr>
          <p:cNvSpPr>
            <a:spLocks xmlns:a="http://schemas.openxmlformats.org/drawingml/2006/main" noGrp="1"/>
          </p:cNvSpPr>
          <p:nvPr/>
        </p:nvSpPr>
        <p:spPr>
          <a:xfrm xmlns:a="http://schemas.openxmlformats.org/drawingml/2006/main">
            <a:off x="1647825" y="4076700"/>
            <a:ext cx="2514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training and validation performance are both weak</a:t>
            </a:r>
          </a:p>
        </p:txBody>
      </p:sp>
      <p:sp>
        <p:nvSpPr>
          <p:cNvPr id="12" name="">
            <a:extLst xmlns:a="http://schemas.openxmlformats.org/drawingml/2006/main">
              <a:ext uri="{FF2B5EF4-FFF2-40B4-BE49-F238E27FC236}">
                <a16:creationId xmlns:a16="http://schemas.microsoft.com/office/drawing/2014/main" id="{F1353377-141B-4D13-B70A-D16A6214EE34}"/>
              </a:ext>
            </a:extLst>
          </p:cNvPr>
          <p:cNvSpPr>
            <a:spLocks xmlns:a="http://schemas.openxmlformats.org/drawingml/2006/main" noGrp="1"/>
          </p:cNvSpPr>
          <p:nvPr/>
        </p:nvSpPr>
        <p:spPr>
          <a:xfrm xmlns:a="http://schemas.openxmlformats.org/drawingml/2006/main">
            <a:off x="4667250" y="3619500"/>
            <a:ext cx="2857500" cy="1428750"/>
          </a:xfrm>
          <a:prstGeom xmlns:a="http://schemas.openxmlformats.org/drawingml/2006/main" prst="roundRect">
            <a:avLst>
              <a:gd name="adj" fmla="val 5333"/>
            </a:avLst>
          </a:prstGeom>
          <a:solidFill xmlns:a="http://schemas.openxmlformats.org/drawingml/2006/main">
            <a:srgbClr val="2F776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D5B1D85-F97B-4586-85ED-BB445FB092DD}"/>
              </a:ext>
            </a:extLst>
          </p:cNvPr>
          <p:cNvSpPr>
            <a:spLocks xmlns:a="http://schemas.openxmlformats.org/drawingml/2006/main" noGrp="1"/>
          </p:cNvSpPr>
          <p:nvPr/>
        </p:nvSpPr>
        <p:spPr>
          <a:xfrm xmlns:a="http://schemas.openxmlformats.org/drawingml/2006/main">
            <a:off x="4838700" y="3771900"/>
            <a:ext cx="2514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USEFUL FIT</a:t>
            </a:r>
          </a:p>
        </p:txBody>
      </p:sp>
      <p:sp>
        <p:nvSpPr>
          <p:cNvPr id="14" name="">
            <a:extLst xmlns:a="http://schemas.openxmlformats.org/drawingml/2006/main">
              <a:ext uri="{FF2B5EF4-FFF2-40B4-BE49-F238E27FC236}">
                <a16:creationId xmlns:a16="http://schemas.microsoft.com/office/drawing/2014/main" id="{2FF48128-B289-4D92-A266-88E3A7B8AC7A}"/>
              </a:ext>
            </a:extLst>
          </p:cNvPr>
          <p:cNvSpPr>
            <a:spLocks xmlns:a="http://schemas.openxmlformats.org/drawingml/2006/main" noGrp="1"/>
          </p:cNvSpPr>
          <p:nvPr/>
        </p:nvSpPr>
        <p:spPr>
          <a:xfrm xmlns:a="http://schemas.openxmlformats.org/drawingml/2006/main">
            <a:off x="4838700" y="4076700"/>
            <a:ext cx="2514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training and validation evidence agree at an acceptable level</a:t>
            </a:r>
          </a:p>
        </p:txBody>
      </p:sp>
      <p:sp>
        <p:nvSpPr>
          <p:cNvPr id="15" name="">
            <a:extLst xmlns:a="http://schemas.openxmlformats.org/drawingml/2006/main">
              <a:ext uri="{FF2B5EF4-FFF2-40B4-BE49-F238E27FC236}">
                <a16:creationId xmlns:a16="http://schemas.microsoft.com/office/drawing/2014/main" id="{928DC919-1F04-44B1-AA6F-A12EC411B3DE}"/>
              </a:ext>
            </a:extLst>
          </p:cNvPr>
          <p:cNvSpPr>
            <a:spLocks xmlns:a="http://schemas.openxmlformats.org/drawingml/2006/main" noGrp="1"/>
          </p:cNvSpPr>
          <p:nvPr/>
        </p:nvSpPr>
        <p:spPr>
          <a:xfrm xmlns:a="http://schemas.openxmlformats.org/drawingml/2006/main">
            <a:off x="7858125" y="3619500"/>
            <a:ext cx="2857500" cy="1428750"/>
          </a:xfrm>
          <a:prstGeom xmlns:a="http://schemas.openxmlformats.org/drawingml/2006/main" prst="roundRect">
            <a:avLst>
              <a:gd name="adj" fmla="val 5333"/>
            </a:avLst>
          </a:prstGeom>
          <a:solidFill xmlns:a="http://schemas.openxmlformats.org/drawingml/2006/main">
            <a:srgbClr val="F1DFC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8624C18-496C-4EF8-AB6A-EC83B1C10E17}"/>
              </a:ext>
            </a:extLst>
          </p:cNvPr>
          <p:cNvSpPr>
            <a:spLocks xmlns:a="http://schemas.openxmlformats.org/drawingml/2006/main" noGrp="1"/>
          </p:cNvSpPr>
          <p:nvPr/>
        </p:nvSpPr>
        <p:spPr>
          <a:xfrm xmlns:a="http://schemas.openxmlformats.org/drawingml/2006/main">
            <a:off x="8029575" y="3771900"/>
            <a:ext cx="2514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B94A48"/>
                </a:solidFill>
                <a:latin typeface="Calibri"/>
                <a:ea typeface="Calibri"/>
                <a:cs typeface="Calibri"/>
              </a:defRPr>
            </a:pPr>
            <a:r>
              <a:rPr sz="750" b="1">
                <a:solidFill>
                  <a:srgbClr val="B94A48"/>
                </a:solidFill>
                <a:latin typeface="Calibri"/>
                <a:ea typeface="Calibri"/>
                <a:cs typeface="Calibri"/>
              </a:rPr>
              <a:t>OVERFITTING</a:t>
            </a:r>
          </a:p>
        </p:txBody>
      </p:sp>
      <p:sp>
        <p:nvSpPr>
          <p:cNvPr id="17" name="">
            <a:extLst xmlns:a="http://schemas.openxmlformats.org/drawingml/2006/main">
              <a:ext uri="{FF2B5EF4-FFF2-40B4-BE49-F238E27FC236}">
                <a16:creationId xmlns:a16="http://schemas.microsoft.com/office/drawing/2014/main" id="{6E60F675-88DA-46CE-A327-0DBA5BF9B623}"/>
              </a:ext>
            </a:extLst>
          </p:cNvPr>
          <p:cNvSpPr>
            <a:spLocks xmlns:a="http://schemas.openxmlformats.org/drawingml/2006/main" noGrp="1"/>
          </p:cNvSpPr>
          <p:nvPr/>
        </p:nvSpPr>
        <p:spPr>
          <a:xfrm xmlns:a="http://schemas.openxmlformats.org/drawingml/2006/main">
            <a:off x="8029575" y="4076700"/>
            <a:ext cx="2514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training is strong while validation lags</a:t>
            </a:r>
          </a:p>
        </p:txBody>
      </p:sp>
      <p:sp>
        <p:nvSpPr>
          <p:cNvPr id="18" name="">
            <a:extLst xmlns:a="http://schemas.openxmlformats.org/drawingml/2006/main">
              <a:ext uri="{FF2B5EF4-FFF2-40B4-BE49-F238E27FC236}">
                <a16:creationId xmlns:a16="http://schemas.microsoft.com/office/drawing/2014/main" id="{12CCCA25-F866-4F65-8DD9-9DC7F93361FB}"/>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A small training error is evidence only about training.</a:t>
            </a:r>
          </a:p>
        </p:txBody>
      </p:sp>
    </p:spTree>
    <p:extLst>
      <p:ext uri="{BB962C8B-B14F-4D97-AF65-F5344CB8AC3E}">
        <p14:creationId xmlns:p14="http://schemas.microsoft.com/office/powerpoint/2010/main" val="964524104"/>
      </p:ext>
    </p:extLst>
  </p:cSld>
</p:sld>
</file>

<file path=ppt/slides/slide10.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539AF56-277C-4732-B3A7-CBA178EEC240}"/>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CD9096AA-0090-44C4-8E8B-D7768398A5AC}"/>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5AA79D9E-DB63-455F-940D-924222EC4D59}"/>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10</a:t>
            </a:r>
          </a:p>
        </p:txBody>
      </p:sp>
      <p:sp>
        <p:nvSpPr>
          <p:cNvPr id="4" name="">
            <a:extLst xmlns:a="http://schemas.openxmlformats.org/drawingml/2006/main">
              <a:ext uri="{FF2B5EF4-FFF2-40B4-BE49-F238E27FC236}">
                <a16:creationId xmlns:a16="http://schemas.microsoft.com/office/drawing/2014/main" id="{E5B6F7D1-9520-4481-8F85-CB6A37DFCC21}"/>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29993D-8E78-4E31-A726-B2F430344F7F}"/>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SRAI WORKFLOW</a:t>
            </a:r>
          </a:p>
        </p:txBody>
      </p:sp>
      <p:sp>
        <p:nvSpPr>
          <p:cNvPr id="6" name="">
            <a:extLst xmlns:a="http://schemas.openxmlformats.org/drawingml/2006/main">
              <a:ext uri="{FF2B5EF4-FFF2-40B4-BE49-F238E27FC236}">
                <a16:creationId xmlns:a16="http://schemas.microsoft.com/office/drawing/2014/main" id="{D72AFDCA-9C15-454A-84EA-2E53123488AC}"/>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Nine transitions turn a decision need into controlled evidence</a:t>
            </a:r>
          </a:p>
        </p:txBody>
      </p:sp>
      <p:sp>
        <p:nvSpPr>
          <p:cNvPr id="7" name="">
            <a:extLst xmlns:a="http://schemas.openxmlformats.org/drawingml/2006/main">
              <a:ext uri="{FF2B5EF4-FFF2-40B4-BE49-F238E27FC236}">
                <a16:creationId xmlns:a16="http://schemas.microsoft.com/office/drawing/2014/main" id="{F42E6E22-87D1-4A81-8B8C-E94FCA82F4E6}"/>
              </a:ext>
            </a:extLst>
          </p:cNvPr>
          <p:cNvSpPr>
            <a:spLocks xmlns:a="http://schemas.openxmlformats.org/drawingml/2006/main" noGrp="1"/>
          </p:cNvSpPr>
          <p:nvPr/>
        </p:nvSpPr>
        <p:spPr>
          <a:xfrm xmlns:a="http://schemas.openxmlformats.org/drawingml/2006/main">
            <a:off x="857250" y="20955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A05F1C27-D6A1-45E8-9C00-D7087B63DAC3}"/>
              </a:ext>
            </a:extLst>
          </p:cNvPr>
          <p:cNvSpPr>
            <a:spLocks xmlns:a="http://schemas.openxmlformats.org/drawingml/2006/main" noGrp="1"/>
          </p:cNvSpPr>
          <p:nvPr/>
        </p:nvSpPr>
        <p:spPr>
          <a:xfrm xmlns:a="http://schemas.openxmlformats.org/drawingml/2006/main">
            <a:off x="1333500" y="22098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118F895-F766-4EF8-8032-B10E5277BE4B}"/>
              </a:ext>
            </a:extLst>
          </p:cNvPr>
          <p:cNvSpPr>
            <a:spLocks xmlns:a="http://schemas.openxmlformats.org/drawingml/2006/main" noGrp="1"/>
          </p:cNvSpPr>
          <p:nvPr/>
        </p:nvSpPr>
        <p:spPr>
          <a:xfrm xmlns:a="http://schemas.openxmlformats.org/drawingml/2006/main">
            <a:off x="1952625" y="20097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0A2336"/>
                </a:solidFill>
                <a:latin typeface="Calibri"/>
                <a:ea typeface="Calibri"/>
                <a:cs typeface="Calibri"/>
              </a:defRPr>
            </a:pPr>
            <a:r>
              <a:rPr sz="1275" b="0">
                <a:solidFill>
                  <a:srgbClr val="0A2336"/>
                </a:solidFill>
                <a:latin typeface="Calibri"/>
                <a:ea typeface="Calibri"/>
                <a:cs typeface="Calibri"/>
              </a:rPr>
              <a:t>Decision → observational unit</a:t>
            </a:r>
          </a:p>
        </p:txBody>
      </p:sp>
      <p:sp>
        <p:nvSpPr>
          <p:cNvPr id="10" name="">
            <a:extLst xmlns:a="http://schemas.openxmlformats.org/drawingml/2006/main">
              <a:ext uri="{FF2B5EF4-FFF2-40B4-BE49-F238E27FC236}">
                <a16:creationId xmlns:a16="http://schemas.microsoft.com/office/drawing/2014/main" id="{6DABDA1A-8A06-4AEC-BE91-7F0B97F3377B}"/>
              </a:ext>
            </a:extLst>
          </p:cNvPr>
          <p:cNvSpPr>
            <a:spLocks xmlns:a="http://schemas.openxmlformats.org/drawingml/2006/main" noGrp="1"/>
          </p:cNvSpPr>
          <p:nvPr/>
        </p:nvSpPr>
        <p:spPr>
          <a:xfrm xmlns:a="http://schemas.openxmlformats.org/drawingml/2006/main">
            <a:off x="857250" y="26479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02</a:t>
            </a:r>
          </a:p>
        </p:txBody>
      </p:sp>
      <p:sp>
        <p:nvSpPr>
          <p:cNvPr id="11" name="">
            <a:extLst xmlns:a="http://schemas.openxmlformats.org/drawingml/2006/main">
              <a:ext uri="{FF2B5EF4-FFF2-40B4-BE49-F238E27FC236}">
                <a16:creationId xmlns:a16="http://schemas.microsoft.com/office/drawing/2014/main" id="{F8D760DC-18D3-42AA-818D-E8E3120E0134}"/>
              </a:ext>
            </a:extLst>
          </p:cNvPr>
          <p:cNvSpPr>
            <a:spLocks xmlns:a="http://schemas.openxmlformats.org/drawingml/2006/main" noGrp="1"/>
          </p:cNvSpPr>
          <p:nvPr/>
        </p:nvSpPr>
        <p:spPr>
          <a:xfrm xmlns:a="http://schemas.openxmlformats.org/drawingml/2006/main">
            <a:off x="1333500" y="276225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D7FBF0-239F-4E92-8F8A-A55CD2506297}"/>
              </a:ext>
            </a:extLst>
          </p:cNvPr>
          <p:cNvSpPr>
            <a:spLocks xmlns:a="http://schemas.openxmlformats.org/drawingml/2006/main" noGrp="1"/>
          </p:cNvSpPr>
          <p:nvPr/>
        </p:nvSpPr>
        <p:spPr>
          <a:xfrm xmlns:a="http://schemas.openxmlformats.org/drawingml/2006/main">
            <a:off x="1952625" y="25622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0A2336"/>
                </a:solidFill>
                <a:latin typeface="Calibri"/>
                <a:ea typeface="Calibri"/>
                <a:cs typeface="Calibri"/>
              </a:defRPr>
            </a:pPr>
            <a:r>
              <a:rPr sz="1275" b="0">
                <a:solidFill>
                  <a:srgbClr val="0A2336"/>
                </a:solidFill>
                <a:latin typeface="Calibri"/>
                <a:ea typeface="Calibri"/>
                <a:cs typeface="Calibri"/>
              </a:rPr>
              <a:t>Unit → prediction time</a:t>
            </a:r>
          </a:p>
        </p:txBody>
      </p:sp>
      <p:sp>
        <p:nvSpPr>
          <p:cNvPr id="13" name="">
            <a:extLst xmlns:a="http://schemas.openxmlformats.org/drawingml/2006/main">
              <a:ext uri="{FF2B5EF4-FFF2-40B4-BE49-F238E27FC236}">
                <a16:creationId xmlns:a16="http://schemas.microsoft.com/office/drawing/2014/main" id="{7D7B312A-13DD-45AB-8F50-EC5BEE699182}"/>
              </a:ext>
            </a:extLst>
          </p:cNvPr>
          <p:cNvSpPr>
            <a:spLocks xmlns:a="http://schemas.openxmlformats.org/drawingml/2006/main" noGrp="1"/>
          </p:cNvSpPr>
          <p:nvPr/>
        </p:nvSpPr>
        <p:spPr>
          <a:xfrm xmlns:a="http://schemas.openxmlformats.org/drawingml/2006/main">
            <a:off x="857250" y="32004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03</a:t>
            </a:r>
          </a:p>
        </p:txBody>
      </p:sp>
      <p:sp>
        <p:nvSpPr>
          <p:cNvPr id="14" name="">
            <a:extLst xmlns:a="http://schemas.openxmlformats.org/drawingml/2006/main">
              <a:ext uri="{FF2B5EF4-FFF2-40B4-BE49-F238E27FC236}">
                <a16:creationId xmlns:a16="http://schemas.microsoft.com/office/drawing/2014/main" id="{24F17616-1D44-4F6A-B8F2-6C8EAEFADD49}"/>
              </a:ext>
            </a:extLst>
          </p:cNvPr>
          <p:cNvSpPr>
            <a:spLocks xmlns:a="http://schemas.openxmlformats.org/drawingml/2006/main" noGrp="1"/>
          </p:cNvSpPr>
          <p:nvPr/>
        </p:nvSpPr>
        <p:spPr>
          <a:xfrm xmlns:a="http://schemas.openxmlformats.org/drawingml/2006/main">
            <a:off x="1333500" y="33147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4BDAB79-6E99-40D8-B333-DE298B9B11DC}"/>
              </a:ext>
            </a:extLst>
          </p:cNvPr>
          <p:cNvSpPr>
            <a:spLocks xmlns:a="http://schemas.openxmlformats.org/drawingml/2006/main" noGrp="1"/>
          </p:cNvSpPr>
          <p:nvPr/>
        </p:nvSpPr>
        <p:spPr>
          <a:xfrm xmlns:a="http://schemas.openxmlformats.org/drawingml/2006/main">
            <a:off x="1952625" y="31146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0A2336"/>
                </a:solidFill>
                <a:latin typeface="Calibri"/>
                <a:ea typeface="Calibri"/>
                <a:cs typeface="Calibri"/>
              </a:defRPr>
            </a:pPr>
            <a:r>
              <a:rPr sz="1275" b="0">
                <a:solidFill>
                  <a:srgbClr val="0A2336"/>
                </a:solidFill>
                <a:latin typeface="Calibri"/>
                <a:ea typeface="Calibri"/>
                <a:cs typeface="Calibri"/>
              </a:rPr>
              <a:t>Prediction time → target</a:t>
            </a:r>
          </a:p>
        </p:txBody>
      </p:sp>
      <p:sp>
        <p:nvSpPr>
          <p:cNvPr id="16" name="">
            <a:extLst xmlns:a="http://schemas.openxmlformats.org/drawingml/2006/main">
              <a:ext uri="{FF2B5EF4-FFF2-40B4-BE49-F238E27FC236}">
                <a16:creationId xmlns:a16="http://schemas.microsoft.com/office/drawing/2014/main" id="{6959B7E9-902D-4DD7-B0C1-A50472A7D937}"/>
              </a:ext>
            </a:extLst>
          </p:cNvPr>
          <p:cNvSpPr>
            <a:spLocks xmlns:a="http://schemas.openxmlformats.org/drawingml/2006/main" noGrp="1"/>
          </p:cNvSpPr>
          <p:nvPr/>
        </p:nvSpPr>
        <p:spPr>
          <a:xfrm xmlns:a="http://schemas.openxmlformats.org/drawingml/2006/main">
            <a:off x="857250" y="37528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C3E872FA-A829-4A6B-8A46-672E4BDBA010}"/>
              </a:ext>
            </a:extLst>
          </p:cNvPr>
          <p:cNvSpPr>
            <a:spLocks xmlns:a="http://schemas.openxmlformats.org/drawingml/2006/main" noGrp="1"/>
          </p:cNvSpPr>
          <p:nvPr/>
        </p:nvSpPr>
        <p:spPr>
          <a:xfrm xmlns:a="http://schemas.openxmlformats.org/drawingml/2006/main">
            <a:off x="1333500" y="386715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A2F952C-0051-4E55-BD48-08B1F7C63F3B}"/>
              </a:ext>
            </a:extLst>
          </p:cNvPr>
          <p:cNvSpPr>
            <a:spLocks xmlns:a="http://schemas.openxmlformats.org/drawingml/2006/main" noGrp="1"/>
          </p:cNvSpPr>
          <p:nvPr/>
        </p:nvSpPr>
        <p:spPr>
          <a:xfrm xmlns:a="http://schemas.openxmlformats.org/drawingml/2006/main">
            <a:off x="1952625" y="36671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0A2336"/>
                </a:solidFill>
                <a:latin typeface="Calibri"/>
                <a:ea typeface="Calibri"/>
                <a:cs typeface="Calibri"/>
              </a:defRPr>
            </a:pPr>
            <a:r>
              <a:rPr sz="1275" b="0">
                <a:solidFill>
                  <a:srgbClr val="0A2336"/>
                </a:solidFill>
                <a:latin typeface="Calibri"/>
                <a:ea typeface="Calibri"/>
                <a:cs typeface="Calibri"/>
              </a:rPr>
              <a:t>Target → admissible features</a:t>
            </a:r>
          </a:p>
        </p:txBody>
      </p:sp>
      <p:sp>
        <p:nvSpPr>
          <p:cNvPr id="19" name="">
            <a:extLst xmlns:a="http://schemas.openxmlformats.org/drawingml/2006/main">
              <a:ext uri="{FF2B5EF4-FFF2-40B4-BE49-F238E27FC236}">
                <a16:creationId xmlns:a16="http://schemas.microsoft.com/office/drawing/2014/main" id="{55D874F0-77AF-4D9A-A378-67FB028C8BEB}"/>
              </a:ext>
            </a:extLst>
          </p:cNvPr>
          <p:cNvSpPr>
            <a:spLocks xmlns:a="http://schemas.openxmlformats.org/drawingml/2006/main" noGrp="1"/>
          </p:cNvSpPr>
          <p:nvPr/>
        </p:nvSpPr>
        <p:spPr>
          <a:xfrm xmlns:a="http://schemas.openxmlformats.org/drawingml/2006/main">
            <a:off x="857250" y="43053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05</a:t>
            </a:r>
          </a:p>
        </p:txBody>
      </p:sp>
      <p:sp>
        <p:nvSpPr>
          <p:cNvPr id="20" name="">
            <a:extLst xmlns:a="http://schemas.openxmlformats.org/drawingml/2006/main">
              <a:ext uri="{FF2B5EF4-FFF2-40B4-BE49-F238E27FC236}">
                <a16:creationId xmlns:a16="http://schemas.microsoft.com/office/drawing/2014/main" id="{E525B43F-4D95-4B3D-AA96-C33FFDBE7351}"/>
              </a:ext>
            </a:extLst>
          </p:cNvPr>
          <p:cNvSpPr>
            <a:spLocks xmlns:a="http://schemas.openxmlformats.org/drawingml/2006/main" noGrp="1"/>
          </p:cNvSpPr>
          <p:nvPr/>
        </p:nvSpPr>
        <p:spPr>
          <a:xfrm xmlns:a="http://schemas.openxmlformats.org/drawingml/2006/main">
            <a:off x="1333500" y="44196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14E37B4-0C49-49EC-9B9D-A25AA949DA73}"/>
              </a:ext>
            </a:extLst>
          </p:cNvPr>
          <p:cNvSpPr>
            <a:spLocks xmlns:a="http://schemas.openxmlformats.org/drawingml/2006/main" noGrp="1"/>
          </p:cNvSpPr>
          <p:nvPr/>
        </p:nvSpPr>
        <p:spPr>
          <a:xfrm xmlns:a="http://schemas.openxmlformats.org/drawingml/2006/main">
            <a:off x="1952625" y="42195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0A2336"/>
                </a:solidFill>
                <a:latin typeface="Calibri"/>
                <a:ea typeface="Calibri"/>
                <a:cs typeface="Calibri"/>
              </a:defRPr>
            </a:pPr>
            <a:r>
              <a:rPr sz="1275" b="0">
                <a:solidFill>
                  <a:srgbClr val="0A2336"/>
                </a:solidFill>
                <a:latin typeface="Calibri"/>
                <a:ea typeface="Calibri"/>
                <a:cs typeface="Calibri"/>
              </a:rPr>
              <a:t>Features → evaluation split</a:t>
            </a:r>
          </a:p>
        </p:txBody>
      </p:sp>
      <p:sp>
        <p:nvSpPr>
          <p:cNvPr id="22" name="">
            <a:extLst xmlns:a="http://schemas.openxmlformats.org/drawingml/2006/main">
              <a:ext uri="{FF2B5EF4-FFF2-40B4-BE49-F238E27FC236}">
                <a16:creationId xmlns:a16="http://schemas.microsoft.com/office/drawing/2014/main" id="{6DB3A7CB-F590-44E3-B4A1-6FE4499978E4}"/>
              </a:ext>
            </a:extLst>
          </p:cNvPr>
          <p:cNvSpPr>
            <a:spLocks xmlns:a="http://schemas.openxmlformats.org/drawingml/2006/main" noGrp="1"/>
          </p:cNvSpPr>
          <p:nvPr/>
        </p:nvSpPr>
        <p:spPr>
          <a:xfrm xmlns:a="http://schemas.openxmlformats.org/drawingml/2006/main">
            <a:off x="857250" y="48577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06</a:t>
            </a:r>
          </a:p>
        </p:txBody>
      </p:sp>
      <p:sp>
        <p:nvSpPr>
          <p:cNvPr id="23" name="">
            <a:extLst xmlns:a="http://schemas.openxmlformats.org/drawingml/2006/main">
              <a:ext uri="{FF2B5EF4-FFF2-40B4-BE49-F238E27FC236}">
                <a16:creationId xmlns:a16="http://schemas.microsoft.com/office/drawing/2014/main" id="{C7F133E0-0089-4C20-B79A-B109D2BFFB0E}"/>
              </a:ext>
            </a:extLst>
          </p:cNvPr>
          <p:cNvSpPr>
            <a:spLocks xmlns:a="http://schemas.openxmlformats.org/drawingml/2006/main" noGrp="1"/>
          </p:cNvSpPr>
          <p:nvPr/>
        </p:nvSpPr>
        <p:spPr>
          <a:xfrm xmlns:a="http://schemas.openxmlformats.org/drawingml/2006/main">
            <a:off x="1333500" y="497205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2A53F73-642B-4D75-BE8A-C33D9C13F298}"/>
              </a:ext>
            </a:extLst>
          </p:cNvPr>
          <p:cNvSpPr>
            <a:spLocks xmlns:a="http://schemas.openxmlformats.org/drawingml/2006/main" noGrp="1"/>
          </p:cNvSpPr>
          <p:nvPr/>
        </p:nvSpPr>
        <p:spPr>
          <a:xfrm xmlns:a="http://schemas.openxmlformats.org/drawingml/2006/main">
            <a:off x="1952625" y="47720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0A2336"/>
                </a:solidFill>
                <a:latin typeface="Calibri"/>
                <a:ea typeface="Calibri"/>
                <a:cs typeface="Calibri"/>
              </a:defRPr>
            </a:pPr>
            <a:r>
              <a:rPr sz="1275" b="0">
                <a:solidFill>
                  <a:srgbClr val="0A2336"/>
                </a:solidFill>
                <a:latin typeface="Calibri"/>
                <a:ea typeface="Calibri"/>
                <a:cs typeface="Calibri"/>
              </a:rPr>
              <a:t>Split → baselines and candidate models</a:t>
            </a:r>
          </a:p>
        </p:txBody>
      </p:sp>
      <p:sp>
        <p:nvSpPr>
          <p:cNvPr id="25" name="">
            <a:extLst xmlns:a="http://schemas.openxmlformats.org/drawingml/2006/main">
              <a:ext uri="{FF2B5EF4-FFF2-40B4-BE49-F238E27FC236}">
                <a16:creationId xmlns:a16="http://schemas.microsoft.com/office/drawing/2014/main" id="{CD605769-1F54-4264-A67A-0FC15939DF6F}"/>
              </a:ext>
            </a:extLst>
          </p:cNvPr>
          <p:cNvSpPr>
            <a:spLocks xmlns:a="http://schemas.openxmlformats.org/drawingml/2006/main" noGrp="1"/>
          </p:cNvSpPr>
          <p:nvPr/>
        </p:nvSpPr>
        <p:spPr>
          <a:xfrm xmlns:a="http://schemas.openxmlformats.org/drawingml/2006/main">
            <a:off x="857250" y="54102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07</a:t>
            </a:r>
          </a:p>
        </p:txBody>
      </p:sp>
      <p:sp>
        <p:nvSpPr>
          <p:cNvPr id="26" name="">
            <a:extLst xmlns:a="http://schemas.openxmlformats.org/drawingml/2006/main">
              <a:ext uri="{FF2B5EF4-FFF2-40B4-BE49-F238E27FC236}">
                <a16:creationId xmlns:a16="http://schemas.microsoft.com/office/drawing/2014/main" id="{CA8ABC8E-D2C8-4F96-8473-ECCC6024777A}"/>
              </a:ext>
            </a:extLst>
          </p:cNvPr>
          <p:cNvSpPr>
            <a:spLocks xmlns:a="http://schemas.openxmlformats.org/drawingml/2006/main" noGrp="1"/>
          </p:cNvSpPr>
          <p:nvPr/>
        </p:nvSpPr>
        <p:spPr>
          <a:xfrm xmlns:a="http://schemas.openxmlformats.org/drawingml/2006/main">
            <a:off x="1333500" y="55245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BB08EC1-FD69-44D8-8A31-8CC1D52B4AEE}"/>
              </a:ext>
            </a:extLst>
          </p:cNvPr>
          <p:cNvSpPr>
            <a:spLocks xmlns:a="http://schemas.openxmlformats.org/drawingml/2006/main" noGrp="1"/>
          </p:cNvSpPr>
          <p:nvPr/>
        </p:nvSpPr>
        <p:spPr>
          <a:xfrm xmlns:a="http://schemas.openxmlformats.org/drawingml/2006/main">
            <a:off x="1952625" y="53244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Model → verification → validation → interpretation</a:t>
            </a:r>
          </a:p>
        </p:txBody>
      </p:sp>
      <p:sp>
        <p:nvSpPr>
          <p:cNvPr id="28" name="">
            <a:extLst xmlns:a="http://schemas.openxmlformats.org/drawingml/2006/main">
              <a:ext uri="{FF2B5EF4-FFF2-40B4-BE49-F238E27FC236}">
                <a16:creationId xmlns:a16="http://schemas.microsoft.com/office/drawing/2014/main" id="{E5C08DCE-2A83-43B1-80DB-18595C442A92}"/>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Each transition creates an obligation that can be inspected.</a:t>
            </a:r>
          </a:p>
        </p:txBody>
      </p:sp>
    </p:spTree>
    <p:extLst>
      <p:ext uri="{BB962C8B-B14F-4D97-AF65-F5344CB8AC3E}">
        <p14:creationId xmlns:p14="http://schemas.microsoft.com/office/powerpoint/2010/main" val="865164732"/>
      </p:ext>
    </p:extLst>
  </p:cSld>
</p:sld>
</file>

<file path=ppt/slides/slide11.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4922FEB-44BA-47CB-BFA3-1FE2C3A5134C}"/>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C9DD56B9-864A-4BE9-805F-BD88EE06E103}"/>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044139B8-8DCE-4BBD-8E74-F8E65FA3B780}"/>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11</a:t>
            </a:r>
          </a:p>
        </p:txBody>
      </p:sp>
      <p:sp>
        <p:nvSpPr>
          <p:cNvPr id="4" name="">
            <a:extLst xmlns:a="http://schemas.openxmlformats.org/drawingml/2006/main">
              <a:ext uri="{FF2B5EF4-FFF2-40B4-BE49-F238E27FC236}">
                <a16:creationId xmlns:a16="http://schemas.microsoft.com/office/drawing/2014/main" id="{987DA873-20D2-4900-AA57-9589B1C33C46}"/>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071F00-D7CA-43D6-8D4E-D6C131747FBE}"/>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EVALUATION DESIGN</a:t>
            </a:r>
          </a:p>
        </p:txBody>
      </p:sp>
      <p:sp>
        <p:nvSpPr>
          <p:cNvPr id="6" name="">
            <a:extLst xmlns:a="http://schemas.openxmlformats.org/drawingml/2006/main">
              <a:ext uri="{FF2B5EF4-FFF2-40B4-BE49-F238E27FC236}">
                <a16:creationId xmlns:a16="http://schemas.microsoft.com/office/drawing/2014/main" id="{8317DA1B-06CC-484B-9E10-FEB558DD2116}"/>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Training, validation and test data have different jobs</a:t>
            </a:r>
          </a:p>
        </p:txBody>
      </p:sp>
      <p:sp>
        <p:nvSpPr>
          <p:cNvPr id="7" name="">
            <a:extLst xmlns:a="http://schemas.openxmlformats.org/drawingml/2006/main">
              <a:ext uri="{FF2B5EF4-FFF2-40B4-BE49-F238E27FC236}">
                <a16:creationId xmlns:a16="http://schemas.microsoft.com/office/drawing/2014/main" id="{AB83D648-37E8-4230-BCE2-0CAFF0414648}"/>
              </a:ext>
            </a:extLst>
          </p:cNvPr>
          <p:cNvSpPr>
            <a:spLocks xmlns:a="http://schemas.openxmlformats.org/drawingml/2006/main" noGrp="1"/>
          </p:cNvSpPr>
          <p:nvPr/>
        </p:nvSpPr>
        <p:spPr>
          <a:xfrm xmlns:a="http://schemas.openxmlformats.org/drawingml/2006/main">
            <a:off x="1047750" y="2238375"/>
            <a:ext cx="3048000" cy="2095500"/>
          </a:xfrm>
          <a:prstGeom xmlns:a="http://schemas.openxmlformats.org/drawingml/2006/main" prst="roundRect">
            <a:avLst>
              <a:gd name="adj" fmla="val 3636"/>
            </a:avLst>
          </a:prstGeom>
          <a:solidFill xmlns:a="http://schemas.openxmlformats.org/drawingml/2006/main">
            <a:srgbClr val="0A23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86CF047-D051-45E3-AE16-D6DAD16AB727}"/>
              </a:ext>
            </a:extLst>
          </p:cNvPr>
          <p:cNvSpPr>
            <a:spLocks xmlns:a="http://schemas.openxmlformats.org/drawingml/2006/main" noGrp="1"/>
          </p:cNvSpPr>
          <p:nvPr/>
        </p:nvSpPr>
        <p:spPr>
          <a:xfrm xmlns:a="http://schemas.openxmlformats.org/drawingml/2006/main">
            <a:off x="12192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TRAIN</a:t>
            </a:r>
          </a:p>
        </p:txBody>
      </p:sp>
      <p:sp>
        <p:nvSpPr>
          <p:cNvPr id="9" name="">
            <a:extLst xmlns:a="http://schemas.openxmlformats.org/drawingml/2006/main">
              <a:ext uri="{FF2B5EF4-FFF2-40B4-BE49-F238E27FC236}">
                <a16:creationId xmlns:a16="http://schemas.microsoft.com/office/drawing/2014/main" id="{FE1C3DE0-3B4C-4CC0-8D54-50D4FA2CC070}"/>
              </a:ext>
            </a:extLst>
          </p:cNvPr>
          <p:cNvSpPr>
            <a:spLocks xmlns:a="http://schemas.openxmlformats.org/drawingml/2006/main" noGrp="1"/>
          </p:cNvSpPr>
          <p:nvPr/>
        </p:nvSpPr>
        <p:spPr>
          <a:xfrm xmlns:a="http://schemas.openxmlformats.org/drawingml/2006/main">
            <a:off x="1219200" y="2695575"/>
            <a:ext cx="27051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fit parameters and learned preprocessing</a:t>
            </a:r>
          </a:p>
        </p:txBody>
      </p:sp>
      <p:sp>
        <p:nvSpPr>
          <p:cNvPr id="10" name="">
            <a:extLst xmlns:a="http://schemas.openxmlformats.org/drawingml/2006/main">
              <a:ext uri="{FF2B5EF4-FFF2-40B4-BE49-F238E27FC236}">
                <a16:creationId xmlns:a16="http://schemas.microsoft.com/office/drawing/2014/main" id="{2E6E3DF8-CC03-4BA9-8160-EF638EA0EFBF}"/>
              </a:ext>
            </a:extLst>
          </p:cNvPr>
          <p:cNvSpPr>
            <a:spLocks xmlns:a="http://schemas.openxmlformats.org/drawingml/2006/main" noGrp="1"/>
          </p:cNvSpPr>
          <p:nvPr/>
        </p:nvSpPr>
        <p:spPr>
          <a:xfrm xmlns:a="http://schemas.openxmlformats.org/drawingml/2006/main">
            <a:off x="4476750" y="2238375"/>
            <a:ext cx="3048000" cy="2095500"/>
          </a:xfrm>
          <a:prstGeom xmlns:a="http://schemas.openxmlformats.org/drawingml/2006/main" prst="roundRect">
            <a:avLst>
              <a:gd name="adj" fmla="val 3636"/>
            </a:avLst>
          </a:prstGeom>
          <a:solidFill xmlns:a="http://schemas.openxmlformats.org/drawingml/2006/main">
            <a:srgbClr val="0A233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192759B-DC61-4F0F-9EBB-D3E87E7F2C5F}"/>
              </a:ext>
            </a:extLst>
          </p:cNvPr>
          <p:cNvSpPr>
            <a:spLocks xmlns:a="http://schemas.openxmlformats.org/drawingml/2006/main" noGrp="1"/>
          </p:cNvSpPr>
          <p:nvPr/>
        </p:nvSpPr>
        <p:spPr>
          <a:xfrm xmlns:a="http://schemas.openxmlformats.org/drawingml/2006/main">
            <a:off x="46482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VALIDATE</a:t>
            </a:r>
          </a:p>
        </p:txBody>
      </p:sp>
      <p:sp>
        <p:nvSpPr>
          <p:cNvPr id="12" name="">
            <a:extLst xmlns:a="http://schemas.openxmlformats.org/drawingml/2006/main">
              <a:ext uri="{FF2B5EF4-FFF2-40B4-BE49-F238E27FC236}">
                <a16:creationId xmlns:a16="http://schemas.microsoft.com/office/drawing/2014/main" id="{B2B67E16-1741-4BE2-832A-F2F39AB00B90}"/>
              </a:ext>
            </a:extLst>
          </p:cNvPr>
          <p:cNvSpPr>
            <a:spLocks xmlns:a="http://schemas.openxmlformats.org/drawingml/2006/main" noGrp="1"/>
          </p:cNvSpPr>
          <p:nvPr/>
        </p:nvSpPr>
        <p:spPr>
          <a:xfrm xmlns:a="http://schemas.openxmlformats.org/drawingml/2006/main">
            <a:off x="4648200" y="2695575"/>
            <a:ext cx="27051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select models, features and thresholds</a:t>
            </a:r>
          </a:p>
        </p:txBody>
      </p:sp>
      <p:sp>
        <p:nvSpPr>
          <p:cNvPr id="13" name="">
            <a:extLst xmlns:a="http://schemas.openxmlformats.org/drawingml/2006/main">
              <a:ext uri="{FF2B5EF4-FFF2-40B4-BE49-F238E27FC236}">
                <a16:creationId xmlns:a16="http://schemas.microsoft.com/office/drawing/2014/main" id="{13D8CBB5-8073-4C3D-8BB7-9253EF41CFB1}"/>
              </a:ext>
            </a:extLst>
          </p:cNvPr>
          <p:cNvSpPr>
            <a:spLocks xmlns:a="http://schemas.openxmlformats.org/drawingml/2006/main" noGrp="1"/>
          </p:cNvSpPr>
          <p:nvPr/>
        </p:nvSpPr>
        <p:spPr>
          <a:xfrm xmlns:a="http://schemas.openxmlformats.org/drawingml/2006/main">
            <a:off x="7905750" y="2238375"/>
            <a:ext cx="3048000" cy="2095500"/>
          </a:xfrm>
          <a:prstGeom xmlns:a="http://schemas.openxmlformats.org/drawingml/2006/main" prst="roundRect">
            <a:avLst>
              <a:gd name="adj" fmla="val 3636"/>
            </a:avLst>
          </a:prstGeom>
          <a:solidFill xmlns:a="http://schemas.openxmlformats.org/drawingml/2006/main">
            <a:srgbClr val="DCA2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C660551-BA2C-4265-8B98-CFCAEC7744C5}"/>
              </a:ext>
            </a:extLst>
          </p:cNvPr>
          <p:cNvSpPr>
            <a:spLocks xmlns:a="http://schemas.openxmlformats.org/drawingml/2006/main" noGrp="1"/>
          </p:cNvSpPr>
          <p:nvPr/>
        </p:nvSpPr>
        <p:spPr>
          <a:xfrm xmlns:a="http://schemas.openxmlformats.org/drawingml/2006/main">
            <a:off x="80772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03172A"/>
                </a:solidFill>
                <a:latin typeface="Calibri"/>
                <a:ea typeface="Calibri"/>
                <a:cs typeface="Calibri"/>
              </a:defRPr>
            </a:pPr>
            <a:r>
              <a:rPr sz="750" b="1">
                <a:solidFill>
                  <a:srgbClr val="03172A"/>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E0BE8F58-009D-40FB-A325-77A0CA1EA1C4}"/>
              </a:ext>
            </a:extLst>
          </p:cNvPr>
          <p:cNvSpPr>
            <a:spLocks xmlns:a="http://schemas.openxmlformats.org/drawingml/2006/main" noGrp="1"/>
          </p:cNvSpPr>
          <p:nvPr/>
        </p:nvSpPr>
        <p:spPr>
          <a:xfrm xmlns:a="http://schemas.openxmlformats.org/drawingml/2006/main">
            <a:off x="8077200" y="2695575"/>
            <a:ext cx="27051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estimate final performance once</a:t>
            </a:r>
          </a:p>
        </p:txBody>
      </p:sp>
      <p:sp>
        <p:nvSpPr>
          <p:cNvPr id="16" name="">
            <a:extLst xmlns:a="http://schemas.openxmlformats.org/drawingml/2006/main">
              <a:ext uri="{FF2B5EF4-FFF2-40B4-BE49-F238E27FC236}">
                <a16:creationId xmlns:a16="http://schemas.microsoft.com/office/drawing/2014/main" id="{D7695C39-A821-43AB-9DD2-345093ABF4D1}"/>
              </a:ext>
            </a:extLst>
          </p:cNvPr>
          <p:cNvSpPr>
            <a:spLocks xmlns:a="http://schemas.openxmlformats.org/drawingml/2006/main" noGrp="1"/>
          </p:cNvSpPr>
          <p:nvPr/>
        </p:nvSpPr>
        <p:spPr>
          <a:xfrm xmlns:a="http://schemas.openxmlformats.org/drawingml/2006/main">
            <a:off x="2000250" y="495300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B94A48"/>
                </a:solidFill>
                <a:latin typeface="Calibri"/>
                <a:ea typeface="Calibri"/>
                <a:cs typeface="Calibri"/>
              </a:defRPr>
            </a:pPr>
            <a:r>
              <a:rPr sz="1350" b="1">
                <a:solidFill>
                  <a:srgbClr val="B94A48"/>
                </a:solidFill>
                <a:latin typeface="Calibri"/>
                <a:ea typeface="Calibri"/>
                <a:cs typeface="Calibri"/>
              </a:rPr>
              <a:t>Repeated test inspection turns the test set into development data.</a:t>
            </a:r>
          </a:p>
        </p:txBody>
      </p:sp>
    </p:spTree>
    <p:extLst>
      <p:ext uri="{BB962C8B-B14F-4D97-AF65-F5344CB8AC3E}">
        <p14:creationId xmlns:p14="http://schemas.microsoft.com/office/powerpoint/2010/main" val="551192404"/>
      </p:ext>
    </p:extLst>
  </p:cSld>
</p:sld>
</file>

<file path=ppt/slides/slide12.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095C82-05D2-4BB2-84BC-33F57A96C99C}"/>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0C366DBD-11E3-4394-AD9D-5E7CD07EE600}"/>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3E744B09-57AC-4141-843A-8F4E9AF48E3E}"/>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12</a:t>
            </a:r>
          </a:p>
        </p:txBody>
      </p:sp>
      <p:sp>
        <p:nvSpPr>
          <p:cNvPr id="4" name="">
            <a:extLst xmlns:a="http://schemas.openxmlformats.org/drawingml/2006/main">
              <a:ext uri="{FF2B5EF4-FFF2-40B4-BE49-F238E27FC236}">
                <a16:creationId xmlns:a16="http://schemas.microsoft.com/office/drawing/2014/main" id="{A11BD282-3A49-4DFC-A58E-7D7B55903FF4}"/>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EE58D0-2DF8-4F4E-A5AE-E6A50036EDD3}"/>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SPLIT ARCHITECTURE</a:t>
            </a:r>
          </a:p>
        </p:txBody>
      </p:sp>
      <p:sp>
        <p:nvSpPr>
          <p:cNvPr id="6" name="">
            <a:extLst xmlns:a="http://schemas.openxmlformats.org/drawingml/2006/main">
              <a:ext uri="{FF2B5EF4-FFF2-40B4-BE49-F238E27FC236}">
                <a16:creationId xmlns:a16="http://schemas.microsoft.com/office/drawing/2014/main" id="{5499FA4D-B082-4796-8744-26956912B985}"/>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The split must reproduce the dependence structure of use</a:t>
            </a:r>
          </a:p>
        </p:txBody>
      </p:sp>
      <p:sp>
        <p:nvSpPr>
          <p:cNvPr id="7" name="">
            <a:extLst xmlns:a="http://schemas.openxmlformats.org/drawingml/2006/main">
              <a:ext uri="{FF2B5EF4-FFF2-40B4-BE49-F238E27FC236}">
                <a16:creationId xmlns:a16="http://schemas.microsoft.com/office/drawing/2014/main" id="{E1D87B00-C64D-45F8-80E7-95173E716B8C}"/>
              </a:ext>
            </a:extLst>
          </p:cNvPr>
          <p:cNvSpPr>
            <a:spLocks xmlns:a="http://schemas.openxmlformats.org/drawingml/2006/main" noGrp="1"/>
          </p:cNvSpPr>
          <p:nvPr/>
        </p:nvSpPr>
        <p:spPr>
          <a:xfrm xmlns:a="http://schemas.openxmlformats.org/drawingml/2006/main">
            <a:off x="762000" y="21907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2F776F"/>
                </a:solidFill>
                <a:latin typeface="Calibri"/>
                <a:ea typeface="Calibri"/>
                <a:cs typeface="Calibri"/>
              </a:defRPr>
            </a:pPr>
            <a:r>
              <a:rPr sz="975" b="1">
                <a:solidFill>
                  <a:srgbClr val="2F776F"/>
                </a:solidFill>
                <a:latin typeface="Calibri"/>
                <a:ea typeface="Calibri"/>
                <a:cs typeface="Calibri"/>
              </a:rPr>
              <a:t>RANDOM</a:t>
            </a:r>
          </a:p>
        </p:txBody>
      </p:sp>
      <p:sp>
        <p:nvSpPr>
          <p:cNvPr id="8" name="">
            <a:extLst xmlns:a="http://schemas.openxmlformats.org/drawingml/2006/main">
              <a:ext uri="{FF2B5EF4-FFF2-40B4-BE49-F238E27FC236}">
                <a16:creationId xmlns:a16="http://schemas.microsoft.com/office/drawing/2014/main" id="{0D3E1F3C-5816-46A0-B1CB-D09C302EB6AC}"/>
              </a:ext>
            </a:extLst>
          </p:cNvPr>
          <p:cNvSpPr>
            <a:spLocks xmlns:a="http://schemas.openxmlformats.org/drawingml/2006/main" noGrp="1"/>
          </p:cNvSpPr>
          <p:nvPr/>
        </p:nvSpPr>
        <p:spPr>
          <a:xfrm xmlns:a="http://schemas.openxmlformats.org/drawingml/2006/main">
            <a:off x="2476500" y="2333625"/>
            <a:ext cx="523875" cy="1905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7EE9462-E25A-47E6-A793-4F3AA14F57A4}"/>
              </a:ext>
            </a:extLst>
          </p:cNvPr>
          <p:cNvSpPr>
            <a:spLocks xmlns:a="http://schemas.openxmlformats.org/drawingml/2006/main" noGrp="1"/>
          </p:cNvSpPr>
          <p:nvPr/>
        </p:nvSpPr>
        <p:spPr>
          <a:xfrm xmlns:a="http://schemas.openxmlformats.org/drawingml/2006/main">
            <a:off x="3286125" y="20955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A2336"/>
                </a:solidFill>
                <a:latin typeface="Calibri"/>
                <a:ea typeface="Calibri"/>
                <a:cs typeface="Calibri"/>
              </a:defRPr>
            </a:pPr>
            <a:r>
              <a:rPr sz="1350" b="0">
                <a:solidFill>
                  <a:srgbClr val="0A2336"/>
                </a:solidFill>
                <a:latin typeface="Calibri"/>
                <a:ea typeface="Calibri"/>
                <a:cs typeface="Calibri"/>
              </a:rPr>
              <a:t>exchangeable independent cases</a:t>
            </a:r>
          </a:p>
        </p:txBody>
      </p:sp>
      <p:sp>
        <p:nvSpPr>
          <p:cNvPr id="10" name="">
            <a:extLst xmlns:a="http://schemas.openxmlformats.org/drawingml/2006/main">
              <a:ext uri="{FF2B5EF4-FFF2-40B4-BE49-F238E27FC236}">
                <a16:creationId xmlns:a16="http://schemas.microsoft.com/office/drawing/2014/main" id="{78D725F0-F456-46FB-A048-AB801BAC0414}"/>
              </a:ext>
            </a:extLst>
          </p:cNvPr>
          <p:cNvSpPr>
            <a:spLocks xmlns:a="http://schemas.openxmlformats.org/drawingml/2006/main" noGrp="1"/>
          </p:cNvSpPr>
          <p:nvPr/>
        </p:nvSpPr>
        <p:spPr>
          <a:xfrm xmlns:a="http://schemas.openxmlformats.org/drawingml/2006/main">
            <a:off x="762000" y="29337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2F776F"/>
                </a:solidFill>
                <a:latin typeface="Calibri"/>
                <a:ea typeface="Calibri"/>
                <a:cs typeface="Calibri"/>
              </a:defRPr>
            </a:pPr>
            <a:r>
              <a:rPr sz="975" b="1">
                <a:solidFill>
                  <a:srgbClr val="2F776F"/>
                </a:solidFill>
                <a:latin typeface="Calibri"/>
                <a:ea typeface="Calibri"/>
                <a:cs typeface="Calibri"/>
              </a:rPr>
              <a:t>TEMPORAL</a:t>
            </a:r>
          </a:p>
        </p:txBody>
      </p:sp>
      <p:sp>
        <p:nvSpPr>
          <p:cNvPr id="11" name="">
            <a:extLst xmlns:a="http://schemas.openxmlformats.org/drawingml/2006/main">
              <a:ext uri="{FF2B5EF4-FFF2-40B4-BE49-F238E27FC236}">
                <a16:creationId xmlns:a16="http://schemas.microsoft.com/office/drawing/2014/main" id="{D9604686-2EE9-4259-B711-16178A180E93}"/>
              </a:ext>
            </a:extLst>
          </p:cNvPr>
          <p:cNvSpPr>
            <a:spLocks xmlns:a="http://schemas.openxmlformats.org/drawingml/2006/main" noGrp="1"/>
          </p:cNvSpPr>
          <p:nvPr/>
        </p:nvSpPr>
        <p:spPr>
          <a:xfrm xmlns:a="http://schemas.openxmlformats.org/drawingml/2006/main">
            <a:off x="2476500" y="3076575"/>
            <a:ext cx="523875" cy="1905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0BF1963-B280-4F4B-AE16-AEF961301843}"/>
              </a:ext>
            </a:extLst>
          </p:cNvPr>
          <p:cNvSpPr>
            <a:spLocks xmlns:a="http://schemas.openxmlformats.org/drawingml/2006/main" noGrp="1"/>
          </p:cNvSpPr>
          <p:nvPr/>
        </p:nvSpPr>
        <p:spPr>
          <a:xfrm xmlns:a="http://schemas.openxmlformats.org/drawingml/2006/main">
            <a:off x="3286125" y="283845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A2336"/>
                </a:solidFill>
                <a:latin typeface="Calibri"/>
                <a:ea typeface="Calibri"/>
                <a:cs typeface="Calibri"/>
              </a:defRPr>
            </a:pPr>
            <a:r>
              <a:rPr sz="1350" b="1">
                <a:solidFill>
                  <a:srgbClr val="0A2336"/>
                </a:solidFill>
                <a:latin typeface="Calibri"/>
                <a:ea typeface="Calibri"/>
                <a:cs typeface="Calibri"/>
              </a:rPr>
              <a:t>future cases differ by time</a:t>
            </a:r>
          </a:p>
        </p:txBody>
      </p:sp>
      <p:sp>
        <p:nvSpPr>
          <p:cNvPr id="13" name="">
            <a:extLst xmlns:a="http://schemas.openxmlformats.org/drawingml/2006/main">
              <a:ext uri="{FF2B5EF4-FFF2-40B4-BE49-F238E27FC236}">
                <a16:creationId xmlns:a16="http://schemas.microsoft.com/office/drawing/2014/main" id="{50E41FBE-E71B-43E6-BFEE-774744C8D98D}"/>
              </a:ext>
            </a:extLst>
          </p:cNvPr>
          <p:cNvSpPr>
            <a:spLocks xmlns:a="http://schemas.openxmlformats.org/drawingml/2006/main" noGrp="1"/>
          </p:cNvSpPr>
          <p:nvPr/>
        </p:nvSpPr>
        <p:spPr>
          <a:xfrm xmlns:a="http://schemas.openxmlformats.org/drawingml/2006/main">
            <a:off x="762000" y="36766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2F776F"/>
                </a:solidFill>
                <a:latin typeface="Calibri"/>
                <a:ea typeface="Calibri"/>
                <a:cs typeface="Calibri"/>
              </a:defRPr>
            </a:pPr>
            <a:r>
              <a:rPr sz="975" b="1">
                <a:solidFill>
                  <a:srgbClr val="2F776F"/>
                </a:solidFill>
                <a:latin typeface="Calibri"/>
                <a:ea typeface="Calibri"/>
                <a:cs typeface="Calibri"/>
              </a:rPr>
              <a:t>GROUPED</a:t>
            </a:r>
          </a:p>
        </p:txBody>
      </p:sp>
      <p:sp>
        <p:nvSpPr>
          <p:cNvPr id="14" name="">
            <a:extLst xmlns:a="http://schemas.openxmlformats.org/drawingml/2006/main">
              <a:ext uri="{FF2B5EF4-FFF2-40B4-BE49-F238E27FC236}">
                <a16:creationId xmlns:a16="http://schemas.microsoft.com/office/drawing/2014/main" id="{E6B28B23-BC88-43A6-A2AF-BB44FC78FE49}"/>
              </a:ext>
            </a:extLst>
          </p:cNvPr>
          <p:cNvSpPr>
            <a:spLocks xmlns:a="http://schemas.openxmlformats.org/drawingml/2006/main" noGrp="1"/>
          </p:cNvSpPr>
          <p:nvPr/>
        </p:nvSpPr>
        <p:spPr>
          <a:xfrm xmlns:a="http://schemas.openxmlformats.org/drawingml/2006/main">
            <a:off x="2476500" y="3819525"/>
            <a:ext cx="523875" cy="1905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A115646-7325-42C3-8622-810E1281A704}"/>
              </a:ext>
            </a:extLst>
          </p:cNvPr>
          <p:cNvSpPr>
            <a:spLocks xmlns:a="http://schemas.openxmlformats.org/drawingml/2006/main" noGrp="1"/>
          </p:cNvSpPr>
          <p:nvPr/>
        </p:nvSpPr>
        <p:spPr>
          <a:xfrm xmlns:a="http://schemas.openxmlformats.org/drawingml/2006/main">
            <a:off x="3286125" y="35814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A2336"/>
                </a:solidFill>
                <a:latin typeface="Calibri"/>
                <a:ea typeface="Calibri"/>
                <a:cs typeface="Calibri"/>
              </a:defRPr>
            </a:pPr>
            <a:r>
              <a:rPr sz="1350" b="0">
                <a:solidFill>
                  <a:srgbClr val="0A2336"/>
                </a:solidFill>
                <a:latin typeface="Calibri"/>
                <a:ea typeface="Calibri"/>
                <a:cs typeface="Calibri"/>
              </a:rPr>
              <a:t>related records share an entity</a:t>
            </a:r>
          </a:p>
        </p:txBody>
      </p:sp>
      <p:sp>
        <p:nvSpPr>
          <p:cNvPr id="16" name="">
            <a:extLst xmlns:a="http://schemas.openxmlformats.org/drawingml/2006/main">
              <a:ext uri="{FF2B5EF4-FFF2-40B4-BE49-F238E27FC236}">
                <a16:creationId xmlns:a16="http://schemas.microsoft.com/office/drawing/2014/main" id="{B4EA006C-E80C-4C8B-8033-AA5720A81DA1}"/>
              </a:ext>
            </a:extLst>
          </p:cNvPr>
          <p:cNvSpPr>
            <a:spLocks xmlns:a="http://schemas.openxmlformats.org/drawingml/2006/main" noGrp="1"/>
          </p:cNvSpPr>
          <p:nvPr/>
        </p:nvSpPr>
        <p:spPr>
          <a:xfrm xmlns:a="http://schemas.openxmlformats.org/drawingml/2006/main">
            <a:off x="762000" y="44196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2F776F"/>
                </a:solidFill>
                <a:latin typeface="Calibri"/>
                <a:ea typeface="Calibri"/>
                <a:cs typeface="Calibri"/>
              </a:defRPr>
            </a:pPr>
            <a:r>
              <a:rPr sz="975" b="1">
                <a:solidFill>
                  <a:srgbClr val="2F776F"/>
                </a:solidFill>
                <a:latin typeface="Calibri"/>
                <a:ea typeface="Calibri"/>
                <a:cs typeface="Calibri"/>
              </a:rPr>
              <a:t>SPATIAL</a:t>
            </a:r>
          </a:p>
        </p:txBody>
      </p:sp>
      <p:sp>
        <p:nvSpPr>
          <p:cNvPr id="17" name="">
            <a:extLst xmlns:a="http://schemas.openxmlformats.org/drawingml/2006/main">
              <a:ext uri="{FF2B5EF4-FFF2-40B4-BE49-F238E27FC236}">
                <a16:creationId xmlns:a16="http://schemas.microsoft.com/office/drawing/2014/main" id="{1101FC84-23B4-4CE3-887C-15B1BF6F5B53}"/>
              </a:ext>
            </a:extLst>
          </p:cNvPr>
          <p:cNvSpPr>
            <a:spLocks xmlns:a="http://schemas.openxmlformats.org/drawingml/2006/main" noGrp="1"/>
          </p:cNvSpPr>
          <p:nvPr/>
        </p:nvSpPr>
        <p:spPr>
          <a:xfrm xmlns:a="http://schemas.openxmlformats.org/drawingml/2006/main">
            <a:off x="2476500" y="4562475"/>
            <a:ext cx="523875" cy="1905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44205E9-E252-4090-88D4-33D8AF16ADC0}"/>
              </a:ext>
            </a:extLst>
          </p:cNvPr>
          <p:cNvSpPr>
            <a:spLocks xmlns:a="http://schemas.openxmlformats.org/drawingml/2006/main" noGrp="1"/>
          </p:cNvSpPr>
          <p:nvPr/>
        </p:nvSpPr>
        <p:spPr>
          <a:xfrm xmlns:a="http://schemas.openxmlformats.org/drawingml/2006/main">
            <a:off x="3286125" y="432435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A2336"/>
                </a:solidFill>
                <a:latin typeface="Calibri"/>
                <a:ea typeface="Calibri"/>
                <a:cs typeface="Calibri"/>
              </a:defRPr>
            </a:pPr>
            <a:r>
              <a:rPr sz="1350" b="0">
                <a:solidFill>
                  <a:srgbClr val="0A2336"/>
                </a:solidFill>
                <a:latin typeface="Calibri"/>
                <a:ea typeface="Calibri"/>
                <a:cs typeface="Calibri"/>
              </a:rPr>
              <a:t>nearby locations share structure</a:t>
            </a:r>
          </a:p>
        </p:txBody>
      </p:sp>
      <p:sp>
        <p:nvSpPr>
          <p:cNvPr id="19" name="">
            <a:extLst xmlns:a="http://schemas.openxmlformats.org/drawingml/2006/main">
              <a:ext uri="{FF2B5EF4-FFF2-40B4-BE49-F238E27FC236}">
                <a16:creationId xmlns:a16="http://schemas.microsoft.com/office/drawing/2014/main" id="{2B4F88A4-F37E-4D8C-870C-3042E493518A}"/>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Choose the boundary that makes the evaluation honest—not the one that is easiest to compute.</a:t>
            </a:r>
          </a:p>
        </p:txBody>
      </p:sp>
    </p:spTree>
    <p:extLst>
      <p:ext uri="{BB962C8B-B14F-4D97-AF65-F5344CB8AC3E}">
        <p14:creationId xmlns:p14="http://schemas.microsoft.com/office/powerpoint/2010/main" val="41310498"/>
      </p:ext>
    </p:extLst>
  </p:cSld>
</p:sld>
</file>

<file path=ppt/slides/slide13.xml><?xml version="1.0" encoding="utf-8"?>
<p:sld xmlns:p="http://schemas.openxmlformats.org/presentationml/2006/main">
  <p:cSld>
    <p:bg>
      <p:bgPr>
        <a:solidFill xmlns:a="http://schemas.openxmlformats.org/drawingml/2006/main">
          <a:srgbClr val="03172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080D297-05A0-4C82-9418-2766FE407FE3}"/>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B44F1F5B-E127-4FE0-A62D-31A13BE108A8}"/>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67B7B4"/>
                </a:solidFill>
                <a:latin typeface="Calibri"/>
                <a:ea typeface="Calibri"/>
                <a:cs typeface="Calibri"/>
              </a:defRPr>
            </a:pPr>
            <a:r>
              <a:rPr sz="750" b="1">
                <a:solidFill>
                  <a:srgbClr val="67B7B4"/>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0872A5EF-4FC6-4C5D-88E2-052C01FE692F}"/>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7B7B4"/>
                </a:solidFill>
                <a:latin typeface="Calibri"/>
                <a:ea typeface="Calibri"/>
                <a:cs typeface="Calibri"/>
              </a:defRPr>
            </a:pPr>
            <a:r>
              <a:rPr sz="750" b="1">
                <a:solidFill>
                  <a:srgbClr val="67B7B4"/>
                </a:solidFill>
                <a:latin typeface="Calibri"/>
                <a:ea typeface="Calibri"/>
                <a:cs typeface="Calibri"/>
              </a:rPr>
              <a:t>13</a:t>
            </a:r>
          </a:p>
        </p:txBody>
      </p:sp>
      <p:sp>
        <p:nvSpPr>
          <p:cNvPr id="4" name="">
            <a:extLst xmlns:a="http://schemas.openxmlformats.org/drawingml/2006/main">
              <a:ext uri="{FF2B5EF4-FFF2-40B4-BE49-F238E27FC236}">
                <a16:creationId xmlns:a16="http://schemas.microsoft.com/office/drawing/2014/main" id="{27CA01AD-424F-44B3-A767-CDDF5C037C6E}"/>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2F77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D05C91-21EE-4383-9D9F-9C127B5D8461}"/>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LEAKAGE TAXONOMY</a:t>
            </a:r>
          </a:p>
        </p:txBody>
      </p:sp>
      <p:sp>
        <p:nvSpPr>
          <p:cNvPr id="6" name="">
            <a:extLst xmlns:a="http://schemas.openxmlformats.org/drawingml/2006/main">
              <a:ext uri="{FF2B5EF4-FFF2-40B4-BE49-F238E27FC236}">
                <a16:creationId xmlns:a16="http://schemas.microsoft.com/office/drawing/2014/main" id="{3E10E69D-F813-40E7-8056-0980D3B9D075}"/>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FFFFFF"/>
                </a:solidFill>
                <a:latin typeface="Calibri"/>
                <a:ea typeface="Calibri"/>
                <a:cs typeface="Calibri"/>
              </a:defRPr>
            </a:pPr>
            <a:r>
              <a:rPr sz="2325" b="0">
                <a:solidFill>
                  <a:srgbClr val="FFFFFF"/>
                </a:solidFill>
                <a:latin typeface="Calibri"/>
                <a:ea typeface="Calibri"/>
                <a:cs typeface="Calibri"/>
              </a:rPr>
              <a:t>Leakage makes unavailable information appear predictive</a:t>
            </a:r>
          </a:p>
        </p:txBody>
      </p:sp>
      <p:sp>
        <p:nvSpPr>
          <p:cNvPr id="7" name="">
            <a:extLst xmlns:a="http://schemas.openxmlformats.org/drawingml/2006/main">
              <a:ext uri="{FF2B5EF4-FFF2-40B4-BE49-F238E27FC236}">
                <a16:creationId xmlns:a16="http://schemas.microsoft.com/office/drawing/2014/main" id="{7112F1AD-5F5C-44FA-A996-AEA0E1060680}"/>
              </a:ext>
            </a:extLst>
          </p:cNvPr>
          <p:cNvSpPr>
            <a:spLocks xmlns:a="http://schemas.openxmlformats.org/drawingml/2006/main" noGrp="1"/>
          </p:cNvSpPr>
          <p:nvPr/>
        </p:nvSpPr>
        <p:spPr>
          <a:xfrm xmlns:a="http://schemas.openxmlformats.org/drawingml/2006/main">
            <a:off x="457200" y="1581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DDE8E7"/>
                </a:solidFill>
                <a:latin typeface="Calibri"/>
                <a:ea typeface="Calibri"/>
                <a:cs typeface="Calibri"/>
              </a:defRPr>
            </a:pPr>
            <a:r>
              <a:rPr sz="1200" b="0">
                <a:solidFill>
                  <a:srgbClr val="DDE8E7"/>
                </a:solidFill>
                <a:latin typeface="Calibri"/>
                <a:ea typeface="Calibri"/>
                <a:cs typeface="Calibri"/>
              </a:rPr>
              <a:t>The failure mode changes, but the control question stays constant.</a:t>
            </a:r>
          </a:p>
        </p:txBody>
      </p:sp>
      <p:sp>
        <p:nvSpPr>
          <p:cNvPr id="8" name="">
            <a:extLst xmlns:a="http://schemas.openxmlformats.org/drawingml/2006/main">
              <a:ext uri="{FF2B5EF4-FFF2-40B4-BE49-F238E27FC236}">
                <a16:creationId xmlns:a16="http://schemas.microsoft.com/office/drawing/2014/main" id="{B8F270EA-DD3B-4EDD-AB50-3FF79D9A52B1}"/>
              </a:ext>
            </a:extLst>
          </p:cNvPr>
          <p:cNvSpPr>
            <a:spLocks xmlns:a="http://schemas.openxmlformats.org/drawingml/2006/main" noGrp="1"/>
          </p:cNvSpPr>
          <p:nvPr/>
        </p:nvSpPr>
        <p:spPr>
          <a:xfrm xmlns:a="http://schemas.openxmlformats.org/drawingml/2006/main">
            <a:off x="571500" y="2333625"/>
            <a:ext cx="2571750" cy="2143125"/>
          </a:xfrm>
          <a:prstGeom xmlns:a="http://schemas.openxmlformats.org/drawingml/2006/main" prst="roundRect">
            <a:avLst>
              <a:gd name="adj" fmla="val 3556"/>
            </a:avLst>
          </a:prstGeom>
          <a:solidFill xmlns:a="http://schemas.openxmlformats.org/drawingml/2006/main">
            <a:srgbClr val="12365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70AA831-5D3A-49D4-A430-5B186FB185A0}"/>
              </a:ext>
            </a:extLst>
          </p:cNvPr>
          <p:cNvSpPr>
            <a:spLocks xmlns:a="http://schemas.openxmlformats.org/drawingml/2006/main" noGrp="1"/>
          </p:cNvSpPr>
          <p:nvPr/>
        </p:nvSpPr>
        <p:spPr>
          <a:xfrm xmlns:a="http://schemas.openxmlformats.org/drawingml/2006/main">
            <a:off x="742950" y="248602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TARGET</a:t>
            </a:r>
          </a:p>
        </p:txBody>
      </p:sp>
      <p:sp>
        <p:nvSpPr>
          <p:cNvPr id="10" name="">
            <a:extLst xmlns:a="http://schemas.openxmlformats.org/drawingml/2006/main">
              <a:ext uri="{FF2B5EF4-FFF2-40B4-BE49-F238E27FC236}">
                <a16:creationId xmlns:a16="http://schemas.microsoft.com/office/drawing/2014/main" id="{08AA664B-30BF-4FC9-81A7-CB3E0583C140}"/>
              </a:ext>
            </a:extLst>
          </p:cNvPr>
          <p:cNvSpPr>
            <a:spLocks xmlns:a="http://schemas.openxmlformats.org/drawingml/2006/main" noGrp="1"/>
          </p:cNvSpPr>
          <p:nvPr/>
        </p:nvSpPr>
        <p:spPr>
          <a:xfrm xmlns:a="http://schemas.openxmlformats.org/drawingml/2006/main">
            <a:off x="742950" y="2790825"/>
            <a:ext cx="22288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feature contains the outcome or consequence</a:t>
            </a:r>
          </a:p>
        </p:txBody>
      </p:sp>
      <p:sp>
        <p:nvSpPr>
          <p:cNvPr id="11" name="">
            <a:extLst xmlns:a="http://schemas.openxmlformats.org/drawingml/2006/main">
              <a:ext uri="{FF2B5EF4-FFF2-40B4-BE49-F238E27FC236}">
                <a16:creationId xmlns:a16="http://schemas.microsoft.com/office/drawing/2014/main" id="{72719D9D-B5BE-43CA-817A-CFE035B7E838}"/>
              </a:ext>
            </a:extLst>
          </p:cNvPr>
          <p:cNvSpPr>
            <a:spLocks xmlns:a="http://schemas.openxmlformats.org/drawingml/2006/main" noGrp="1"/>
          </p:cNvSpPr>
          <p:nvPr/>
        </p:nvSpPr>
        <p:spPr>
          <a:xfrm xmlns:a="http://schemas.openxmlformats.org/drawingml/2006/main">
            <a:off x="3429000" y="2333625"/>
            <a:ext cx="2571750" cy="2143125"/>
          </a:xfrm>
          <a:prstGeom xmlns:a="http://schemas.openxmlformats.org/drawingml/2006/main" prst="roundRect">
            <a:avLst>
              <a:gd name="adj" fmla="val 3556"/>
            </a:avLst>
          </a:prstGeom>
          <a:solidFill xmlns:a="http://schemas.openxmlformats.org/drawingml/2006/main">
            <a:srgbClr val="0A233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E26FC09-8185-4577-B61E-61411AF4708D}"/>
              </a:ext>
            </a:extLst>
          </p:cNvPr>
          <p:cNvSpPr>
            <a:spLocks xmlns:a="http://schemas.openxmlformats.org/drawingml/2006/main" noGrp="1"/>
          </p:cNvSpPr>
          <p:nvPr/>
        </p:nvSpPr>
        <p:spPr>
          <a:xfrm xmlns:a="http://schemas.openxmlformats.org/drawingml/2006/main">
            <a:off x="3600450" y="248602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TEMPORAL</a:t>
            </a:r>
          </a:p>
        </p:txBody>
      </p:sp>
      <p:sp>
        <p:nvSpPr>
          <p:cNvPr id="13" name="">
            <a:extLst xmlns:a="http://schemas.openxmlformats.org/drawingml/2006/main">
              <a:ext uri="{FF2B5EF4-FFF2-40B4-BE49-F238E27FC236}">
                <a16:creationId xmlns:a16="http://schemas.microsoft.com/office/drawing/2014/main" id="{31AAC1FF-DAD0-4C48-988D-8C165C42D53A}"/>
              </a:ext>
            </a:extLst>
          </p:cNvPr>
          <p:cNvSpPr>
            <a:spLocks xmlns:a="http://schemas.openxmlformats.org/drawingml/2006/main" noGrp="1"/>
          </p:cNvSpPr>
          <p:nvPr/>
        </p:nvSpPr>
        <p:spPr>
          <a:xfrm xmlns:a="http://schemas.openxmlformats.org/drawingml/2006/main">
            <a:off x="3600450" y="2790825"/>
            <a:ext cx="22288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future information enters a past prediction</a:t>
            </a:r>
          </a:p>
        </p:txBody>
      </p:sp>
      <p:sp>
        <p:nvSpPr>
          <p:cNvPr id="14" name="">
            <a:extLst xmlns:a="http://schemas.openxmlformats.org/drawingml/2006/main">
              <a:ext uri="{FF2B5EF4-FFF2-40B4-BE49-F238E27FC236}">
                <a16:creationId xmlns:a16="http://schemas.microsoft.com/office/drawing/2014/main" id="{553AFF51-7D4C-4726-BBEF-E2ADC9E69FA8}"/>
              </a:ext>
            </a:extLst>
          </p:cNvPr>
          <p:cNvSpPr>
            <a:spLocks xmlns:a="http://schemas.openxmlformats.org/drawingml/2006/main" noGrp="1"/>
          </p:cNvSpPr>
          <p:nvPr/>
        </p:nvSpPr>
        <p:spPr>
          <a:xfrm xmlns:a="http://schemas.openxmlformats.org/drawingml/2006/main">
            <a:off x="6286500" y="2333625"/>
            <a:ext cx="2571750" cy="2143125"/>
          </a:xfrm>
          <a:prstGeom xmlns:a="http://schemas.openxmlformats.org/drawingml/2006/main" prst="roundRect">
            <a:avLst>
              <a:gd name="adj" fmla="val 3556"/>
            </a:avLst>
          </a:prstGeom>
          <a:solidFill xmlns:a="http://schemas.openxmlformats.org/drawingml/2006/main">
            <a:srgbClr val="12365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D2ECF06-B9DF-4D96-8787-9D257C30A9EB}"/>
              </a:ext>
            </a:extLst>
          </p:cNvPr>
          <p:cNvSpPr>
            <a:spLocks xmlns:a="http://schemas.openxmlformats.org/drawingml/2006/main" noGrp="1"/>
          </p:cNvSpPr>
          <p:nvPr/>
        </p:nvSpPr>
        <p:spPr>
          <a:xfrm xmlns:a="http://schemas.openxmlformats.org/drawingml/2006/main">
            <a:off x="6457950" y="248602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GROUP</a:t>
            </a:r>
          </a:p>
        </p:txBody>
      </p:sp>
      <p:sp>
        <p:nvSpPr>
          <p:cNvPr id="16" name="">
            <a:extLst xmlns:a="http://schemas.openxmlformats.org/drawingml/2006/main">
              <a:ext uri="{FF2B5EF4-FFF2-40B4-BE49-F238E27FC236}">
                <a16:creationId xmlns:a16="http://schemas.microsoft.com/office/drawing/2014/main" id="{BAABF4E8-8BE3-4BA6-8726-8F1C8AB3F28A}"/>
              </a:ext>
            </a:extLst>
          </p:cNvPr>
          <p:cNvSpPr>
            <a:spLocks xmlns:a="http://schemas.openxmlformats.org/drawingml/2006/main" noGrp="1"/>
          </p:cNvSpPr>
          <p:nvPr/>
        </p:nvSpPr>
        <p:spPr>
          <a:xfrm xmlns:a="http://schemas.openxmlformats.org/drawingml/2006/main">
            <a:off x="6457950" y="2790825"/>
            <a:ext cx="22288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related cases cross the boundary</a:t>
            </a:r>
          </a:p>
        </p:txBody>
      </p:sp>
      <p:sp>
        <p:nvSpPr>
          <p:cNvPr id="17" name="">
            <a:extLst xmlns:a="http://schemas.openxmlformats.org/drawingml/2006/main">
              <a:ext uri="{FF2B5EF4-FFF2-40B4-BE49-F238E27FC236}">
                <a16:creationId xmlns:a16="http://schemas.microsoft.com/office/drawing/2014/main" id="{6DF4734F-D776-4BD0-A00E-D7BE9FA641E6}"/>
              </a:ext>
            </a:extLst>
          </p:cNvPr>
          <p:cNvSpPr>
            <a:spLocks xmlns:a="http://schemas.openxmlformats.org/drawingml/2006/main" noGrp="1"/>
          </p:cNvSpPr>
          <p:nvPr/>
        </p:nvSpPr>
        <p:spPr>
          <a:xfrm xmlns:a="http://schemas.openxmlformats.org/drawingml/2006/main">
            <a:off x="9144000" y="2333625"/>
            <a:ext cx="2571750" cy="2143125"/>
          </a:xfrm>
          <a:prstGeom xmlns:a="http://schemas.openxmlformats.org/drawingml/2006/main" prst="roundRect">
            <a:avLst>
              <a:gd name="adj" fmla="val 3556"/>
            </a:avLst>
          </a:prstGeom>
          <a:solidFill xmlns:a="http://schemas.openxmlformats.org/drawingml/2006/main">
            <a:srgbClr val="0A233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C092185-9E97-4D9D-9C0E-A750175DC53B}"/>
              </a:ext>
            </a:extLst>
          </p:cNvPr>
          <p:cNvSpPr>
            <a:spLocks xmlns:a="http://schemas.openxmlformats.org/drawingml/2006/main" noGrp="1"/>
          </p:cNvSpPr>
          <p:nvPr/>
        </p:nvSpPr>
        <p:spPr>
          <a:xfrm xmlns:a="http://schemas.openxmlformats.org/drawingml/2006/main">
            <a:off x="9315450" y="248602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PIPELINE</a:t>
            </a:r>
          </a:p>
        </p:txBody>
      </p:sp>
      <p:sp>
        <p:nvSpPr>
          <p:cNvPr id="19" name="">
            <a:extLst xmlns:a="http://schemas.openxmlformats.org/drawingml/2006/main">
              <a:ext uri="{FF2B5EF4-FFF2-40B4-BE49-F238E27FC236}">
                <a16:creationId xmlns:a16="http://schemas.microsoft.com/office/drawing/2014/main" id="{79BC6A9B-D96F-4641-A49F-4D36244C3AA8}"/>
              </a:ext>
            </a:extLst>
          </p:cNvPr>
          <p:cNvSpPr>
            <a:spLocks xmlns:a="http://schemas.openxmlformats.org/drawingml/2006/main" noGrp="1"/>
          </p:cNvSpPr>
          <p:nvPr/>
        </p:nvSpPr>
        <p:spPr>
          <a:xfrm xmlns:a="http://schemas.openxmlformats.org/drawingml/2006/main">
            <a:off x="9315450" y="2790825"/>
            <a:ext cx="22288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preprocessing learns from all partitions</a:t>
            </a:r>
          </a:p>
        </p:txBody>
      </p:sp>
      <p:sp>
        <p:nvSpPr>
          <p:cNvPr id="20" name="">
            <a:extLst xmlns:a="http://schemas.openxmlformats.org/drawingml/2006/main">
              <a:ext uri="{FF2B5EF4-FFF2-40B4-BE49-F238E27FC236}">
                <a16:creationId xmlns:a16="http://schemas.microsoft.com/office/drawing/2014/main" id="{D019AA05-5D5B-4CAF-B12A-DA73B14BACBE}"/>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CA24A"/>
                </a:solidFill>
                <a:latin typeface="Calibri"/>
                <a:ea typeface="Calibri"/>
                <a:cs typeface="Calibri"/>
              </a:defRPr>
            </a:pPr>
            <a:r>
              <a:rPr sz="1050" b="1">
                <a:solidFill>
                  <a:srgbClr val="DCA24A"/>
                </a:solidFill>
                <a:latin typeface="Calibri"/>
                <a:ea typeface="Calibri"/>
                <a:cs typeface="Calibri"/>
              </a:rPr>
              <a:t>Would this exact value and transformation exist at prediction time?</a:t>
            </a:r>
          </a:p>
        </p:txBody>
      </p:sp>
    </p:spTree>
    <p:extLst>
      <p:ext uri="{BB962C8B-B14F-4D97-AF65-F5344CB8AC3E}">
        <p14:creationId xmlns:p14="http://schemas.microsoft.com/office/powerpoint/2010/main" val="1669308802"/>
      </p:ext>
    </p:extLst>
  </p:cSld>
</p:sld>
</file>

<file path=ppt/slides/slide14.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EBF5508-7AA6-463B-8B2C-E72BE92A673B}"/>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8C67402C-6E71-4119-ACB8-21AAC6272F4C}"/>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9DCE8AA1-97C0-4077-9075-F132C12460DE}"/>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14</a:t>
            </a:r>
          </a:p>
        </p:txBody>
      </p:sp>
      <p:sp>
        <p:nvSpPr>
          <p:cNvPr id="4" name="">
            <a:extLst xmlns:a="http://schemas.openxmlformats.org/drawingml/2006/main">
              <a:ext uri="{FF2B5EF4-FFF2-40B4-BE49-F238E27FC236}">
                <a16:creationId xmlns:a16="http://schemas.microsoft.com/office/drawing/2014/main" id="{86404B10-D864-4892-9181-E92526EF116F}"/>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EC08B6-8F74-499C-B816-08D67D942540}"/>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SUPERVISED LEARNING INVARIANTS</a:t>
            </a:r>
          </a:p>
        </p:txBody>
      </p:sp>
      <p:sp>
        <p:nvSpPr>
          <p:cNvPr id="6" name="">
            <a:extLst xmlns:a="http://schemas.openxmlformats.org/drawingml/2006/main">
              <a:ext uri="{FF2B5EF4-FFF2-40B4-BE49-F238E27FC236}">
                <a16:creationId xmlns:a16="http://schemas.microsoft.com/office/drawing/2014/main" id="{B62F1700-257A-41B7-922F-015F37BE916C}"/>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A valid learning system preserves six conditions</a:t>
            </a:r>
          </a:p>
        </p:txBody>
      </p:sp>
      <p:sp>
        <p:nvSpPr>
          <p:cNvPr id="7" name="">
            <a:extLst xmlns:a="http://schemas.openxmlformats.org/drawingml/2006/main">
              <a:ext uri="{FF2B5EF4-FFF2-40B4-BE49-F238E27FC236}">
                <a16:creationId xmlns:a16="http://schemas.microsoft.com/office/drawing/2014/main" id="{6B48C38C-D504-4399-A84B-AA766219222E}"/>
              </a:ext>
            </a:extLst>
          </p:cNvPr>
          <p:cNvSpPr>
            <a:spLocks xmlns:a="http://schemas.openxmlformats.org/drawingml/2006/main" noGrp="1"/>
          </p:cNvSpPr>
          <p:nvPr/>
        </p:nvSpPr>
        <p:spPr>
          <a:xfrm xmlns:a="http://schemas.openxmlformats.org/drawingml/2006/main">
            <a:off x="762000" y="2190750"/>
            <a:ext cx="3333750" cy="1095375"/>
          </a:xfrm>
          <a:prstGeom xmlns:a="http://schemas.openxmlformats.org/drawingml/2006/main" prst="roundRect">
            <a:avLst>
              <a:gd name="adj" fmla="val 6957"/>
            </a:avLst>
          </a:prstGeom>
          <a:solidFill xmlns:a="http://schemas.openxmlformats.org/drawingml/2006/main">
            <a:srgbClr val="0A23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6B5021-750E-4C20-A43D-A08560EB7E23}"/>
              </a:ext>
            </a:extLst>
          </p:cNvPr>
          <p:cNvSpPr>
            <a:spLocks xmlns:a="http://schemas.openxmlformats.org/drawingml/2006/main" noGrp="1"/>
          </p:cNvSpPr>
          <p:nvPr/>
        </p:nvSpPr>
        <p:spPr>
          <a:xfrm xmlns:a="http://schemas.openxmlformats.org/drawingml/2006/main">
            <a:off x="933450" y="234315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73C2B7CB-6313-46A5-8F13-D76E10D7223A}"/>
              </a:ext>
            </a:extLst>
          </p:cNvPr>
          <p:cNvSpPr>
            <a:spLocks xmlns:a="http://schemas.openxmlformats.org/drawingml/2006/main" noGrp="1"/>
          </p:cNvSpPr>
          <p:nvPr/>
        </p:nvSpPr>
        <p:spPr>
          <a:xfrm xmlns:a="http://schemas.openxmlformats.org/drawingml/2006/main">
            <a:off x="933450" y="2647950"/>
            <a:ext cx="2990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Unit stable</a:t>
            </a:r>
          </a:p>
        </p:txBody>
      </p:sp>
      <p:sp>
        <p:nvSpPr>
          <p:cNvPr id="10" name="">
            <a:extLst xmlns:a="http://schemas.openxmlformats.org/drawingml/2006/main">
              <a:ext uri="{FF2B5EF4-FFF2-40B4-BE49-F238E27FC236}">
                <a16:creationId xmlns:a16="http://schemas.microsoft.com/office/drawing/2014/main" id="{87CDD832-F00E-45E4-98F1-B2E84972A398}"/>
              </a:ext>
            </a:extLst>
          </p:cNvPr>
          <p:cNvSpPr>
            <a:spLocks xmlns:a="http://schemas.openxmlformats.org/drawingml/2006/main" noGrp="1"/>
          </p:cNvSpPr>
          <p:nvPr/>
        </p:nvSpPr>
        <p:spPr>
          <a:xfrm xmlns:a="http://schemas.openxmlformats.org/drawingml/2006/main">
            <a:off x="4572000" y="2190750"/>
            <a:ext cx="3333750" cy="1095375"/>
          </a:xfrm>
          <a:prstGeom xmlns:a="http://schemas.openxmlformats.org/drawingml/2006/main" prst="roundRect">
            <a:avLst>
              <a:gd name="adj" fmla="val 6957"/>
            </a:avLst>
          </a:prstGeom>
          <a:solidFill xmlns:a="http://schemas.openxmlformats.org/drawingml/2006/main">
            <a:srgbClr val="0A233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4F2D0D-CFBE-4041-8461-31A5281A272C}"/>
              </a:ext>
            </a:extLst>
          </p:cNvPr>
          <p:cNvSpPr>
            <a:spLocks xmlns:a="http://schemas.openxmlformats.org/drawingml/2006/main" noGrp="1"/>
          </p:cNvSpPr>
          <p:nvPr/>
        </p:nvSpPr>
        <p:spPr>
          <a:xfrm xmlns:a="http://schemas.openxmlformats.org/drawingml/2006/main">
            <a:off x="4743450" y="234315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DF0E866D-DA47-4377-8894-46ED7E5DFF6F}"/>
              </a:ext>
            </a:extLst>
          </p:cNvPr>
          <p:cNvSpPr>
            <a:spLocks xmlns:a="http://schemas.openxmlformats.org/drawingml/2006/main" noGrp="1"/>
          </p:cNvSpPr>
          <p:nvPr/>
        </p:nvSpPr>
        <p:spPr>
          <a:xfrm xmlns:a="http://schemas.openxmlformats.org/drawingml/2006/main">
            <a:off x="4743450" y="2647950"/>
            <a:ext cx="2990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Target explicit</a:t>
            </a:r>
          </a:p>
        </p:txBody>
      </p:sp>
      <p:sp>
        <p:nvSpPr>
          <p:cNvPr id="13" name="">
            <a:extLst xmlns:a="http://schemas.openxmlformats.org/drawingml/2006/main">
              <a:ext uri="{FF2B5EF4-FFF2-40B4-BE49-F238E27FC236}">
                <a16:creationId xmlns:a16="http://schemas.microsoft.com/office/drawing/2014/main" id="{3B8E5674-6CEE-4CFE-9006-5692A99545F1}"/>
              </a:ext>
            </a:extLst>
          </p:cNvPr>
          <p:cNvSpPr>
            <a:spLocks xmlns:a="http://schemas.openxmlformats.org/drawingml/2006/main" noGrp="1"/>
          </p:cNvSpPr>
          <p:nvPr/>
        </p:nvSpPr>
        <p:spPr>
          <a:xfrm xmlns:a="http://schemas.openxmlformats.org/drawingml/2006/main">
            <a:off x="8382000" y="2190750"/>
            <a:ext cx="3333750" cy="1095375"/>
          </a:xfrm>
          <a:prstGeom xmlns:a="http://schemas.openxmlformats.org/drawingml/2006/main" prst="roundRect">
            <a:avLst>
              <a:gd name="adj" fmla="val 6957"/>
            </a:avLst>
          </a:prstGeom>
          <a:solidFill xmlns:a="http://schemas.openxmlformats.org/drawingml/2006/main">
            <a:srgbClr val="0A233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F881AED-5BF5-487E-ADF4-242091555722}"/>
              </a:ext>
            </a:extLst>
          </p:cNvPr>
          <p:cNvSpPr>
            <a:spLocks xmlns:a="http://schemas.openxmlformats.org/drawingml/2006/main" noGrp="1"/>
          </p:cNvSpPr>
          <p:nvPr/>
        </p:nvSpPr>
        <p:spPr>
          <a:xfrm xmlns:a="http://schemas.openxmlformats.org/drawingml/2006/main">
            <a:off x="8553450" y="234315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0F88E3DA-487B-44D0-B628-8DAFCB20AB41}"/>
              </a:ext>
            </a:extLst>
          </p:cNvPr>
          <p:cNvSpPr>
            <a:spLocks xmlns:a="http://schemas.openxmlformats.org/drawingml/2006/main" noGrp="1"/>
          </p:cNvSpPr>
          <p:nvPr/>
        </p:nvSpPr>
        <p:spPr>
          <a:xfrm xmlns:a="http://schemas.openxmlformats.org/drawingml/2006/main">
            <a:off x="8553450" y="2647950"/>
            <a:ext cx="2990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Boundary respected</a:t>
            </a:r>
          </a:p>
        </p:txBody>
      </p:sp>
      <p:sp>
        <p:nvSpPr>
          <p:cNvPr id="16" name="">
            <a:extLst xmlns:a="http://schemas.openxmlformats.org/drawingml/2006/main">
              <a:ext uri="{FF2B5EF4-FFF2-40B4-BE49-F238E27FC236}">
                <a16:creationId xmlns:a16="http://schemas.microsoft.com/office/drawing/2014/main" id="{62A08411-AFC1-46AB-91A6-6794587F758E}"/>
              </a:ext>
            </a:extLst>
          </p:cNvPr>
          <p:cNvSpPr>
            <a:spLocks xmlns:a="http://schemas.openxmlformats.org/drawingml/2006/main" noGrp="1"/>
          </p:cNvSpPr>
          <p:nvPr/>
        </p:nvSpPr>
        <p:spPr>
          <a:xfrm xmlns:a="http://schemas.openxmlformats.org/drawingml/2006/main">
            <a:off x="762000" y="3619500"/>
            <a:ext cx="3333750" cy="1095375"/>
          </a:xfrm>
          <a:prstGeom xmlns:a="http://schemas.openxmlformats.org/drawingml/2006/main" prst="roundRect">
            <a:avLst>
              <a:gd name="adj" fmla="val 6957"/>
            </a:avLst>
          </a:prstGeom>
          <a:solidFill xmlns:a="http://schemas.openxmlformats.org/drawingml/2006/main">
            <a:srgbClr val="0A233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E41F5C7-0B7F-4DE2-A6FF-0C2C2C57C2A4}"/>
              </a:ext>
            </a:extLst>
          </p:cNvPr>
          <p:cNvSpPr>
            <a:spLocks xmlns:a="http://schemas.openxmlformats.org/drawingml/2006/main" noGrp="1"/>
          </p:cNvSpPr>
          <p:nvPr/>
        </p:nvSpPr>
        <p:spPr>
          <a:xfrm xmlns:a="http://schemas.openxmlformats.org/drawingml/2006/main">
            <a:off x="933450" y="37719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04</a:t>
            </a:r>
          </a:p>
        </p:txBody>
      </p:sp>
      <p:sp>
        <p:nvSpPr>
          <p:cNvPr id="18" name="">
            <a:extLst xmlns:a="http://schemas.openxmlformats.org/drawingml/2006/main">
              <a:ext uri="{FF2B5EF4-FFF2-40B4-BE49-F238E27FC236}">
                <a16:creationId xmlns:a16="http://schemas.microsoft.com/office/drawing/2014/main" id="{B0F42C20-CA1B-420F-A3C3-9776E8153A6A}"/>
              </a:ext>
            </a:extLst>
          </p:cNvPr>
          <p:cNvSpPr>
            <a:spLocks xmlns:a="http://schemas.openxmlformats.org/drawingml/2006/main" noGrp="1"/>
          </p:cNvSpPr>
          <p:nvPr/>
        </p:nvSpPr>
        <p:spPr>
          <a:xfrm xmlns:a="http://schemas.openxmlformats.org/drawingml/2006/main">
            <a:off x="933450" y="4076700"/>
            <a:ext cx="2990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Split independent</a:t>
            </a:r>
          </a:p>
        </p:txBody>
      </p:sp>
      <p:sp>
        <p:nvSpPr>
          <p:cNvPr id="19" name="">
            <a:extLst xmlns:a="http://schemas.openxmlformats.org/drawingml/2006/main">
              <a:ext uri="{FF2B5EF4-FFF2-40B4-BE49-F238E27FC236}">
                <a16:creationId xmlns:a16="http://schemas.microsoft.com/office/drawing/2014/main" id="{87C2CB68-A8B7-439C-AF4B-4FCE40810A09}"/>
              </a:ext>
            </a:extLst>
          </p:cNvPr>
          <p:cNvSpPr>
            <a:spLocks xmlns:a="http://schemas.openxmlformats.org/drawingml/2006/main" noGrp="1"/>
          </p:cNvSpPr>
          <p:nvPr/>
        </p:nvSpPr>
        <p:spPr>
          <a:xfrm xmlns:a="http://schemas.openxmlformats.org/drawingml/2006/main">
            <a:off x="4572000" y="3619500"/>
            <a:ext cx="3333750" cy="1095375"/>
          </a:xfrm>
          <a:prstGeom xmlns:a="http://schemas.openxmlformats.org/drawingml/2006/main" prst="roundRect">
            <a:avLst>
              <a:gd name="adj" fmla="val 6957"/>
            </a:avLst>
          </a:prstGeom>
          <a:solidFill xmlns:a="http://schemas.openxmlformats.org/drawingml/2006/main">
            <a:srgbClr val="0A233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FEDC4B2-CB67-4B07-91EE-B99E5249CFBB}"/>
              </a:ext>
            </a:extLst>
          </p:cNvPr>
          <p:cNvSpPr>
            <a:spLocks xmlns:a="http://schemas.openxmlformats.org/drawingml/2006/main" noGrp="1"/>
          </p:cNvSpPr>
          <p:nvPr/>
        </p:nvSpPr>
        <p:spPr>
          <a:xfrm xmlns:a="http://schemas.openxmlformats.org/drawingml/2006/main">
            <a:off x="4743450" y="37719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05</a:t>
            </a:r>
          </a:p>
        </p:txBody>
      </p:sp>
      <p:sp>
        <p:nvSpPr>
          <p:cNvPr id="21" name="">
            <a:extLst xmlns:a="http://schemas.openxmlformats.org/drawingml/2006/main">
              <a:ext uri="{FF2B5EF4-FFF2-40B4-BE49-F238E27FC236}">
                <a16:creationId xmlns:a16="http://schemas.microsoft.com/office/drawing/2014/main" id="{A3EEAFB7-EEEA-429A-A62A-B954D967A92C}"/>
              </a:ext>
            </a:extLst>
          </p:cNvPr>
          <p:cNvSpPr>
            <a:spLocks xmlns:a="http://schemas.openxmlformats.org/drawingml/2006/main" noGrp="1"/>
          </p:cNvSpPr>
          <p:nvPr/>
        </p:nvSpPr>
        <p:spPr>
          <a:xfrm xmlns:a="http://schemas.openxmlformats.org/drawingml/2006/main">
            <a:off x="4743450" y="4076700"/>
            <a:ext cx="2990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Metric aligned</a:t>
            </a:r>
          </a:p>
        </p:txBody>
      </p:sp>
      <p:sp>
        <p:nvSpPr>
          <p:cNvPr id="22" name="">
            <a:extLst xmlns:a="http://schemas.openxmlformats.org/drawingml/2006/main">
              <a:ext uri="{FF2B5EF4-FFF2-40B4-BE49-F238E27FC236}">
                <a16:creationId xmlns:a16="http://schemas.microsoft.com/office/drawing/2014/main" id="{79151BA7-5B01-4D87-8801-C1C8FA5F2E05}"/>
              </a:ext>
            </a:extLst>
          </p:cNvPr>
          <p:cNvSpPr>
            <a:spLocks xmlns:a="http://schemas.openxmlformats.org/drawingml/2006/main" noGrp="1"/>
          </p:cNvSpPr>
          <p:nvPr/>
        </p:nvSpPr>
        <p:spPr>
          <a:xfrm xmlns:a="http://schemas.openxmlformats.org/drawingml/2006/main">
            <a:off x="8382000" y="3619500"/>
            <a:ext cx="3333750" cy="1095375"/>
          </a:xfrm>
          <a:prstGeom xmlns:a="http://schemas.openxmlformats.org/drawingml/2006/main" prst="roundRect">
            <a:avLst>
              <a:gd name="adj" fmla="val 6957"/>
            </a:avLst>
          </a:prstGeom>
          <a:solidFill xmlns:a="http://schemas.openxmlformats.org/drawingml/2006/main">
            <a:srgbClr val="2F776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CAC7F23-441E-4D33-8105-56C965C190B6}"/>
              </a:ext>
            </a:extLst>
          </p:cNvPr>
          <p:cNvSpPr>
            <a:spLocks xmlns:a="http://schemas.openxmlformats.org/drawingml/2006/main" noGrp="1"/>
          </p:cNvSpPr>
          <p:nvPr/>
        </p:nvSpPr>
        <p:spPr>
          <a:xfrm xmlns:a="http://schemas.openxmlformats.org/drawingml/2006/main">
            <a:off x="8553450" y="37719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06</a:t>
            </a:r>
          </a:p>
        </p:txBody>
      </p:sp>
      <p:sp>
        <p:nvSpPr>
          <p:cNvPr id="24" name="">
            <a:extLst xmlns:a="http://schemas.openxmlformats.org/drawingml/2006/main">
              <a:ext uri="{FF2B5EF4-FFF2-40B4-BE49-F238E27FC236}">
                <a16:creationId xmlns:a16="http://schemas.microsoft.com/office/drawing/2014/main" id="{83AD0369-B3F4-472F-BB98-903CEE1959FE}"/>
              </a:ext>
            </a:extLst>
          </p:cNvPr>
          <p:cNvSpPr>
            <a:spLocks xmlns:a="http://schemas.openxmlformats.org/drawingml/2006/main" noGrp="1"/>
          </p:cNvSpPr>
          <p:nvPr/>
        </p:nvSpPr>
        <p:spPr>
          <a:xfrm xmlns:a="http://schemas.openxmlformats.org/drawingml/2006/main">
            <a:off x="8553450" y="4076700"/>
            <a:ext cx="2990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Evidence reproducible</a:t>
            </a:r>
          </a:p>
        </p:txBody>
      </p:sp>
      <p:sp>
        <p:nvSpPr>
          <p:cNvPr id="25" name="">
            <a:extLst xmlns:a="http://schemas.openxmlformats.org/drawingml/2006/main">
              <a:ext uri="{FF2B5EF4-FFF2-40B4-BE49-F238E27FC236}">
                <a16:creationId xmlns:a16="http://schemas.microsoft.com/office/drawing/2014/main" id="{3082143D-8232-40FB-890E-933648DC7BAC}"/>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Break an invariant and the meaning of the score changes.</a:t>
            </a:r>
          </a:p>
        </p:txBody>
      </p:sp>
    </p:spTree>
    <p:extLst>
      <p:ext uri="{BB962C8B-B14F-4D97-AF65-F5344CB8AC3E}">
        <p14:creationId xmlns:p14="http://schemas.microsoft.com/office/powerpoint/2010/main" val="956577711"/>
      </p:ext>
    </p:extLst>
  </p:cSld>
</p:sld>
</file>

<file path=ppt/slides/slide15.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65CC96E-179C-4AE2-918B-741E497EAFAB}"/>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9313C170-86FD-4E8D-B5C5-F485431105AA}"/>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CF0B18E3-901F-46EF-B31B-2160D693224A}"/>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15</a:t>
            </a:r>
          </a:p>
        </p:txBody>
      </p:sp>
      <p:sp>
        <p:nvSpPr>
          <p:cNvPr id="4" name="">
            <a:extLst xmlns:a="http://schemas.openxmlformats.org/drawingml/2006/main">
              <a:ext uri="{FF2B5EF4-FFF2-40B4-BE49-F238E27FC236}">
                <a16:creationId xmlns:a16="http://schemas.microsoft.com/office/drawing/2014/main" id="{C4FB8D9B-D8C8-46AB-B6F1-F2873D1F6025}"/>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134D85-3622-4537-8E40-BBB16894C1B9}"/>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BASELINES</a:t>
            </a:r>
          </a:p>
        </p:txBody>
      </p:sp>
      <p:sp>
        <p:nvSpPr>
          <p:cNvPr id="6" name="">
            <a:extLst xmlns:a="http://schemas.openxmlformats.org/drawingml/2006/main">
              <a:ext uri="{FF2B5EF4-FFF2-40B4-BE49-F238E27FC236}">
                <a16:creationId xmlns:a16="http://schemas.microsoft.com/office/drawing/2014/main" id="{1BABB149-561A-432E-A2F8-11E238D82FA2}"/>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A learned model earns value only against a credible alternative</a:t>
            </a:r>
          </a:p>
        </p:txBody>
      </p:sp>
      <p:sp>
        <p:nvSpPr>
          <p:cNvPr id="7" name="">
            <a:extLst xmlns:a="http://schemas.openxmlformats.org/drawingml/2006/main">
              <a:ext uri="{FF2B5EF4-FFF2-40B4-BE49-F238E27FC236}">
                <a16:creationId xmlns:a16="http://schemas.microsoft.com/office/drawing/2014/main" id="{69755952-D105-4EC8-B629-F0708B3FFDEA}"/>
              </a:ext>
            </a:extLst>
          </p:cNvPr>
          <p:cNvSpPr>
            <a:spLocks xmlns:a="http://schemas.openxmlformats.org/drawingml/2006/main" noGrp="1"/>
          </p:cNvSpPr>
          <p:nvPr/>
        </p:nvSpPr>
        <p:spPr>
          <a:xfrm xmlns:a="http://schemas.openxmlformats.org/drawingml/2006/main">
            <a:off x="1047750" y="2238375"/>
            <a:ext cx="3048000" cy="2000250"/>
          </a:xfrm>
          <a:prstGeom xmlns:a="http://schemas.openxmlformats.org/drawingml/2006/main" prst="roundRect">
            <a:avLst>
              <a:gd name="adj" fmla="val 3810"/>
            </a:avLst>
          </a:prstGeom>
          <a:solidFill xmlns:a="http://schemas.openxmlformats.org/drawingml/2006/main">
            <a:srgbClr val="0A23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07C29A7-5BC5-4902-95C1-4CEC41281C55}"/>
              </a:ext>
            </a:extLst>
          </p:cNvPr>
          <p:cNvSpPr>
            <a:spLocks xmlns:a="http://schemas.openxmlformats.org/drawingml/2006/main" noGrp="1"/>
          </p:cNvSpPr>
          <p:nvPr/>
        </p:nvSpPr>
        <p:spPr>
          <a:xfrm xmlns:a="http://schemas.openxmlformats.org/drawingml/2006/main">
            <a:off x="12192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TRAINING MEAN</a:t>
            </a:r>
          </a:p>
        </p:txBody>
      </p:sp>
      <p:sp>
        <p:nvSpPr>
          <p:cNvPr id="9" name="">
            <a:extLst xmlns:a="http://schemas.openxmlformats.org/drawingml/2006/main">
              <a:ext uri="{FF2B5EF4-FFF2-40B4-BE49-F238E27FC236}">
                <a16:creationId xmlns:a16="http://schemas.microsoft.com/office/drawing/2014/main" id="{724E1FC9-96E7-42C8-A2A1-2FBF6AD86079}"/>
              </a:ext>
            </a:extLst>
          </p:cNvPr>
          <p:cNvSpPr>
            <a:spLocks xmlns:a="http://schemas.openxmlformats.org/drawingml/2006/main" noGrp="1"/>
          </p:cNvSpPr>
          <p:nvPr/>
        </p:nvSpPr>
        <p:spPr>
          <a:xfrm xmlns:a="http://schemas.openxmlformats.org/drawingml/2006/main">
            <a:off x="1219200" y="2695575"/>
            <a:ext cx="27051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constant forecast from training data</a:t>
            </a:r>
          </a:p>
        </p:txBody>
      </p:sp>
      <p:sp>
        <p:nvSpPr>
          <p:cNvPr id="10" name="">
            <a:extLst xmlns:a="http://schemas.openxmlformats.org/drawingml/2006/main">
              <a:ext uri="{FF2B5EF4-FFF2-40B4-BE49-F238E27FC236}">
                <a16:creationId xmlns:a16="http://schemas.microsoft.com/office/drawing/2014/main" id="{ECBF1F06-49E1-4D0D-ACBC-BE5DFA0DAA4E}"/>
              </a:ext>
            </a:extLst>
          </p:cNvPr>
          <p:cNvSpPr>
            <a:spLocks xmlns:a="http://schemas.openxmlformats.org/drawingml/2006/main" noGrp="1"/>
          </p:cNvSpPr>
          <p:nvPr/>
        </p:nvSpPr>
        <p:spPr>
          <a:xfrm xmlns:a="http://schemas.openxmlformats.org/drawingml/2006/main">
            <a:off x="4476750" y="2238375"/>
            <a:ext cx="3048000" cy="2000250"/>
          </a:xfrm>
          <a:prstGeom xmlns:a="http://schemas.openxmlformats.org/drawingml/2006/main" prst="roundRect">
            <a:avLst>
              <a:gd name="adj" fmla="val 3810"/>
            </a:avLst>
          </a:prstGeom>
          <a:solidFill xmlns:a="http://schemas.openxmlformats.org/drawingml/2006/main">
            <a:srgbClr val="2F776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1DCAF00-E1C3-412C-81B8-40521E54253A}"/>
              </a:ext>
            </a:extLst>
          </p:cNvPr>
          <p:cNvSpPr>
            <a:spLocks xmlns:a="http://schemas.openxmlformats.org/drawingml/2006/main" noGrp="1"/>
          </p:cNvSpPr>
          <p:nvPr/>
        </p:nvSpPr>
        <p:spPr>
          <a:xfrm xmlns:a="http://schemas.openxmlformats.org/drawingml/2006/main">
            <a:off x="46482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SEASONAL NAIVE</a:t>
            </a:r>
          </a:p>
        </p:txBody>
      </p:sp>
      <p:sp>
        <p:nvSpPr>
          <p:cNvPr id="12" name="">
            <a:extLst xmlns:a="http://schemas.openxmlformats.org/drawingml/2006/main">
              <a:ext uri="{FF2B5EF4-FFF2-40B4-BE49-F238E27FC236}">
                <a16:creationId xmlns:a16="http://schemas.microsoft.com/office/drawing/2014/main" id="{C7B95FFA-9F35-4EA7-BE28-A450B66CEECF}"/>
              </a:ext>
            </a:extLst>
          </p:cNvPr>
          <p:cNvSpPr>
            <a:spLocks xmlns:a="http://schemas.openxmlformats.org/drawingml/2006/main" noGrp="1"/>
          </p:cNvSpPr>
          <p:nvPr/>
        </p:nvSpPr>
        <p:spPr>
          <a:xfrm xmlns:a="http://schemas.openxmlformats.org/drawingml/2006/main">
            <a:off x="4648200" y="2695575"/>
            <a:ext cx="27051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repeat the relevant prior seasonal value</a:t>
            </a:r>
          </a:p>
        </p:txBody>
      </p:sp>
      <p:sp>
        <p:nvSpPr>
          <p:cNvPr id="13" name="">
            <a:extLst xmlns:a="http://schemas.openxmlformats.org/drawingml/2006/main">
              <a:ext uri="{FF2B5EF4-FFF2-40B4-BE49-F238E27FC236}">
                <a16:creationId xmlns:a16="http://schemas.microsoft.com/office/drawing/2014/main" id="{7005AD75-5A79-44B4-8014-331EE99D9A01}"/>
              </a:ext>
            </a:extLst>
          </p:cNvPr>
          <p:cNvSpPr>
            <a:spLocks xmlns:a="http://schemas.openxmlformats.org/drawingml/2006/main" noGrp="1"/>
          </p:cNvSpPr>
          <p:nvPr/>
        </p:nvSpPr>
        <p:spPr>
          <a:xfrm xmlns:a="http://schemas.openxmlformats.org/drawingml/2006/main">
            <a:off x="7905750" y="2238375"/>
            <a:ext cx="3048000" cy="2000250"/>
          </a:xfrm>
          <a:prstGeom xmlns:a="http://schemas.openxmlformats.org/drawingml/2006/main" prst="roundRect">
            <a:avLst>
              <a:gd name="adj" fmla="val 3810"/>
            </a:avLst>
          </a:prstGeom>
          <a:solidFill xmlns:a="http://schemas.openxmlformats.org/drawingml/2006/main">
            <a:srgbClr val="0A233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F3E4DD3-B799-4F31-886F-216E0196413F}"/>
              </a:ext>
            </a:extLst>
          </p:cNvPr>
          <p:cNvSpPr>
            <a:spLocks xmlns:a="http://schemas.openxmlformats.org/drawingml/2006/main" noGrp="1"/>
          </p:cNvSpPr>
          <p:nvPr/>
        </p:nvSpPr>
        <p:spPr>
          <a:xfrm xmlns:a="http://schemas.openxmlformats.org/drawingml/2006/main">
            <a:off x="80772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EXISTING RULE</a:t>
            </a:r>
          </a:p>
        </p:txBody>
      </p:sp>
      <p:sp>
        <p:nvSpPr>
          <p:cNvPr id="15" name="">
            <a:extLst xmlns:a="http://schemas.openxmlformats.org/drawingml/2006/main">
              <a:ext uri="{FF2B5EF4-FFF2-40B4-BE49-F238E27FC236}">
                <a16:creationId xmlns:a16="http://schemas.microsoft.com/office/drawing/2014/main" id="{DBD087BB-47FC-4729-8F20-374F88D8B040}"/>
              </a:ext>
            </a:extLst>
          </p:cNvPr>
          <p:cNvSpPr>
            <a:spLocks xmlns:a="http://schemas.openxmlformats.org/drawingml/2006/main" noGrp="1"/>
          </p:cNvSpPr>
          <p:nvPr/>
        </p:nvSpPr>
        <p:spPr>
          <a:xfrm xmlns:a="http://schemas.openxmlformats.org/drawingml/2006/main">
            <a:off x="8077200" y="2695575"/>
            <a:ext cx="27051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current operational decision rule</a:t>
            </a:r>
          </a:p>
        </p:txBody>
      </p:sp>
      <p:sp>
        <p:nvSpPr>
          <p:cNvPr id="16" name="">
            <a:extLst xmlns:a="http://schemas.openxmlformats.org/drawingml/2006/main">
              <a:ext uri="{FF2B5EF4-FFF2-40B4-BE49-F238E27FC236}">
                <a16:creationId xmlns:a16="http://schemas.microsoft.com/office/drawing/2014/main" id="{9B356DAE-0498-4C33-B113-C9F97523D3A8}"/>
              </a:ext>
            </a:extLst>
          </p:cNvPr>
          <p:cNvSpPr>
            <a:spLocks xmlns:a="http://schemas.openxmlformats.org/drawingml/2006/main" noGrp="1"/>
          </p:cNvSpPr>
          <p:nvPr/>
        </p:nvSpPr>
        <p:spPr>
          <a:xfrm xmlns:a="http://schemas.openxmlformats.org/drawingml/2006/main">
            <a:off x="1143000" y="4810125"/>
            <a:ext cx="9906000" cy="857250"/>
          </a:xfrm>
          <a:prstGeom xmlns:a="http://schemas.openxmlformats.org/drawingml/2006/main" prst="roundRect">
            <a:avLst>
              <a:gd name="adj" fmla="val 8889"/>
            </a:avLst>
          </a:prstGeom>
          <a:solidFill xmlns:a="http://schemas.openxmlformats.org/drawingml/2006/main">
            <a:srgbClr val="DCA24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D2A393F-8FB5-43D1-893F-7A7E8E70A629}"/>
              </a:ext>
            </a:extLst>
          </p:cNvPr>
          <p:cNvSpPr>
            <a:spLocks xmlns:a="http://schemas.openxmlformats.org/drawingml/2006/main" noGrp="1"/>
          </p:cNvSpPr>
          <p:nvPr/>
        </p:nvSpPr>
        <p:spPr>
          <a:xfrm xmlns:a="http://schemas.openxmlformats.org/drawingml/2006/main">
            <a:off x="1476375" y="4943475"/>
            <a:ext cx="923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Calibri"/>
                <a:ea typeface="Calibri"/>
                <a:cs typeface="Calibri"/>
              </a:defRPr>
            </a:pPr>
            <a:r>
              <a:rPr sz="1875" b="1">
                <a:solidFill>
                  <a:srgbClr val="FFFFFF"/>
                </a:solidFill>
                <a:latin typeface="Calibri"/>
                <a:ea typeface="Calibri"/>
                <a:cs typeface="Calibri"/>
              </a:rPr>
              <a:t>Incremental value = baseline loss − model loss</a:t>
            </a:r>
          </a:p>
        </p:txBody>
      </p:sp>
    </p:spTree>
    <p:extLst>
      <p:ext uri="{BB962C8B-B14F-4D97-AF65-F5344CB8AC3E}">
        <p14:creationId xmlns:p14="http://schemas.microsoft.com/office/powerpoint/2010/main" val="839158992"/>
      </p:ext>
    </p:extLst>
  </p:cSld>
</p:sld>
</file>

<file path=ppt/slides/slide16.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0CAF03E-0F72-439A-86F7-501856F86E0A}"/>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94D5F5BB-2D1D-4DCE-87D9-3E42E420FCD0}"/>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F027A58D-1E77-4569-965A-CE4C879474C0}"/>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16</a:t>
            </a:r>
          </a:p>
        </p:txBody>
      </p:sp>
      <p:sp>
        <p:nvSpPr>
          <p:cNvPr id="4" name="">
            <a:extLst xmlns:a="http://schemas.openxmlformats.org/drawingml/2006/main">
              <a:ext uri="{FF2B5EF4-FFF2-40B4-BE49-F238E27FC236}">
                <a16:creationId xmlns:a16="http://schemas.microsoft.com/office/drawing/2014/main" id="{A43A2FBF-5112-43E9-A204-579072C6AE1D}"/>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491B49-A7E4-4A69-9169-DE76ABF9EB77}"/>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LEARNING CURVES</a:t>
            </a:r>
          </a:p>
        </p:txBody>
      </p:sp>
      <p:sp>
        <p:nvSpPr>
          <p:cNvPr id="6" name="">
            <a:extLst xmlns:a="http://schemas.openxmlformats.org/drawingml/2006/main">
              <a:ext uri="{FF2B5EF4-FFF2-40B4-BE49-F238E27FC236}">
                <a16:creationId xmlns:a16="http://schemas.microsoft.com/office/drawing/2014/main" id="{CD15E577-C31E-4BE4-A582-06B9E808DB67}"/>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Diagnostic curves suggest the next experiment—not a verdict</a:t>
            </a:r>
          </a:p>
        </p:txBody>
      </p:sp>
      <p:sp>
        <p:nvSpPr>
          <p:cNvPr id="7" name="">
            <a:extLst xmlns:a="http://schemas.openxmlformats.org/drawingml/2006/main">
              <a:ext uri="{FF2B5EF4-FFF2-40B4-BE49-F238E27FC236}">
                <a16:creationId xmlns:a16="http://schemas.microsoft.com/office/drawing/2014/main" id="{1FD91E34-0F37-454E-8D90-3E9ED8DEF7CB}"/>
              </a:ext>
            </a:extLst>
          </p:cNvPr>
          <p:cNvSpPr>
            <a:spLocks xmlns:a="http://schemas.openxmlformats.org/drawingml/2006/main" noGrp="1"/>
          </p:cNvSpPr>
          <p:nvPr/>
        </p:nvSpPr>
        <p:spPr>
          <a:xfrm xmlns:a="http://schemas.openxmlformats.org/drawingml/2006/main">
            <a:off x="1238250" y="2238375"/>
            <a:ext cx="4333875" cy="2238375"/>
          </a:xfrm>
          <a:prstGeom xmlns:a="http://schemas.openxmlformats.org/drawingml/2006/main" prst="roundRect">
            <a:avLst>
              <a:gd name="adj" fmla="val 3404"/>
            </a:avLst>
          </a:prstGeom>
          <a:solidFill xmlns:a="http://schemas.openxmlformats.org/drawingml/2006/main">
            <a:srgbClr val="DDE8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BF4C64C-187C-4028-92DF-B149E1CBC17B}"/>
              </a:ext>
            </a:extLst>
          </p:cNvPr>
          <p:cNvSpPr>
            <a:spLocks xmlns:a="http://schemas.openxmlformats.org/drawingml/2006/main" noGrp="1"/>
          </p:cNvSpPr>
          <p:nvPr/>
        </p:nvSpPr>
        <p:spPr>
          <a:xfrm xmlns:a="http://schemas.openxmlformats.org/drawingml/2006/main">
            <a:off x="1409700" y="2390775"/>
            <a:ext cx="39909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CONVERGE HIGH</a:t>
            </a:r>
          </a:p>
        </p:txBody>
      </p:sp>
      <p:sp>
        <p:nvSpPr>
          <p:cNvPr id="9" name="">
            <a:extLst xmlns:a="http://schemas.openxmlformats.org/drawingml/2006/main">
              <a:ext uri="{FF2B5EF4-FFF2-40B4-BE49-F238E27FC236}">
                <a16:creationId xmlns:a16="http://schemas.microsoft.com/office/drawing/2014/main" id="{34188748-3CDA-4B3A-814D-D97EDE676CED}"/>
              </a:ext>
            </a:extLst>
          </p:cNvPr>
          <p:cNvSpPr>
            <a:spLocks xmlns:a="http://schemas.openxmlformats.org/drawingml/2006/main" noGrp="1"/>
          </p:cNvSpPr>
          <p:nvPr/>
        </p:nvSpPr>
        <p:spPr>
          <a:xfrm xmlns:a="http://schemas.openxmlformats.org/drawingml/2006/main">
            <a:off x="1409700" y="2695575"/>
            <a:ext cx="39909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Training and validation error meet at an unsatisfactory level. Investigate features, capacity or target noise.</a:t>
            </a:r>
          </a:p>
        </p:txBody>
      </p:sp>
      <p:sp>
        <p:nvSpPr>
          <p:cNvPr id="10" name="">
            <a:extLst xmlns:a="http://schemas.openxmlformats.org/drawingml/2006/main">
              <a:ext uri="{FF2B5EF4-FFF2-40B4-BE49-F238E27FC236}">
                <a16:creationId xmlns:a16="http://schemas.microsoft.com/office/drawing/2014/main" id="{A34E878F-2A3E-4FC2-9048-73A073DEBD2B}"/>
              </a:ext>
            </a:extLst>
          </p:cNvPr>
          <p:cNvSpPr>
            <a:spLocks xmlns:a="http://schemas.openxmlformats.org/drawingml/2006/main" noGrp="1"/>
          </p:cNvSpPr>
          <p:nvPr/>
        </p:nvSpPr>
        <p:spPr>
          <a:xfrm xmlns:a="http://schemas.openxmlformats.org/drawingml/2006/main">
            <a:off x="6619875" y="2238375"/>
            <a:ext cx="4333875" cy="2238375"/>
          </a:xfrm>
          <a:prstGeom xmlns:a="http://schemas.openxmlformats.org/drawingml/2006/main" prst="roundRect">
            <a:avLst>
              <a:gd name="adj" fmla="val 3404"/>
            </a:avLst>
          </a:prstGeom>
          <a:solidFill xmlns:a="http://schemas.openxmlformats.org/drawingml/2006/main">
            <a:srgbClr val="F1DFC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41C3758-78F9-41F0-859F-B03DAFC4BEBA}"/>
              </a:ext>
            </a:extLst>
          </p:cNvPr>
          <p:cNvSpPr>
            <a:spLocks xmlns:a="http://schemas.openxmlformats.org/drawingml/2006/main" noGrp="1"/>
          </p:cNvSpPr>
          <p:nvPr/>
        </p:nvSpPr>
        <p:spPr>
          <a:xfrm xmlns:a="http://schemas.openxmlformats.org/drawingml/2006/main">
            <a:off x="6791325" y="2390775"/>
            <a:ext cx="39909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B94A48"/>
                </a:solidFill>
                <a:latin typeface="Calibri"/>
                <a:ea typeface="Calibri"/>
                <a:cs typeface="Calibri"/>
              </a:defRPr>
            </a:pPr>
            <a:r>
              <a:rPr sz="750" b="1">
                <a:solidFill>
                  <a:srgbClr val="B94A48"/>
                </a:solidFill>
                <a:latin typeface="Calibri"/>
                <a:ea typeface="Calibri"/>
                <a:cs typeface="Calibri"/>
              </a:rPr>
              <a:t>PERSISTENT GAP</a:t>
            </a:r>
          </a:p>
        </p:txBody>
      </p:sp>
      <p:sp>
        <p:nvSpPr>
          <p:cNvPr id="12" name="">
            <a:extLst xmlns:a="http://schemas.openxmlformats.org/drawingml/2006/main">
              <a:ext uri="{FF2B5EF4-FFF2-40B4-BE49-F238E27FC236}">
                <a16:creationId xmlns:a16="http://schemas.microsoft.com/office/drawing/2014/main" id="{64A088F7-3F04-4060-BEB2-4D03944BF3BB}"/>
              </a:ext>
            </a:extLst>
          </p:cNvPr>
          <p:cNvSpPr>
            <a:spLocks xmlns:a="http://schemas.openxmlformats.org/drawingml/2006/main" noGrp="1"/>
          </p:cNvSpPr>
          <p:nvPr/>
        </p:nvSpPr>
        <p:spPr>
          <a:xfrm xmlns:a="http://schemas.openxmlformats.org/drawingml/2006/main">
            <a:off x="6791325" y="2695575"/>
            <a:ext cx="39909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Training stays strong while validation lags. Investigate variance, dependence, leakage or shift.</a:t>
            </a:r>
          </a:p>
        </p:txBody>
      </p:sp>
      <p:sp>
        <p:nvSpPr>
          <p:cNvPr id="13" name="">
            <a:extLst xmlns:a="http://schemas.openxmlformats.org/drawingml/2006/main">
              <a:ext uri="{FF2B5EF4-FFF2-40B4-BE49-F238E27FC236}">
                <a16:creationId xmlns:a16="http://schemas.microsoft.com/office/drawing/2014/main" id="{352B5542-F9AC-4178-99C2-36D4E0C08C80}"/>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Repeat learned preprocessing inside every fold or the diagnostic can leak.</a:t>
            </a:r>
          </a:p>
        </p:txBody>
      </p:sp>
    </p:spTree>
    <p:extLst>
      <p:ext uri="{BB962C8B-B14F-4D97-AF65-F5344CB8AC3E}">
        <p14:creationId xmlns:p14="http://schemas.microsoft.com/office/powerpoint/2010/main" val="623460774"/>
      </p:ext>
    </p:extLst>
  </p:cSld>
</p:sld>
</file>

<file path=ppt/slides/slide17.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E12B30C-1527-406A-BE56-E0453D89AFFC}"/>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CE855092-E4B9-48BA-8CDE-2016B842E97B}"/>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CED1630E-BEF7-4B80-A8A5-899D5DB11C65}"/>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17</a:t>
            </a:r>
          </a:p>
        </p:txBody>
      </p:sp>
      <p:sp>
        <p:nvSpPr>
          <p:cNvPr id="4" name="">
            <a:extLst xmlns:a="http://schemas.openxmlformats.org/drawingml/2006/main">
              <a:ext uri="{FF2B5EF4-FFF2-40B4-BE49-F238E27FC236}">
                <a16:creationId xmlns:a16="http://schemas.microsoft.com/office/drawing/2014/main" id="{CF1BC5C4-CF9A-4A8B-B93F-2748A1130D9C}"/>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7D4123-6740-446A-9F39-F81BDF288056}"/>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REGRESSION METRICS</a:t>
            </a:r>
          </a:p>
        </p:txBody>
      </p:sp>
      <p:sp>
        <p:nvSpPr>
          <p:cNvPr id="6" name="">
            <a:extLst xmlns:a="http://schemas.openxmlformats.org/drawingml/2006/main">
              <a:ext uri="{FF2B5EF4-FFF2-40B4-BE49-F238E27FC236}">
                <a16:creationId xmlns:a16="http://schemas.microsoft.com/office/drawing/2014/main" id="{CB958692-A08D-4BEC-9411-255FBC696E1E}"/>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Different metrics expose different consequences of error</a:t>
            </a:r>
          </a:p>
        </p:txBody>
      </p:sp>
      <p:sp>
        <p:nvSpPr>
          <p:cNvPr id="7" name="">
            <a:extLst xmlns:a="http://schemas.openxmlformats.org/drawingml/2006/main">
              <a:ext uri="{FF2B5EF4-FFF2-40B4-BE49-F238E27FC236}">
                <a16:creationId xmlns:a16="http://schemas.microsoft.com/office/drawing/2014/main" id="{FD02BB9F-DAEB-45E8-9B68-8C45E906956C}"/>
              </a:ext>
            </a:extLst>
          </p:cNvPr>
          <p:cNvSpPr>
            <a:spLocks xmlns:a="http://schemas.openxmlformats.org/drawingml/2006/main" noGrp="1"/>
          </p:cNvSpPr>
          <p:nvPr/>
        </p:nvSpPr>
        <p:spPr>
          <a:xfrm xmlns:a="http://schemas.openxmlformats.org/drawingml/2006/main">
            <a:off x="809625" y="2095500"/>
            <a:ext cx="1714500" cy="762000"/>
          </a:xfrm>
          <a:prstGeom xmlns:a="http://schemas.openxmlformats.org/drawingml/2006/main" prst="roundRect">
            <a:avLst>
              <a:gd name="adj" fmla="val 10000"/>
            </a:avLst>
          </a:prstGeom>
          <a:solidFill xmlns:a="http://schemas.openxmlformats.org/drawingml/2006/main">
            <a:srgbClr val="0A23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6B68EC1-3856-4960-8735-EA15BBCA8A5C}"/>
              </a:ext>
            </a:extLst>
          </p:cNvPr>
          <p:cNvSpPr>
            <a:spLocks xmlns:a="http://schemas.openxmlformats.org/drawingml/2006/main" noGrp="1"/>
          </p:cNvSpPr>
          <p:nvPr/>
        </p:nvSpPr>
        <p:spPr>
          <a:xfrm xmlns:a="http://schemas.openxmlformats.org/drawingml/2006/main">
            <a:off x="981075" y="2247900"/>
            <a:ext cx="1371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MAE</a:t>
            </a:r>
          </a:p>
        </p:txBody>
      </p:sp>
      <p:sp>
        <p:nvSpPr>
          <p:cNvPr id="9" name="">
            <a:extLst xmlns:a="http://schemas.openxmlformats.org/drawingml/2006/main">
              <a:ext uri="{FF2B5EF4-FFF2-40B4-BE49-F238E27FC236}">
                <a16:creationId xmlns:a16="http://schemas.microsoft.com/office/drawing/2014/main" id="{93E9A701-EC82-4F3A-8840-2611921C7106}"/>
              </a:ext>
            </a:extLst>
          </p:cNvPr>
          <p:cNvSpPr>
            <a:spLocks xmlns:a="http://schemas.openxmlformats.org/drawingml/2006/main" noGrp="1"/>
          </p:cNvSpPr>
          <p:nvPr/>
        </p:nvSpPr>
        <p:spPr>
          <a:xfrm xmlns:a="http://schemas.openxmlformats.org/drawingml/2006/main">
            <a:off x="981075" y="2552700"/>
            <a:ext cx="1371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1176"/>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MAE</a:t>
            </a:r>
          </a:p>
        </p:txBody>
      </p:sp>
      <p:sp>
        <p:nvSpPr>
          <p:cNvPr id="10" name="">
            <a:extLst xmlns:a="http://schemas.openxmlformats.org/drawingml/2006/main">
              <a:ext uri="{FF2B5EF4-FFF2-40B4-BE49-F238E27FC236}">
                <a16:creationId xmlns:a16="http://schemas.microsoft.com/office/drawing/2014/main" id="{3E001A22-1B39-4D15-A63D-CBD79FC20A9C}"/>
              </a:ext>
            </a:extLst>
          </p:cNvPr>
          <p:cNvSpPr>
            <a:spLocks xmlns:a="http://schemas.openxmlformats.org/drawingml/2006/main" noGrp="1"/>
          </p:cNvSpPr>
          <p:nvPr/>
        </p:nvSpPr>
        <p:spPr>
          <a:xfrm xmlns:a="http://schemas.openxmlformats.org/drawingml/2006/main">
            <a:off x="2952750" y="20764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A2336"/>
                </a:solidFill>
                <a:latin typeface="Calibri"/>
                <a:ea typeface="Calibri"/>
                <a:cs typeface="Calibri"/>
              </a:defRPr>
            </a:pPr>
            <a:r>
              <a:rPr sz="1500" b="1">
                <a:solidFill>
                  <a:srgbClr val="0A2336"/>
                </a:solidFill>
                <a:latin typeface="Calibri"/>
                <a:ea typeface="Calibri"/>
                <a:cs typeface="Calibri"/>
              </a:rPr>
              <a:t>(1/n) Σ |yᵢ − ŷᵢ|</a:t>
            </a:r>
          </a:p>
        </p:txBody>
      </p:sp>
      <p:sp>
        <p:nvSpPr>
          <p:cNvPr id="11" name="">
            <a:extLst xmlns:a="http://schemas.openxmlformats.org/drawingml/2006/main">
              <a:ext uri="{FF2B5EF4-FFF2-40B4-BE49-F238E27FC236}">
                <a16:creationId xmlns:a16="http://schemas.microsoft.com/office/drawing/2014/main" id="{624A91BC-BBC5-415B-B138-919A8A8F4106}"/>
              </a:ext>
            </a:extLst>
          </p:cNvPr>
          <p:cNvSpPr>
            <a:spLocks xmlns:a="http://schemas.openxmlformats.org/drawingml/2006/main" noGrp="1"/>
          </p:cNvSpPr>
          <p:nvPr/>
        </p:nvSpPr>
        <p:spPr>
          <a:xfrm xmlns:a="http://schemas.openxmlformats.org/drawingml/2006/main">
            <a:off x="7334250" y="20764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4E6472"/>
                </a:solidFill>
                <a:latin typeface="Calibri"/>
                <a:ea typeface="Calibri"/>
                <a:cs typeface="Calibri"/>
              </a:defRPr>
            </a:pPr>
            <a:r>
              <a:rPr sz="1275" b="0">
                <a:solidFill>
                  <a:srgbClr val="4E6472"/>
                </a:solidFill>
                <a:latin typeface="Calibri"/>
                <a:ea typeface="Calibri"/>
                <a:cs typeface="Calibri"/>
              </a:rPr>
              <a:t>average error in target units</a:t>
            </a:r>
          </a:p>
        </p:txBody>
      </p:sp>
      <p:sp>
        <p:nvSpPr>
          <p:cNvPr id="12" name="">
            <a:extLst xmlns:a="http://schemas.openxmlformats.org/drawingml/2006/main">
              <a:ext uri="{FF2B5EF4-FFF2-40B4-BE49-F238E27FC236}">
                <a16:creationId xmlns:a16="http://schemas.microsoft.com/office/drawing/2014/main" id="{5A722A7B-DDF9-4D9E-A8FF-025463A38C55}"/>
              </a:ext>
            </a:extLst>
          </p:cNvPr>
          <p:cNvSpPr>
            <a:spLocks xmlns:a="http://schemas.openxmlformats.org/drawingml/2006/main" noGrp="1"/>
          </p:cNvSpPr>
          <p:nvPr/>
        </p:nvSpPr>
        <p:spPr>
          <a:xfrm xmlns:a="http://schemas.openxmlformats.org/drawingml/2006/main">
            <a:off x="809625" y="3143250"/>
            <a:ext cx="1714500" cy="762000"/>
          </a:xfrm>
          <a:prstGeom xmlns:a="http://schemas.openxmlformats.org/drawingml/2006/main" prst="roundRect">
            <a:avLst>
              <a:gd name="adj" fmla="val 10000"/>
            </a:avLst>
          </a:prstGeom>
          <a:solidFill xmlns:a="http://schemas.openxmlformats.org/drawingml/2006/main">
            <a:srgbClr val="2F776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CCC54B5-0DD0-4E2E-A1A0-3E04F82DEE01}"/>
              </a:ext>
            </a:extLst>
          </p:cNvPr>
          <p:cNvSpPr>
            <a:spLocks xmlns:a="http://schemas.openxmlformats.org/drawingml/2006/main" noGrp="1"/>
          </p:cNvSpPr>
          <p:nvPr/>
        </p:nvSpPr>
        <p:spPr>
          <a:xfrm xmlns:a="http://schemas.openxmlformats.org/drawingml/2006/main">
            <a:off x="981075" y="3295650"/>
            <a:ext cx="1371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RMSE</a:t>
            </a:r>
          </a:p>
        </p:txBody>
      </p:sp>
      <p:sp>
        <p:nvSpPr>
          <p:cNvPr id="14" name="">
            <a:extLst xmlns:a="http://schemas.openxmlformats.org/drawingml/2006/main">
              <a:ext uri="{FF2B5EF4-FFF2-40B4-BE49-F238E27FC236}">
                <a16:creationId xmlns:a16="http://schemas.microsoft.com/office/drawing/2014/main" id="{5184C07B-7732-409D-872E-AAE9C190C304}"/>
              </a:ext>
            </a:extLst>
          </p:cNvPr>
          <p:cNvSpPr>
            <a:spLocks xmlns:a="http://schemas.openxmlformats.org/drawingml/2006/main" noGrp="1"/>
          </p:cNvSpPr>
          <p:nvPr/>
        </p:nvSpPr>
        <p:spPr>
          <a:xfrm xmlns:a="http://schemas.openxmlformats.org/drawingml/2006/main">
            <a:off x="981075" y="3600450"/>
            <a:ext cx="1371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1176"/>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RMSE</a:t>
            </a:r>
          </a:p>
        </p:txBody>
      </p:sp>
      <p:sp>
        <p:nvSpPr>
          <p:cNvPr id="15" name="">
            <a:extLst xmlns:a="http://schemas.openxmlformats.org/drawingml/2006/main">
              <a:ext uri="{FF2B5EF4-FFF2-40B4-BE49-F238E27FC236}">
                <a16:creationId xmlns:a16="http://schemas.microsoft.com/office/drawing/2014/main" id="{A305EC58-7F8E-4DB8-9F28-E4FB8BDCEC6C}"/>
              </a:ext>
            </a:extLst>
          </p:cNvPr>
          <p:cNvSpPr>
            <a:spLocks xmlns:a="http://schemas.openxmlformats.org/drawingml/2006/main" noGrp="1"/>
          </p:cNvSpPr>
          <p:nvPr/>
        </p:nvSpPr>
        <p:spPr>
          <a:xfrm xmlns:a="http://schemas.openxmlformats.org/drawingml/2006/main">
            <a:off x="2952750" y="31242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A2336"/>
                </a:solidFill>
                <a:latin typeface="Calibri"/>
                <a:ea typeface="Calibri"/>
                <a:cs typeface="Calibri"/>
              </a:defRPr>
            </a:pPr>
            <a:r>
              <a:rPr sz="1500" b="1">
                <a:solidFill>
                  <a:srgbClr val="0A2336"/>
                </a:solidFill>
                <a:latin typeface="Calibri"/>
                <a:ea typeface="Calibri"/>
                <a:cs typeface="Calibri"/>
              </a:rPr>
              <a:t>√[(1/n) Σ (yᵢ − ŷᵢ)²]</a:t>
            </a:r>
          </a:p>
        </p:txBody>
      </p:sp>
      <p:sp>
        <p:nvSpPr>
          <p:cNvPr id="16" name="">
            <a:extLst xmlns:a="http://schemas.openxmlformats.org/drawingml/2006/main">
              <a:ext uri="{FF2B5EF4-FFF2-40B4-BE49-F238E27FC236}">
                <a16:creationId xmlns:a16="http://schemas.microsoft.com/office/drawing/2014/main" id="{5248B9D3-5B6F-4181-83C3-F88EEC5AF732}"/>
              </a:ext>
            </a:extLst>
          </p:cNvPr>
          <p:cNvSpPr>
            <a:spLocks xmlns:a="http://schemas.openxmlformats.org/drawingml/2006/main" noGrp="1"/>
          </p:cNvSpPr>
          <p:nvPr/>
        </p:nvSpPr>
        <p:spPr>
          <a:xfrm xmlns:a="http://schemas.openxmlformats.org/drawingml/2006/main">
            <a:off x="7334250" y="31242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4E6472"/>
                </a:solidFill>
                <a:latin typeface="Calibri"/>
                <a:ea typeface="Calibri"/>
                <a:cs typeface="Calibri"/>
              </a:defRPr>
            </a:pPr>
            <a:r>
              <a:rPr sz="1275" b="0">
                <a:solidFill>
                  <a:srgbClr val="4E6472"/>
                </a:solidFill>
                <a:latin typeface="Calibri"/>
                <a:ea typeface="Calibri"/>
                <a:cs typeface="Calibri"/>
              </a:rPr>
              <a:t>extra weight on large misses</a:t>
            </a:r>
          </a:p>
        </p:txBody>
      </p:sp>
      <p:sp>
        <p:nvSpPr>
          <p:cNvPr id="17" name="">
            <a:extLst xmlns:a="http://schemas.openxmlformats.org/drawingml/2006/main">
              <a:ext uri="{FF2B5EF4-FFF2-40B4-BE49-F238E27FC236}">
                <a16:creationId xmlns:a16="http://schemas.microsoft.com/office/drawing/2014/main" id="{12B7B697-0689-419A-A7FD-99B199820A95}"/>
              </a:ext>
            </a:extLst>
          </p:cNvPr>
          <p:cNvSpPr>
            <a:spLocks xmlns:a="http://schemas.openxmlformats.org/drawingml/2006/main" noGrp="1"/>
          </p:cNvSpPr>
          <p:nvPr/>
        </p:nvSpPr>
        <p:spPr>
          <a:xfrm xmlns:a="http://schemas.openxmlformats.org/drawingml/2006/main">
            <a:off x="809625" y="4191000"/>
            <a:ext cx="1714500" cy="762000"/>
          </a:xfrm>
          <a:prstGeom xmlns:a="http://schemas.openxmlformats.org/drawingml/2006/main" prst="roundRect">
            <a:avLst>
              <a:gd name="adj" fmla="val 10000"/>
            </a:avLst>
          </a:prstGeom>
          <a:solidFill xmlns:a="http://schemas.openxmlformats.org/drawingml/2006/main">
            <a:srgbClr val="0A233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A2CF814-11C8-48F9-A598-D6BA5FE18FB8}"/>
              </a:ext>
            </a:extLst>
          </p:cNvPr>
          <p:cNvSpPr>
            <a:spLocks xmlns:a="http://schemas.openxmlformats.org/drawingml/2006/main" noGrp="1"/>
          </p:cNvSpPr>
          <p:nvPr/>
        </p:nvSpPr>
        <p:spPr>
          <a:xfrm xmlns:a="http://schemas.openxmlformats.org/drawingml/2006/main">
            <a:off x="981075" y="4343400"/>
            <a:ext cx="1371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R²</a:t>
            </a:r>
          </a:p>
        </p:txBody>
      </p:sp>
      <p:sp>
        <p:nvSpPr>
          <p:cNvPr id="19" name="">
            <a:extLst xmlns:a="http://schemas.openxmlformats.org/drawingml/2006/main">
              <a:ext uri="{FF2B5EF4-FFF2-40B4-BE49-F238E27FC236}">
                <a16:creationId xmlns:a16="http://schemas.microsoft.com/office/drawing/2014/main" id="{5C9E49BF-0E9A-4AF6-B5D3-47FAB4881295}"/>
              </a:ext>
            </a:extLst>
          </p:cNvPr>
          <p:cNvSpPr>
            <a:spLocks xmlns:a="http://schemas.openxmlformats.org/drawingml/2006/main" noGrp="1"/>
          </p:cNvSpPr>
          <p:nvPr/>
        </p:nvSpPr>
        <p:spPr>
          <a:xfrm xmlns:a="http://schemas.openxmlformats.org/drawingml/2006/main">
            <a:off x="981075" y="4648200"/>
            <a:ext cx="1371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1176"/>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R²</a:t>
            </a:r>
          </a:p>
        </p:txBody>
      </p:sp>
      <p:sp>
        <p:nvSpPr>
          <p:cNvPr id="20" name="">
            <a:extLst xmlns:a="http://schemas.openxmlformats.org/drawingml/2006/main">
              <a:ext uri="{FF2B5EF4-FFF2-40B4-BE49-F238E27FC236}">
                <a16:creationId xmlns:a16="http://schemas.microsoft.com/office/drawing/2014/main" id="{EB2D2520-8721-4C0E-AE67-EDFDAB01B16C}"/>
              </a:ext>
            </a:extLst>
          </p:cNvPr>
          <p:cNvSpPr>
            <a:spLocks xmlns:a="http://schemas.openxmlformats.org/drawingml/2006/main" noGrp="1"/>
          </p:cNvSpPr>
          <p:nvPr/>
        </p:nvSpPr>
        <p:spPr>
          <a:xfrm xmlns:a="http://schemas.openxmlformats.org/drawingml/2006/main">
            <a:off x="2952750" y="41719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A2336"/>
                </a:solidFill>
                <a:latin typeface="Calibri"/>
                <a:ea typeface="Calibri"/>
                <a:cs typeface="Calibri"/>
              </a:defRPr>
            </a:pPr>
            <a:r>
              <a:rPr sz="1500" b="1">
                <a:solidFill>
                  <a:srgbClr val="0A2336"/>
                </a:solidFill>
                <a:latin typeface="Calibri"/>
                <a:ea typeface="Calibri"/>
                <a:cs typeface="Calibri"/>
              </a:rPr>
              <a:t>1 − SSE/SST</a:t>
            </a:r>
          </a:p>
        </p:txBody>
      </p:sp>
      <p:sp>
        <p:nvSpPr>
          <p:cNvPr id="21" name="">
            <a:extLst xmlns:a="http://schemas.openxmlformats.org/drawingml/2006/main">
              <a:ext uri="{FF2B5EF4-FFF2-40B4-BE49-F238E27FC236}">
                <a16:creationId xmlns:a16="http://schemas.microsoft.com/office/drawing/2014/main" id="{3B971634-2992-4710-B8E9-31361BC2DF79}"/>
              </a:ext>
            </a:extLst>
          </p:cNvPr>
          <p:cNvSpPr>
            <a:spLocks xmlns:a="http://schemas.openxmlformats.org/drawingml/2006/main" noGrp="1"/>
          </p:cNvSpPr>
          <p:nvPr/>
        </p:nvSpPr>
        <p:spPr>
          <a:xfrm xmlns:a="http://schemas.openxmlformats.org/drawingml/2006/main">
            <a:off x="7334250" y="41719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4E6472"/>
                </a:solidFill>
                <a:latin typeface="Calibri"/>
                <a:ea typeface="Calibri"/>
                <a:cs typeface="Calibri"/>
              </a:defRPr>
            </a:pPr>
            <a:r>
              <a:rPr sz="1275" b="0">
                <a:solidFill>
                  <a:srgbClr val="4E6472"/>
                </a:solidFill>
                <a:latin typeface="Calibri"/>
                <a:ea typeface="Calibri"/>
                <a:cs typeface="Calibri"/>
              </a:rPr>
              <a:t>gain over a constant reference</a:t>
            </a:r>
          </a:p>
        </p:txBody>
      </p:sp>
      <p:sp>
        <p:nvSpPr>
          <p:cNvPr id="22" name="">
            <a:extLst xmlns:a="http://schemas.openxmlformats.org/drawingml/2006/main">
              <a:ext uri="{FF2B5EF4-FFF2-40B4-BE49-F238E27FC236}">
                <a16:creationId xmlns:a16="http://schemas.microsoft.com/office/drawing/2014/main" id="{6A3D2E29-CB0B-4294-ABA0-59D583633C2C}"/>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Residual structure matters even when the summary metric improves.</a:t>
            </a:r>
          </a:p>
        </p:txBody>
      </p:sp>
    </p:spTree>
    <p:extLst>
      <p:ext uri="{BB962C8B-B14F-4D97-AF65-F5344CB8AC3E}">
        <p14:creationId xmlns:p14="http://schemas.microsoft.com/office/powerpoint/2010/main" val="1878775847"/>
      </p:ext>
    </p:extLst>
  </p:cSld>
</p:sld>
</file>

<file path=ppt/slides/slide18.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F259DDC-F937-4F6C-984B-AC09198C8073}"/>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620CEE1D-219D-48FD-83A2-E250F0936349}"/>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19963A19-F9FD-4B8B-92E7-0D3FC524CAB9}"/>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18</a:t>
            </a:r>
          </a:p>
        </p:txBody>
      </p:sp>
      <p:sp>
        <p:nvSpPr>
          <p:cNvPr id="4" name="">
            <a:extLst xmlns:a="http://schemas.openxmlformats.org/drawingml/2006/main">
              <a:ext uri="{FF2B5EF4-FFF2-40B4-BE49-F238E27FC236}">
                <a16:creationId xmlns:a16="http://schemas.microsoft.com/office/drawing/2014/main" id="{B5F6F952-9118-4EE6-A26E-23DF31014E76}"/>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A97AC11-1036-4FFB-9E57-169F8CCD74BC}"/>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CLASSIFICATION EVIDENCE</a:t>
            </a:r>
          </a:p>
        </p:txBody>
      </p:sp>
      <p:sp>
        <p:nvSpPr>
          <p:cNvPr id="6" name="">
            <a:extLst xmlns:a="http://schemas.openxmlformats.org/drawingml/2006/main">
              <a:ext uri="{FF2B5EF4-FFF2-40B4-BE49-F238E27FC236}">
                <a16:creationId xmlns:a16="http://schemas.microsoft.com/office/drawing/2014/main" id="{3748D508-F43E-45D5-9AA7-93B0028F7CDF}"/>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0A2336"/>
                </a:solidFill>
                <a:latin typeface="Calibri"/>
                <a:ea typeface="Calibri"/>
                <a:cs typeface="Calibri"/>
              </a:defRPr>
            </a:pPr>
            <a:r>
              <a:rPr sz="2100" b="0">
                <a:solidFill>
                  <a:srgbClr val="0A2336"/>
                </a:solidFill>
                <a:latin typeface="Calibri"/>
                <a:ea typeface="Calibri"/>
                <a:cs typeface="Calibri"/>
              </a:rPr>
              <a:t>Ranking, threshold performance and calibration answer different questions</a:t>
            </a:r>
          </a:p>
        </p:txBody>
      </p:sp>
      <p:sp>
        <p:nvSpPr>
          <p:cNvPr id="7" name="">
            <a:extLst xmlns:a="http://schemas.openxmlformats.org/drawingml/2006/main">
              <a:ext uri="{FF2B5EF4-FFF2-40B4-BE49-F238E27FC236}">
                <a16:creationId xmlns:a16="http://schemas.microsoft.com/office/drawing/2014/main" id="{28D80F79-90E9-4497-9D4D-57F1C881F715}"/>
              </a:ext>
            </a:extLst>
          </p:cNvPr>
          <p:cNvSpPr>
            <a:spLocks xmlns:a="http://schemas.openxmlformats.org/drawingml/2006/main" noGrp="1"/>
          </p:cNvSpPr>
          <p:nvPr/>
        </p:nvSpPr>
        <p:spPr>
          <a:xfrm xmlns:a="http://schemas.openxmlformats.org/drawingml/2006/main">
            <a:off x="1047750" y="2238375"/>
            <a:ext cx="3048000" cy="2095500"/>
          </a:xfrm>
          <a:prstGeom xmlns:a="http://schemas.openxmlformats.org/drawingml/2006/main" prst="roundRect">
            <a:avLst>
              <a:gd name="adj" fmla="val 3636"/>
            </a:avLst>
          </a:prstGeom>
          <a:solidFill xmlns:a="http://schemas.openxmlformats.org/drawingml/2006/main">
            <a:srgbClr val="0A23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AE91B25-3F9D-4EA0-9F96-DAC272B79E65}"/>
              </a:ext>
            </a:extLst>
          </p:cNvPr>
          <p:cNvSpPr>
            <a:spLocks xmlns:a="http://schemas.openxmlformats.org/drawingml/2006/main" noGrp="1"/>
          </p:cNvSpPr>
          <p:nvPr/>
        </p:nvSpPr>
        <p:spPr>
          <a:xfrm xmlns:a="http://schemas.openxmlformats.org/drawingml/2006/main">
            <a:off x="12192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ROC AUC</a:t>
            </a:r>
          </a:p>
        </p:txBody>
      </p:sp>
      <p:sp>
        <p:nvSpPr>
          <p:cNvPr id="9" name="">
            <a:extLst xmlns:a="http://schemas.openxmlformats.org/drawingml/2006/main">
              <a:ext uri="{FF2B5EF4-FFF2-40B4-BE49-F238E27FC236}">
                <a16:creationId xmlns:a16="http://schemas.microsoft.com/office/drawing/2014/main" id="{234144C8-64E8-455C-8634-DF29143EB39C}"/>
              </a:ext>
            </a:extLst>
          </p:cNvPr>
          <p:cNvSpPr>
            <a:spLocks xmlns:a="http://schemas.openxmlformats.org/drawingml/2006/main" noGrp="1"/>
          </p:cNvSpPr>
          <p:nvPr/>
        </p:nvSpPr>
        <p:spPr>
          <a:xfrm xmlns:a="http://schemas.openxmlformats.org/drawingml/2006/main">
            <a:off x="1219200" y="2695575"/>
            <a:ext cx="27051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Can the score rank positives above negatives?</a:t>
            </a:r>
          </a:p>
        </p:txBody>
      </p:sp>
      <p:sp>
        <p:nvSpPr>
          <p:cNvPr id="10" name="">
            <a:extLst xmlns:a="http://schemas.openxmlformats.org/drawingml/2006/main">
              <a:ext uri="{FF2B5EF4-FFF2-40B4-BE49-F238E27FC236}">
                <a16:creationId xmlns:a16="http://schemas.microsoft.com/office/drawing/2014/main" id="{9C24E3FA-0253-43AA-BD49-0F702FD0FA59}"/>
              </a:ext>
            </a:extLst>
          </p:cNvPr>
          <p:cNvSpPr>
            <a:spLocks xmlns:a="http://schemas.openxmlformats.org/drawingml/2006/main" noGrp="1"/>
          </p:cNvSpPr>
          <p:nvPr/>
        </p:nvSpPr>
        <p:spPr>
          <a:xfrm xmlns:a="http://schemas.openxmlformats.org/drawingml/2006/main">
            <a:off x="4476750" y="2238375"/>
            <a:ext cx="3048000" cy="2095500"/>
          </a:xfrm>
          <a:prstGeom xmlns:a="http://schemas.openxmlformats.org/drawingml/2006/main" prst="roundRect">
            <a:avLst>
              <a:gd name="adj" fmla="val 3636"/>
            </a:avLst>
          </a:prstGeom>
          <a:solidFill xmlns:a="http://schemas.openxmlformats.org/drawingml/2006/main">
            <a:srgbClr val="0A233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D4219D4-8A3F-42B1-BF4C-84A3F0D88B5F}"/>
              </a:ext>
            </a:extLst>
          </p:cNvPr>
          <p:cNvSpPr>
            <a:spLocks xmlns:a="http://schemas.openxmlformats.org/drawingml/2006/main" noGrp="1"/>
          </p:cNvSpPr>
          <p:nvPr/>
        </p:nvSpPr>
        <p:spPr>
          <a:xfrm xmlns:a="http://schemas.openxmlformats.org/drawingml/2006/main">
            <a:off x="46482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PRECISION / RECALL</a:t>
            </a:r>
          </a:p>
        </p:txBody>
      </p:sp>
      <p:sp>
        <p:nvSpPr>
          <p:cNvPr id="12" name="">
            <a:extLst xmlns:a="http://schemas.openxmlformats.org/drawingml/2006/main">
              <a:ext uri="{FF2B5EF4-FFF2-40B4-BE49-F238E27FC236}">
                <a16:creationId xmlns:a16="http://schemas.microsoft.com/office/drawing/2014/main" id="{86A5338E-C85E-4904-8DB9-899E136F58ED}"/>
              </a:ext>
            </a:extLst>
          </p:cNvPr>
          <p:cNvSpPr>
            <a:spLocks xmlns:a="http://schemas.openxmlformats.org/drawingml/2006/main" noGrp="1"/>
          </p:cNvSpPr>
          <p:nvPr/>
        </p:nvSpPr>
        <p:spPr>
          <a:xfrm xmlns:a="http://schemas.openxmlformats.org/drawingml/2006/main">
            <a:off x="4648200" y="2695575"/>
            <a:ext cx="27051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What happens at the chosen threshold?</a:t>
            </a:r>
          </a:p>
        </p:txBody>
      </p:sp>
      <p:sp>
        <p:nvSpPr>
          <p:cNvPr id="13" name="">
            <a:extLst xmlns:a="http://schemas.openxmlformats.org/drawingml/2006/main">
              <a:ext uri="{FF2B5EF4-FFF2-40B4-BE49-F238E27FC236}">
                <a16:creationId xmlns:a16="http://schemas.microsoft.com/office/drawing/2014/main" id="{844F573B-E29C-4D8C-871D-20C4C86EE2B9}"/>
              </a:ext>
            </a:extLst>
          </p:cNvPr>
          <p:cNvSpPr>
            <a:spLocks xmlns:a="http://schemas.openxmlformats.org/drawingml/2006/main" noGrp="1"/>
          </p:cNvSpPr>
          <p:nvPr/>
        </p:nvSpPr>
        <p:spPr>
          <a:xfrm xmlns:a="http://schemas.openxmlformats.org/drawingml/2006/main">
            <a:off x="7905750" y="2238375"/>
            <a:ext cx="3048000" cy="2095500"/>
          </a:xfrm>
          <a:prstGeom xmlns:a="http://schemas.openxmlformats.org/drawingml/2006/main" prst="roundRect">
            <a:avLst>
              <a:gd name="adj" fmla="val 3636"/>
            </a:avLst>
          </a:prstGeom>
          <a:solidFill xmlns:a="http://schemas.openxmlformats.org/drawingml/2006/main">
            <a:srgbClr val="2F776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449214E-D2C6-4F80-BC6A-3885A351242D}"/>
              </a:ext>
            </a:extLst>
          </p:cNvPr>
          <p:cNvSpPr>
            <a:spLocks xmlns:a="http://schemas.openxmlformats.org/drawingml/2006/main" noGrp="1"/>
          </p:cNvSpPr>
          <p:nvPr/>
        </p:nvSpPr>
        <p:spPr>
          <a:xfrm xmlns:a="http://schemas.openxmlformats.org/drawingml/2006/main">
            <a:off x="80772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CALIBRATION</a:t>
            </a:r>
          </a:p>
        </p:txBody>
      </p:sp>
      <p:sp>
        <p:nvSpPr>
          <p:cNvPr id="15" name="">
            <a:extLst xmlns:a="http://schemas.openxmlformats.org/drawingml/2006/main">
              <a:ext uri="{FF2B5EF4-FFF2-40B4-BE49-F238E27FC236}">
                <a16:creationId xmlns:a16="http://schemas.microsoft.com/office/drawing/2014/main" id="{0E9826C0-783F-4DB7-B346-027BEBE9D84A}"/>
              </a:ext>
            </a:extLst>
          </p:cNvPr>
          <p:cNvSpPr>
            <a:spLocks xmlns:a="http://schemas.openxmlformats.org/drawingml/2006/main" noGrp="1"/>
          </p:cNvSpPr>
          <p:nvPr/>
        </p:nvSpPr>
        <p:spPr>
          <a:xfrm xmlns:a="http://schemas.openxmlformats.org/drawingml/2006/main">
            <a:off x="8077200" y="2695575"/>
            <a:ext cx="27051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Do predicted probabilities match observed frequencies?</a:t>
            </a:r>
          </a:p>
        </p:txBody>
      </p:sp>
      <p:sp>
        <p:nvSpPr>
          <p:cNvPr id="16" name="">
            <a:extLst xmlns:a="http://schemas.openxmlformats.org/drawingml/2006/main">
              <a:ext uri="{FF2B5EF4-FFF2-40B4-BE49-F238E27FC236}">
                <a16:creationId xmlns:a16="http://schemas.microsoft.com/office/drawing/2014/main" id="{229296AE-4232-40F9-80C5-4A74B146CD9B}"/>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The operational threshold reflects prevalence, capacity and error costs.</a:t>
            </a:r>
          </a:p>
        </p:txBody>
      </p:sp>
    </p:spTree>
    <p:extLst>
      <p:ext uri="{BB962C8B-B14F-4D97-AF65-F5344CB8AC3E}">
        <p14:creationId xmlns:p14="http://schemas.microsoft.com/office/powerpoint/2010/main" val="1908316533"/>
      </p:ext>
    </p:extLst>
  </p:cSld>
</p:sld>
</file>

<file path=ppt/slides/slide19.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BC581AD-4310-4CC6-9CF1-1B36C67B60F5}"/>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97041536-AC4B-4BAA-AAAC-F27736AEA0A5}"/>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3C5265EB-D7CF-4BB5-BE44-8F3143A58593}"/>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19</a:t>
            </a:r>
          </a:p>
        </p:txBody>
      </p:sp>
      <p:sp>
        <p:nvSpPr>
          <p:cNvPr id="4" name="">
            <a:extLst xmlns:a="http://schemas.openxmlformats.org/drawingml/2006/main">
              <a:ext uri="{FF2B5EF4-FFF2-40B4-BE49-F238E27FC236}">
                <a16:creationId xmlns:a16="http://schemas.microsoft.com/office/drawing/2014/main" id="{A0A19A74-C139-4B32-96E6-8A936F257025}"/>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642612-6583-42B3-96E7-5483CDC8DF94}"/>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CANONICAL CASE</a:t>
            </a:r>
          </a:p>
        </p:txBody>
      </p:sp>
      <p:sp>
        <p:nvSpPr>
          <p:cNvPr id="6" name="">
            <a:extLst xmlns:a="http://schemas.openxmlformats.org/drawingml/2006/main">
              <a:ext uri="{FF2B5EF4-FFF2-40B4-BE49-F238E27FC236}">
                <a16:creationId xmlns:a16="http://schemas.microsoft.com/office/drawing/2014/main" id="{22109FE5-9B65-48AC-8C9D-FB99325F28EF}"/>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Service demand is predicted one operating day ahead</a:t>
            </a:r>
          </a:p>
        </p:txBody>
      </p:sp>
      <p:sp>
        <p:nvSpPr>
          <p:cNvPr id="7" name="">
            <a:extLst xmlns:a="http://schemas.openxmlformats.org/drawingml/2006/main">
              <a:ext uri="{FF2B5EF4-FFF2-40B4-BE49-F238E27FC236}">
                <a16:creationId xmlns:a16="http://schemas.microsoft.com/office/drawing/2014/main" id="{E27D64D9-73DB-4745-8AC1-FCD606263D18}"/>
              </a:ext>
            </a:extLst>
          </p:cNvPr>
          <p:cNvSpPr>
            <a:spLocks xmlns:a="http://schemas.openxmlformats.org/drawingml/2006/main" noGrp="1"/>
          </p:cNvSpPr>
          <p:nvPr/>
        </p:nvSpPr>
        <p:spPr>
          <a:xfrm xmlns:a="http://schemas.openxmlformats.org/drawingml/2006/main">
            <a:off x="857250" y="20955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2F776F"/>
                </a:solidFill>
                <a:latin typeface="Calibri"/>
                <a:ea typeface="Calibri"/>
                <a:cs typeface="Calibri"/>
              </a:defRPr>
            </a:pPr>
            <a:r>
              <a:rPr sz="825" b="1">
                <a:solidFill>
                  <a:srgbClr val="2F776F"/>
                </a:solidFill>
                <a:latin typeface="Calibri"/>
                <a:ea typeface="Calibri"/>
                <a:cs typeface="Calibri"/>
              </a:rPr>
              <a:t>UNIT</a:t>
            </a:r>
          </a:p>
        </p:txBody>
      </p:sp>
      <p:sp>
        <p:nvSpPr>
          <p:cNvPr id="8" name="">
            <a:extLst xmlns:a="http://schemas.openxmlformats.org/drawingml/2006/main">
              <a:ext uri="{FF2B5EF4-FFF2-40B4-BE49-F238E27FC236}">
                <a16:creationId xmlns:a16="http://schemas.microsoft.com/office/drawing/2014/main" id="{0D72CA7E-BD69-438A-9B0A-0A9A508D4B95}"/>
              </a:ext>
            </a:extLst>
          </p:cNvPr>
          <p:cNvSpPr>
            <a:spLocks xmlns:a="http://schemas.openxmlformats.org/drawingml/2006/main" noGrp="1"/>
          </p:cNvSpPr>
          <p:nvPr/>
        </p:nvSpPr>
        <p:spPr>
          <a:xfrm xmlns:a="http://schemas.openxmlformats.org/drawingml/2006/main">
            <a:off x="2667000" y="2238375"/>
            <a:ext cx="381000" cy="1905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3BB01C7-8BF6-4C9A-A46D-7A286B2CB1D3}"/>
              </a:ext>
            </a:extLst>
          </p:cNvPr>
          <p:cNvSpPr>
            <a:spLocks xmlns:a="http://schemas.openxmlformats.org/drawingml/2006/main" noGrp="1"/>
          </p:cNvSpPr>
          <p:nvPr/>
        </p:nvSpPr>
        <p:spPr>
          <a:xfrm xmlns:a="http://schemas.openxmlformats.org/drawingml/2006/main">
            <a:off x="3333750" y="20193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A2336"/>
                </a:solidFill>
                <a:latin typeface="Calibri"/>
                <a:ea typeface="Calibri"/>
                <a:cs typeface="Calibri"/>
              </a:defRPr>
            </a:pPr>
            <a:r>
              <a:rPr sz="1350" b="0">
                <a:solidFill>
                  <a:srgbClr val="0A2336"/>
                </a:solidFill>
                <a:latin typeface="Calibri"/>
                <a:ea typeface="Calibri"/>
                <a:cs typeface="Calibri"/>
              </a:rPr>
              <a:t>service-day</a:t>
            </a:r>
          </a:p>
        </p:txBody>
      </p:sp>
      <p:sp>
        <p:nvSpPr>
          <p:cNvPr id="10" name="">
            <a:extLst xmlns:a="http://schemas.openxmlformats.org/drawingml/2006/main">
              <a:ext uri="{FF2B5EF4-FFF2-40B4-BE49-F238E27FC236}">
                <a16:creationId xmlns:a16="http://schemas.microsoft.com/office/drawing/2014/main" id="{10B69575-E975-471A-9303-C806928AB5C2}"/>
              </a:ext>
            </a:extLst>
          </p:cNvPr>
          <p:cNvSpPr>
            <a:spLocks xmlns:a="http://schemas.openxmlformats.org/drawingml/2006/main" noGrp="1"/>
          </p:cNvSpPr>
          <p:nvPr/>
        </p:nvSpPr>
        <p:spPr>
          <a:xfrm xmlns:a="http://schemas.openxmlformats.org/drawingml/2006/main">
            <a:off x="857250" y="2647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2F776F"/>
                </a:solidFill>
                <a:latin typeface="Calibri"/>
                <a:ea typeface="Calibri"/>
                <a:cs typeface="Calibri"/>
              </a:defRPr>
            </a:pPr>
            <a:r>
              <a:rPr sz="825" b="1">
                <a:solidFill>
                  <a:srgbClr val="2F776F"/>
                </a:solidFill>
                <a:latin typeface="Calibri"/>
                <a:ea typeface="Calibri"/>
                <a:cs typeface="Calibri"/>
              </a:rPr>
              <a:t>TARGET</a:t>
            </a:r>
          </a:p>
        </p:txBody>
      </p:sp>
      <p:sp>
        <p:nvSpPr>
          <p:cNvPr id="11" name="">
            <a:extLst xmlns:a="http://schemas.openxmlformats.org/drawingml/2006/main">
              <a:ext uri="{FF2B5EF4-FFF2-40B4-BE49-F238E27FC236}">
                <a16:creationId xmlns:a16="http://schemas.microsoft.com/office/drawing/2014/main" id="{E48E6D41-2C7E-4637-A216-ED26A06FD22B}"/>
              </a:ext>
            </a:extLst>
          </p:cNvPr>
          <p:cNvSpPr>
            <a:spLocks xmlns:a="http://schemas.openxmlformats.org/drawingml/2006/main" noGrp="1"/>
          </p:cNvSpPr>
          <p:nvPr/>
        </p:nvSpPr>
        <p:spPr>
          <a:xfrm xmlns:a="http://schemas.openxmlformats.org/drawingml/2006/main">
            <a:off x="2667000" y="2790825"/>
            <a:ext cx="381000" cy="1905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5C3350E-18B6-4348-9186-187A20CE1BEB}"/>
              </a:ext>
            </a:extLst>
          </p:cNvPr>
          <p:cNvSpPr>
            <a:spLocks xmlns:a="http://schemas.openxmlformats.org/drawingml/2006/main" noGrp="1"/>
          </p:cNvSpPr>
          <p:nvPr/>
        </p:nvSpPr>
        <p:spPr>
          <a:xfrm xmlns:a="http://schemas.openxmlformats.org/drawingml/2006/main">
            <a:off x="3333750" y="25717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A2336"/>
                </a:solidFill>
                <a:latin typeface="Calibri"/>
                <a:ea typeface="Calibri"/>
                <a:cs typeface="Calibri"/>
              </a:defRPr>
            </a:pPr>
            <a:r>
              <a:rPr sz="1350" b="0">
                <a:solidFill>
                  <a:srgbClr val="0A2336"/>
                </a:solidFill>
                <a:latin typeface="Calibri"/>
                <a:ea typeface="Calibri"/>
                <a:cs typeface="Calibri"/>
              </a:rPr>
              <a:t>next-day demand</a:t>
            </a:r>
          </a:p>
        </p:txBody>
      </p:sp>
      <p:sp>
        <p:nvSpPr>
          <p:cNvPr id="13" name="">
            <a:extLst xmlns:a="http://schemas.openxmlformats.org/drawingml/2006/main">
              <a:ext uri="{FF2B5EF4-FFF2-40B4-BE49-F238E27FC236}">
                <a16:creationId xmlns:a16="http://schemas.microsoft.com/office/drawing/2014/main" id="{148D85FB-CC77-4034-8A1E-5037981E02F4}"/>
              </a:ext>
            </a:extLst>
          </p:cNvPr>
          <p:cNvSpPr>
            <a:spLocks xmlns:a="http://schemas.openxmlformats.org/drawingml/2006/main" noGrp="1"/>
          </p:cNvSpPr>
          <p:nvPr/>
        </p:nvSpPr>
        <p:spPr>
          <a:xfrm xmlns:a="http://schemas.openxmlformats.org/drawingml/2006/main">
            <a:off x="857250" y="32004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2F776F"/>
                </a:solidFill>
                <a:latin typeface="Calibri"/>
                <a:ea typeface="Calibri"/>
                <a:cs typeface="Calibri"/>
              </a:defRPr>
            </a:pPr>
            <a:r>
              <a:rPr sz="825" b="1">
                <a:solidFill>
                  <a:srgbClr val="2F776F"/>
                </a:solidFill>
                <a:latin typeface="Calibri"/>
                <a:ea typeface="Calibri"/>
                <a:cs typeface="Calibri"/>
              </a:rPr>
              <a:t>FEATURES</a:t>
            </a:r>
          </a:p>
        </p:txBody>
      </p:sp>
      <p:sp>
        <p:nvSpPr>
          <p:cNvPr id="14" name="">
            <a:extLst xmlns:a="http://schemas.openxmlformats.org/drawingml/2006/main">
              <a:ext uri="{FF2B5EF4-FFF2-40B4-BE49-F238E27FC236}">
                <a16:creationId xmlns:a16="http://schemas.microsoft.com/office/drawing/2014/main" id="{F106906C-9654-4E33-A30D-23A7D4D25DC0}"/>
              </a:ext>
            </a:extLst>
          </p:cNvPr>
          <p:cNvSpPr>
            <a:spLocks xmlns:a="http://schemas.openxmlformats.org/drawingml/2006/main" noGrp="1"/>
          </p:cNvSpPr>
          <p:nvPr/>
        </p:nvSpPr>
        <p:spPr>
          <a:xfrm xmlns:a="http://schemas.openxmlformats.org/drawingml/2006/main">
            <a:off x="2667000" y="3343275"/>
            <a:ext cx="381000" cy="1905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232937E-78E4-4AF3-AB1F-16356D722F31}"/>
              </a:ext>
            </a:extLst>
          </p:cNvPr>
          <p:cNvSpPr>
            <a:spLocks xmlns:a="http://schemas.openxmlformats.org/drawingml/2006/main" noGrp="1"/>
          </p:cNvSpPr>
          <p:nvPr/>
        </p:nvSpPr>
        <p:spPr>
          <a:xfrm xmlns:a="http://schemas.openxmlformats.org/drawingml/2006/main">
            <a:off x="3333750" y="31242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A2336"/>
                </a:solidFill>
                <a:latin typeface="Calibri"/>
                <a:ea typeface="Calibri"/>
                <a:cs typeface="Calibri"/>
              </a:defRPr>
            </a:pPr>
            <a:r>
              <a:rPr sz="1350" b="0">
                <a:solidFill>
                  <a:srgbClr val="0A2336"/>
                </a:solidFill>
                <a:latin typeface="Calibri"/>
                <a:ea typeface="Calibri"/>
                <a:cs typeface="Calibri"/>
              </a:rPr>
              <a:t>calendar, lagged demand, weather, region</a:t>
            </a:r>
          </a:p>
        </p:txBody>
      </p:sp>
      <p:sp>
        <p:nvSpPr>
          <p:cNvPr id="16" name="">
            <a:extLst xmlns:a="http://schemas.openxmlformats.org/drawingml/2006/main">
              <a:ext uri="{FF2B5EF4-FFF2-40B4-BE49-F238E27FC236}">
                <a16:creationId xmlns:a16="http://schemas.microsoft.com/office/drawing/2014/main" id="{4C8D99EF-30FD-45BF-97CE-98DE6DE35958}"/>
              </a:ext>
            </a:extLst>
          </p:cNvPr>
          <p:cNvSpPr>
            <a:spLocks xmlns:a="http://schemas.openxmlformats.org/drawingml/2006/main" noGrp="1"/>
          </p:cNvSpPr>
          <p:nvPr/>
        </p:nvSpPr>
        <p:spPr>
          <a:xfrm xmlns:a="http://schemas.openxmlformats.org/drawingml/2006/main">
            <a:off x="857250" y="37528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2F776F"/>
                </a:solidFill>
                <a:latin typeface="Calibri"/>
                <a:ea typeface="Calibri"/>
                <a:cs typeface="Calibri"/>
              </a:defRPr>
            </a:pPr>
            <a:r>
              <a:rPr sz="825" b="1">
                <a:solidFill>
                  <a:srgbClr val="2F776F"/>
                </a:solidFill>
                <a:latin typeface="Calibri"/>
                <a:ea typeface="Calibri"/>
                <a:cs typeface="Calibri"/>
              </a:rPr>
              <a:t>SPLIT</a:t>
            </a:r>
          </a:p>
        </p:txBody>
      </p:sp>
      <p:sp>
        <p:nvSpPr>
          <p:cNvPr id="17" name="">
            <a:extLst xmlns:a="http://schemas.openxmlformats.org/drawingml/2006/main">
              <a:ext uri="{FF2B5EF4-FFF2-40B4-BE49-F238E27FC236}">
                <a16:creationId xmlns:a16="http://schemas.microsoft.com/office/drawing/2014/main" id="{8C6A9DA2-F3B8-4E03-B75E-BD0E92CF1880}"/>
              </a:ext>
            </a:extLst>
          </p:cNvPr>
          <p:cNvSpPr>
            <a:spLocks xmlns:a="http://schemas.openxmlformats.org/drawingml/2006/main" noGrp="1"/>
          </p:cNvSpPr>
          <p:nvPr/>
        </p:nvSpPr>
        <p:spPr>
          <a:xfrm xmlns:a="http://schemas.openxmlformats.org/drawingml/2006/main">
            <a:off x="2667000" y="3895725"/>
            <a:ext cx="381000" cy="1905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39822C4-67FA-44BF-8962-0CCCC6F378D1}"/>
              </a:ext>
            </a:extLst>
          </p:cNvPr>
          <p:cNvSpPr>
            <a:spLocks xmlns:a="http://schemas.openxmlformats.org/drawingml/2006/main" noGrp="1"/>
          </p:cNvSpPr>
          <p:nvPr/>
        </p:nvSpPr>
        <p:spPr>
          <a:xfrm xmlns:a="http://schemas.openxmlformats.org/drawingml/2006/main">
            <a:off x="3333750" y="36766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A2336"/>
                </a:solidFill>
                <a:latin typeface="Calibri"/>
                <a:ea typeface="Calibri"/>
                <a:cs typeface="Calibri"/>
              </a:defRPr>
            </a:pPr>
            <a:r>
              <a:rPr sz="1350" b="1">
                <a:solidFill>
                  <a:srgbClr val="0A2336"/>
                </a:solidFill>
                <a:latin typeface="Calibri"/>
                <a:ea typeface="Calibri"/>
                <a:cs typeface="Calibri"/>
              </a:rPr>
              <a:t>chronological train / validation / test</a:t>
            </a:r>
          </a:p>
        </p:txBody>
      </p:sp>
      <p:sp>
        <p:nvSpPr>
          <p:cNvPr id="19" name="">
            <a:extLst xmlns:a="http://schemas.openxmlformats.org/drawingml/2006/main">
              <a:ext uri="{FF2B5EF4-FFF2-40B4-BE49-F238E27FC236}">
                <a16:creationId xmlns:a16="http://schemas.microsoft.com/office/drawing/2014/main" id="{47324339-9506-48E5-B447-C5B9EBF6A4CD}"/>
              </a:ext>
            </a:extLst>
          </p:cNvPr>
          <p:cNvSpPr>
            <a:spLocks xmlns:a="http://schemas.openxmlformats.org/drawingml/2006/main" noGrp="1"/>
          </p:cNvSpPr>
          <p:nvPr/>
        </p:nvSpPr>
        <p:spPr>
          <a:xfrm xmlns:a="http://schemas.openxmlformats.org/drawingml/2006/main">
            <a:off x="857250" y="4305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2F776F"/>
                </a:solidFill>
                <a:latin typeface="Calibri"/>
                <a:ea typeface="Calibri"/>
                <a:cs typeface="Calibri"/>
              </a:defRPr>
            </a:pPr>
            <a:r>
              <a:rPr sz="825" b="1">
                <a:solidFill>
                  <a:srgbClr val="2F776F"/>
                </a:solidFill>
                <a:latin typeface="Calibri"/>
                <a:ea typeface="Calibri"/>
                <a:cs typeface="Calibri"/>
              </a:rPr>
              <a:t>SEED</a:t>
            </a:r>
          </a:p>
        </p:txBody>
      </p:sp>
      <p:sp>
        <p:nvSpPr>
          <p:cNvPr id="20" name="">
            <a:extLst xmlns:a="http://schemas.openxmlformats.org/drawingml/2006/main">
              <a:ext uri="{FF2B5EF4-FFF2-40B4-BE49-F238E27FC236}">
                <a16:creationId xmlns:a16="http://schemas.microsoft.com/office/drawing/2014/main" id="{FC1559A7-0209-4AD2-8BA3-CBB698452A71}"/>
              </a:ext>
            </a:extLst>
          </p:cNvPr>
          <p:cNvSpPr>
            <a:spLocks xmlns:a="http://schemas.openxmlformats.org/drawingml/2006/main" noGrp="1"/>
          </p:cNvSpPr>
          <p:nvPr/>
        </p:nvSpPr>
        <p:spPr>
          <a:xfrm xmlns:a="http://schemas.openxmlformats.org/drawingml/2006/main">
            <a:off x="2667000" y="4448175"/>
            <a:ext cx="381000" cy="1905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9E7624B-744E-42C7-8B7E-5D245B37F294}"/>
              </a:ext>
            </a:extLst>
          </p:cNvPr>
          <p:cNvSpPr>
            <a:spLocks xmlns:a="http://schemas.openxmlformats.org/drawingml/2006/main" noGrp="1"/>
          </p:cNvSpPr>
          <p:nvPr/>
        </p:nvSpPr>
        <p:spPr>
          <a:xfrm xmlns:a="http://schemas.openxmlformats.org/drawingml/2006/main">
            <a:off x="3333750" y="42291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A2336"/>
                </a:solidFill>
                <a:latin typeface="Calibri"/>
                <a:ea typeface="Calibri"/>
                <a:cs typeface="Calibri"/>
              </a:defRPr>
            </a:pPr>
            <a:r>
              <a:rPr sz="1350" b="0">
                <a:solidFill>
                  <a:srgbClr val="0A2336"/>
                </a:solidFill>
                <a:latin typeface="Calibri"/>
                <a:ea typeface="Calibri"/>
                <a:cs typeface="Calibri"/>
              </a:rPr>
              <a:t>42</a:t>
            </a:r>
          </a:p>
        </p:txBody>
      </p:sp>
      <p:sp>
        <p:nvSpPr>
          <p:cNvPr id="22" name="">
            <a:extLst xmlns:a="http://schemas.openxmlformats.org/drawingml/2006/main">
              <a:ext uri="{FF2B5EF4-FFF2-40B4-BE49-F238E27FC236}">
                <a16:creationId xmlns:a16="http://schemas.microsoft.com/office/drawing/2014/main" id="{1FD27677-BDF0-4903-B42F-57F49B1AC5C7}"/>
              </a:ext>
            </a:extLst>
          </p:cNvPr>
          <p:cNvSpPr>
            <a:spLocks xmlns:a="http://schemas.openxmlformats.org/drawingml/2006/main" noGrp="1"/>
          </p:cNvSpPr>
          <p:nvPr/>
        </p:nvSpPr>
        <p:spPr>
          <a:xfrm xmlns:a="http://schemas.openxmlformats.org/drawingml/2006/main">
            <a:off x="857250" y="48577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2F776F"/>
                </a:solidFill>
                <a:latin typeface="Calibri"/>
                <a:ea typeface="Calibri"/>
                <a:cs typeface="Calibri"/>
              </a:defRPr>
            </a:pPr>
            <a:r>
              <a:rPr sz="825" b="1">
                <a:solidFill>
                  <a:srgbClr val="2F776F"/>
                </a:solidFill>
                <a:latin typeface="Calibri"/>
                <a:ea typeface="Calibri"/>
                <a:cs typeface="Calibri"/>
              </a:rPr>
              <a:t>SELECTION</a:t>
            </a:r>
          </a:p>
        </p:txBody>
      </p:sp>
      <p:sp>
        <p:nvSpPr>
          <p:cNvPr id="23" name="">
            <a:extLst xmlns:a="http://schemas.openxmlformats.org/drawingml/2006/main">
              <a:ext uri="{FF2B5EF4-FFF2-40B4-BE49-F238E27FC236}">
                <a16:creationId xmlns:a16="http://schemas.microsoft.com/office/drawing/2014/main" id="{7524AC4B-BF51-483D-A123-0037816F29C7}"/>
              </a:ext>
            </a:extLst>
          </p:cNvPr>
          <p:cNvSpPr>
            <a:spLocks xmlns:a="http://schemas.openxmlformats.org/drawingml/2006/main" noGrp="1"/>
          </p:cNvSpPr>
          <p:nvPr/>
        </p:nvSpPr>
        <p:spPr>
          <a:xfrm xmlns:a="http://schemas.openxmlformats.org/drawingml/2006/main">
            <a:off x="2667000" y="5000625"/>
            <a:ext cx="381000" cy="19050"/>
          </a:xfrm>
          <a:prstGeom xmlns:a="http://schemas.openxmlformats.org/drawingml/2006/main" prst="rect">
            <a:avLst/>
          </a:prstGeom>
          <a:solidFill xmlns:a="http://schemas.openxmlformats.org/drawingml/2006/main">
            <a:srgbClr val="DCA24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702AB30-5727-4DB0-82A6-4F4AF294F8F0}"/>
              </a:ext>
            </a:extLst>
          </p:cNvPr>
          <p:cNvSpPr>
            <a:spLocks xmlns:a="http://schemas.openxmlformats.org/drawingml/2006/main" noGrp="1"/>
          </p:cNvSpPr>
          <p:nvPr/>
        </p:nvSpPr>
        <p:spPr>
          <a:xfrm xmlns:a="http://schemas.openxmlformats.org/drawingml/2006/main">
            <a:off x="3333750" y="47815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A2336"/>
                </a:solidFill>
                <a:latin typeface="Calibri"/>
                <a:ea typeface="Calibri"/>
                <a:cs typeface="Calibri"/>
              </a:defRPr>
            </a:pPr>
            <a:r>
              <a:rPr sz="1350" b="0">
                <a:solidFill>
                  <a:srgbClr val="0A2336"/>
                </a:solidFill>
                <a:latin typeface="Calibri"/>
                <a:ea typeface="Calibri"/>
                <a:cs typeface="Calibri"/>
              </a:rPr>
              <a:t>validation RMSE</a:t>
            </a:r>
          </a:p>
        </p:txBody>
      </p:sp>
      <p:sp>
        <p:nvSpPr>
          <p:cNvPr id="25" name="">
            <a:extLst xmlns:a="http://schemas.openxmlformats.org/drawingml/2006/main">
              <a:ext uri="{FF2B5EF4-FFF2-40B4-BE49-F238E27FC236}">
                <a16:creationId xmlns:a16="http://schemas.microsoft.com/office/drawing/2014/main" id="{ACDC7D3D-0EEE-43EC-A9B0-E635597F181E}"/>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The design is frozen before test performance is inspected.</a:t>
            </a:r>
          </a:p>
        </p:txBody>
      </p:sp>
    </p:spTree>
    <p:extLst>
      <p:ext uri="{BB962C8B-B14F-4D97-AF65-F5344CB8AC3E}">
        <p14:creationId xmlns:p14="http://schemas.microsoft.com/office/powerpoint/2010/main" val="2115145407"/>
      </p:ext>
    </p:extLst>
  </p:cSld>
</p:sld>
</file>

<file path=ppt/slides/slide20.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5B1424F-E380-4E0D-B1D7-9E9F6CA350FC}"/>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59C7E792-8859-42BF-B481-C8D11720672D}"/>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72EF91D2-1174-41A4-9B1E-78ADE66D6DB3}"/>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20</a:t>
            </a:r>
          </a:p>
        </p:txBody>
      </p:sp>
      <p:sp>
        <p:nvSpPr>
          <p:cNvPr id="4" name="">
            <a:extLst xmlns:a="http://schemas.openxmlformats.org/drawingml/2006/main">
              <a:ext uri="{FF2B5EF4-FFF2-40B4-BE49-F238E27FC236}">
                <a16:creationId xmlns:a16="http://schemas.microsoft.com/office/drawing/2014/main" id="{0F12A376-E406-450B-A133-C8696362CE53}"/>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1478836-EDBE-4B3E-9888-B9D7A24A65F6}"/>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WORKED RESULT</a:t>
            </a:r>
          </a:p>
        </p:txBody>
      </p:sp>
      <p:sp>
        <p:nvSpPr>
          <p:cNvPr id="6" name="">
            <a:extLst xmlns:a="http://schemas.openxmlformats.org/drawingml/2006/main">
              <a:ext uri="{FF2B5EF4-FFF2-40B4-BE49-F238E27FC236}">
                <a16:creationId xmlns:a16="http://schemas.microsoft.com/office/drawing/2014/main" id="{6EB31F6A-A591-4B9C-BD2E-3DE5AF266D09}"/>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The learned regression model improves on both declared baselines</a:t>
            </a:r>
          </a:p>
        </p:txBody>
      </p:sp>
      <p:graphicFrame>
        <p:nvGraphicFramePr>
          <p:cNvPr id="21" name="Chart"/>
          <p:cNvGraphicFramePr/>
          <p:nvPr/>
        </p:nvGraphicFramePr>
        <p:xfrm>
          <a:off xmlns:a="http://schemas.openxmlformats.org/drawingml/2006/main" x="1047750" y="2143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4dc8128af36a4f7b"/>
          </a:graphicData>
        </a:graphic>
      </p:graphicFrame>
      <p:sp>
        <p:nvSpPr>
          <p:cNvPr id="8" name="">
            <a:extLst xmlns:a="http://schemas.openxmlformats.org/drawingml/2006/main">
              <a:ext uri="{FF2B5EF4-FFF2-40B4-BE49-F238E27FC236}">
                <a16:creationId xmlns:a16="http://schemas.microsoft.com/office/drawing/2014/main" id="{699F3D27-26D2-4200-B574-E9F01A837516}"/>
              </a:ext>
            </a:extLst>
          </p:cNvPr>
          <p:cNvSpPr>
            <a:spLocks xmlns:a="http://schemas.openxmlformats.org/drawingml/2006/main" noGrp="1"/>
          </p:cNvSpPr>
          <p:nvPr/>
        </p:nvSpPr>
        <p:spPr>
          <a:xfrm xmlns:a="http://schemas.openxmlformats.org/drawingml/2006/main">
            <a:off x="8572500" y="2381250"/>
            <a:ext cx="2571750" cy="1143000"/>
          </a:xfrm>
          <a:prstGeom xmlns:a="http://schemas.openxmlformats.org/drawingml/2006/main" prst="roundRect">
            <a:avLst>
              <a:gd name="adj" fmla="val 6667"/>
            </a:avLst>
          </a:prstGeom>
          <a:solidFill xmlns:a="http://schemas.openxmlformats.org/drawingml/2006/main">
            <a:srgbClr val="0A233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C50879-3CE8-4650-BFA4-47024828470F}"/>
              </a:ext>
            </a:extLst>
          </p:cNvPr>
          <p:cNvSpPr>
            <a:spLocks xmlns:a="http://schemas.openxmlformats.org/drawingml/2006/main" noGrp="1"/>
          </p:cNvSpPr>
          <p:nvPr/>
        </p:nvSpPr>
        <p:spPr>
          <a:xfrm xmlns:a="http://schemas.openxmlformats.org/drawingml/2006/main">
            <a:off x="8743950" y="2533650"/>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SELECTED RESULT</a:t>
            </a:r>
          </a:p>
        </p:txBody>
      </p:sp>
      <p:sp>
        <p:nvSpPr>
          <p:cNvPr id="10" name="">
            <a:extLst xmlns:a="http://schemas.openxmlformats.org/drawingml/2006/main">
              <a:ext uri="{FF2B5EF4-FFF2-40B4-BE49-F238E27FC236}">
                <a16:creationId xmlns:a16="http://schemas.microsoft.com/office/drawing/2014/main" id="{F5AB8B09-0DF5-4BE3-AD1F-E1507C9040D3}"/>
              </a:ext>
            </a:extLst>
          </p:cNvPr>
          <p:cNvSpPr>
            <a:spLocks xmlns:a="http://schemas.openxmlformats.org/drawingml/2006/main" noGrp="1"/>
          </p:cNvSpPr>
          <p:nvPr/>
        </p:nvSpPr>
        <p:spPr>
          <a:xfrm xmlns:a="http://schemas.openxmlformats.org/drawingml/2006/main">
            <a:off x="8743950" y="2838450"/>
            <a:ext cx="2228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RMSE 30.876</a:t>
            </a:r>
          </a:p>
        </p:txBody>
      </p:sp>
      <p:sp>
        <p:nvSpPr>
          <p:cNvPr id="11" name="">
            <a:extLst xmlns:a="http://schemas.openxmlformats.org/drawingml/2006/main">
              <a:ext uri="{FF2B5EF4-FFF2-40B4-BE49-F238E27FC236}">
                <a16:creationId xmlns:a16="http://schemas.microsoft.com/office/drawing/2014/main" id="{9470C9C8-768D-430F-91E0-236B83092576}"/>
              </a:ext>
            </a:extLst>
          </p:cNvPr>
          <p:cNvSpPr>
            <a:spLocks xmlns:a="http://schemas.openxmlformats.org/drawingml/2006/main" noGrp="1"/>
          </p:cNvSpPr>
          <p:nvPr/>
        </p:nvSpPr>
        <p:spPr>
          <a:xfrm xmlns:a="http://schemas.openxmlformats.org/drawingml/2006/main">
            <a:off x="8572500" y="3762375"/>
            <a:ext cx="2571750" cy="1143000"/>
          </a:xfrm>
          <a:prstGeom xmlns:a="http://schemas.openxmlformats.org/drawingml/2006/main" prst="roundRect">
            <a:avLst>
              <a:gd name="adj" fmla="val 6667"/>
            </a:avLst>
          </a:prstGeom>
          <a:solidFill xmlns:a="http://schemas.openxmlformats.org/drawingml/2006/main">
            <a:srgbClr val="DCA24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6BFF5E7-BA19-4A63-9ACA-9A0C669AD1B2}"/>
              </a:ext>
            </a:extLst>
          </p:cNvPr>
          <p:cNvSpPr>
            <a:spLocks xmlns:a="http://schemas.openxmlformats.org/drawingml/2006/main" noGrp="1"/>
          </p:cNvSpPr>
          <p:nvPr/>
        </p:nvSpPr>
        <p:spPr>
          <a:xfrm xmlns:a="http://schemas.openxmlformats.org/drawingml/2006/main">
            <a:off x="8743950" y="39147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03172A"/>
                </a:solidFill>
                <a:latin typeface="Calibri"/>
                <a:ea typeface="Calibri"/>
                <a:cs typeface="Calibri"/>
              </a:defRPr>
            </a:pPr>
            <a:r>
              <a:rPr sz="750" b="1">
                <a:solidFill>
                  <a:srgbClr val="03172A"/>
                </a:solidFill>
                <a:latin typeface="Calibri"/>
                <a:ea typeface="Calibri"/>
                <a:cs typeface="Calibri"/>
              </a:rPr>
              <a:t>RELATIVE GAIN</a:t>
            </a:r>
          </a:p>
        </p:txBody>
      </p:sp>
      <p:sp>
        <p:nvSpPr>
          <p:cNvPr id="13" name="">
            <a:extLst xmlns:a="http://schemas.openxmlformats.org/drawingml/2006/main">
              <a:ext uri="{FF2B5EF4-FFF2-40B4-BE49-F238E27FC236}">
                <a16:creationId xmlns:a16="http://schemas.microsoft.com/office/drawing/2014/main" id="{2D8B5299-6F31-460D-BA24-E1943DFD3DE4}"/>
              </a:ext>
            </a:extLst>
          </p:cNvPr>
          <p:cNvSpPr>
            <a:spLocks xmlns:a="http://schemas.openxmlformats.org/drawingml/2006/main" noGrp="1"/>
          </p:cNvSpPr>
          <p:nvPr/>
        </p:nvSpPr>
        <p:spPr>
          <a:xfrm xmlns:a="http://schemas.openxmlformats.org/drawingml/2006/main">
            <a:off x="8743950" y="4219575"/>
            <a:ext cx="2228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23.8% vs seasonal</a:t>
            </a:r>
          </a:p>
        </p:txBody>
      </p:sp>
      <p:sp>
        <p:nvSpPr>
          <p:cNvPr id="14" name="">
            <a:extLst xmlns:a="http://schemas.openxmlformats.org/drawingml/2006/main">
              <a:ext uri="{FF2B5EF4-FFF2-40B4-BE49-F238E27FC236}">
                <a16:creationId xmlns:a16="http://schemas.microsoft.com/office/drawing/2014/main" id="{46CAFA02-31D6-4161-8931-4E08BE55C8C7}"/>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Same temporal test · same target · same information boundary.</a:t>
            </a:r>
          </a:p>
        </p:txBody>
      </p:sp>
    </p:spTree>
    <p:extLst>
      <p:ext uri="{BB962C8B-B14F-4D97-AF65-F5344CB8AC3E}">
        <p14:creationId xmlns:p14="http://schemas.microsoft.com/office/powerpoint/2010/main" val="906386290"/>
      </p:ext>
    </p:extLst>
  </p:cSld>
</p:sld>
</file>

<file path=ppt/slides/slide21.xml><?xml version="1.0" encoding="utf-8"?>
<p:sld xmlns:p="http://schemas.openxmlformats.org/presentationml/2006/main">
  <p:cSld>
    <p:bg>
      <p:bgPr>
        <a:solidFill xmlns:a="http://schemas.openxmlformats.org/drawingml/2006/main">
          <a:srgbClr val="03172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872C76-83FC-4D5D-BBC4-F14BFDF69CD8}"/>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A3DD9D73-295C-4BFC-BD57-ADF427B8E33B}"/>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67B7B4"/>
                </a:solidFill>
                <a:latin typeface="Calibri"/>
                <a:ea typeface="Calibri"/>
                <a:cs typeface="Calibri"/>
              </a:defRPr>
            </a:pPr>
            <a:r>
              <a:rPr sz="750" b="1">
                <a:solidFill>
                  <a:srgbClr val="67B7B4"/>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C5CD4B17-0631-448B-9835-FCBEC8911D78}"/>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7B7B4"/>
                </a:solidFill>
                <a:latin typeface="Calibri"/>
                <a:ea typeface="Calibri"/>
                <a:cs typeface="Calibri"/>
              </a:defRPr>
            </a:pPr>
            <a:r>
              <a:rPr sz="750" b="1">
                <a:solidFill>
                  <a:srgbClr val="67B7B4"/>
                </a:solidFill>
                <a:latin typeface="Calibri"/>
                <a:ea typeface="Calibri"/>
                <a:cs typeface="Calibri"/>
              </a:rPr>
              <a:t>21</a:t>
            </a:r>
          </a:p>
        </p:txBody>
      </p:sp>
      <p:sp>
        <p:nvSpPr>
          <p:cNvPr id="4" name="">
            <a:extLst xmlns:a="http://schemas.openxmlformats.org/drawingml/2006/main">
              <a:ext uri="{FF2B5EF4-FFF2-40B4-BE49-F238E27FC236}">
                <a16:creationId xmlns:a16="http://schemas.microsoft.com/office/drawing/2014/main" id="{DB3E005B-BEAA-48AF-BD0B-70EB7757E7A8}"/>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2F77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A3BD3C-A05E-411E-9814-04A380A4F3F1}"/>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LEAKAGE DEMONSTRATION</a:t>
            </a:r>
          </a:p>
        </p:txBody>
      </p:sp>
      <p:sp>
        <p:nvSpPr>
          <p:cNvPr id="6" name="">
            <a:extLst xmlns:a="http://schemas.openxmlformats.org/drawingml/2006/main">
              <a:ext uri="{FF2B5EF4-FFF2-40B4-BE49-F238E27FC236}">
                <a16:creationId xmlns:a16="http://schemas.microsoft.com/office/drawing/2014/main" id="{A6FF8176-C465-44F0-AA92-12DF5177B1D2}"/>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FFFFFF"/>
                </a:solidFill>
                <a:latin typeface="Calibri"/>
                <a:ea typeface="Calibri"/>
                <a:cs typeface="Calibri"/>
              </a:defRPr>
            </a:pPr>
            <a:r>
              <a:rPr sz="2100" b="0">
                <a:solidFill>
                  <a:srgbClr val="FFFFFF"/>
                </a:solidFill>
                <a:latin typeface="Calibri"/>
                <a:ea typeface="Calibri"/>
                <a:cs typeface="Calibri"/>
              </a:rPr>
              <a:t>An invalid feature transforms plausible performance into false certainty</a:t>
            </a:r>
          </a:p>
        </p:txBody>
      </p:sp>
      <p:sp>
        <p:nvSpPr>
          <p:cNvPr id="7" name="">
            <a:extLst xmlns:a="http://schemas.openxmlformats.org/drawingml/2006/main">
              <a:ext uri="{FF2B5EF4-FFF2-40B4-BE49-F238E27FC236}">
                <a16:creationId xmlns:a16="http://schemas.microsoft.com/office/drawing/2014/main" id="{0AE20863-7550-4ABC-BE7E-1543FEC50853}"/>
              </a:ext>
            </a:extLst>
          </p:cNvPr>
          <p:cNvSpPr>
            <a:spLocks xmlns:a="http://schemas.openxmlformats.org/drawingml/2006/main" noGrp="1"/>
          </p:cNvSpPr>
          <p:nvPr/>
        </p:nvSpPr>
        <p:spPr>
          <a:xfrm xmlns:a="http://schemas.openxmlformats.org/drawingml/2006/main">
            <a:off x="457200" y="1581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DDE8E7"/>
                </a:solidFill>
                <a:latin typeface="Calibri"/>
                <a:ea typeface="Calibri"/>
                <a:cs typeface="Calibri"/>
              </a:defRPr>
            </a:pPr>
            <a:r>
              <a:rPr sz="1200" b="0">
                <a:solidFill>
                  <a:srgbClr val="DDE8E7"/>
                </a:solidFill>
                <a:latin typeface="Calibri"/>
                <a:ea typeface="Calibri"/>
                <a:cs typeface="Calibri"/>
              </a:rPr>
              <a:t>The leaked result is numerically reproducible—and scientifically rejected.</a:t>
            </a:r>
          </a:p>
        </p:txBody>
      </p:sp>
      <p:sp>
        <p:nvSpPr>
          <p:cNvPr id="8" name="">
            <a:extLst xmlns:a="http://schemas.openxmlformats.org/drawingml/2006/main">
              <a:ext uri="{FF2B5EF4-FFF2-40B4-BE49-F238E27FC236}">
                <a16:creationId xmlns:a16="http://schemas.microsoft.com/office/drawing/2014/main" id="{DBEE1171-F777-404F-A48C-0449DC389FDA}"/>
              </a:ext>
            </a:extLst>
          </p:cNvPr>
          <p:cNvSpPr>
            <a:spLocks xmlns:a="http://schemas.openxmlformats.org/drawingml/2006/main" noGrp="1"/>
          </p:cNvSpPr>
          <p:nvPr/>
        </p:nvSpPr>
        <p:spPr>
          <a:xfrm xmlns:a="http://schemas.openxmlformats.org/drawingml/2006/main">
            <a:off x="1476375" y="2333625"/>
            <a:ext cx="4000500" cy="2095500"/>
          </a:xfrm>
          <a:prstGeom xmlns:a="http://schemas.openxmlformats.org/drawingml/2006/main" prst="roundRect">
            <a:avLst>
              <a:gd name="adj" fmla="val 3636"/>
            </a:avLst>
          </a:prstGeom>
          <a:solidFill xmlns:a="http://schemas.openxmlformats.org/drawingml/2006/main">
            <a:srgbClr val="2F776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EE8D152-F153-47B7-B726-15D1BFCF47AF}"/>
              </a:ext>
            </a:extLst>
          </p:cNvPr>
          <p:cNvSpPr>
            <a:spLocks xmlns:a="http://schemas.openxmlformats.org/drawingml/2006/main" noGrp="1"/>
          </p:cNvSpPr>
          <p:nvPr/>
        </p:nvSpPr>
        <p:spPr>
          <a:xfrm xmlns:a="http://schemas.openxmlformats.org/drawingml/2006/main">
            <a:off x="1647825" y="2486025"/>
            <a:ext cx="365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VALID EXPERIMENT</a:t>
            </a:r>
          </a:p>
        </p:txBody>
      </p:sp>
      <p:sp>
        <p:nvSpPr>
          <p:cNvPr id="10" name="">
            <a:extLst xmlns:a="http://schemas.openxmlformats.org/drawingml/2006/main">
              <a:ext uri="{FF2B5EF4-FFF2-40B4-BE49-F238E27FC236}">
                <a16:creationId xmlns:a16="http://schemas.microsoft.com/office/drawing/2014/main" id="{AF736D7E-AB6C-4F95-AD1A-26990D90F2E8}"/>
              </a:ext>
            </a:extLst>
          </p:cNvPr>
          <p:cNvSpPr>
            <a:spLocks xmlns:a="http://schemas.openxmlformats.org/drawingml/2006/main" noGrp="1"/>
          </p:cNvSpPr>
          <p:nvPr/>
        </p:nvSpPr>
        <p:spPr>
          <a:xfrm xmlns:a="http://schemas.openxmlformats.org/drawingml/2006/main">
            <a:off x="1647825" y="2790825"/>
            <a:ext cx="36576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RMSE 30.876</a:t>
            </a:r>
          </a:p>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chronological boundary respected</a:t>
            </a:r>
          </a:p>
        </p:txBody>
      </p:sp>
      <p:sp>
        <p:nvSpPr>
          <p:cNvPr id="11" name="">
            <a:extLst xmlns:a="http://schemas.openxmlformats.org/drawingml/2006/main">
              <a:ext uri="{FF2B5EF4-FFF2-40B4-BE49-F238E27FC236}">
                <a16:creationId xmlns:a16="http://schemas.microsoft.com/office/drawing/2014/main" id="{7DD57C51-6EC0-4655-93C8-A42092EE9714}"/>
              </a:ext>
            </a:extLst>
          </p:cNvPr>
          <p:cNvSpPr>
            <a:spLocks xmlns:a="http://schemas.openxmlformats.org/drawingml/2006/main" noGrp="1"/>
          </p:cNvSpPr>
          <p:nvPr/>
        </p:nvSpPr>
        <p:spPr>
          <a:xfrm xmlns:a="http://schemas.openxmlformats.org/drawingml/2006/main">
            <a:off x="6715125" y="2333625"/>
            <a:ext cx="4000500" cy="2095500"/>
          </a:xfrm>
          <a:prstGeom xmlns:a="http://schemas.openxmlformats.org/drawingml/2006/main" prst="roundRect">
            <a:avLst>
              <a:gd name="adj" fmla="val 3636"/>
            </a:avLst>
          </a:prstGeom>
          <a:solidFill xmlns:a="http://schemas.openxmlformats.org/drawingml/2006/main">
            <a:srgbClr val="DCA24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7D7D3F7-E642-4942-9687-A75B16110100}"/>
              </a:ext>
            </a:extLst>
          </p:cNvPr>
          <p:cNvSpPr>
            <a:spLocks xmlns:a="http://schemas.openxmlformats.org/drawingml/2006/main" noGrp="1"/>
          </p:cNvSpPr>
          <p:nvPr/>
        </p:nvSpPr>
        <p:spPr>
          <a:xfrm xmlns:a="http://schemas.openxmlformats.org/drawingml/2006/main">
            <a:off x="6886575" y="2486025"/>
            <a:ext cx="365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03172A"/>
                </a:solidFill>
                <a:latin typeface="Calibri"/>
                <a:ea typeface="Calibri"/>
                <a:cs typeface="Calibri"/>
              </a:defRPr>
            </a:pPr>
            <a:r>
              <a:rPr sz="750" b="1">
                <a:solidFill>
                  <a:srgbClr val="03172A"/>
                </a:solidFill>
                <a:latin typeface="Calibri"/>
                <a:ea typeface="Calibri"/>
                <a:cs typeface="Calibri"/>
              </a:rPr>
              <a:t>LEAKED EXPERIMENT</a:t>
            </a:r>
          </a:p>
        </p:txBody>
      </p:sp>
      <p:sp>
        <p:nvSpPr>
          <p:cNvPr id="13" name="">
            <a:extLst xmlns:a="http://schemas.openxmlformats.org/drawingml/2006/main">
              <a:ext uri="{FF2B5EF4-FFF2-40B4-BE49-F238E27FC236}">
                <a16:creationId xmlns:a16="http://schemas.microsoft.com/office/drawing/2014/main" id="{E8C1C8FD-73DC-41E4-8BCF-50800EA6EB26}"/>
              </a:ext>
            </a:extLst>
          </p:cNvPr>
          <p:cNvSpPr>
            <a:spLocks xmlns:a="http://schemas.openxmlformats.org/drawingml/2006/main" noGrp="1"/>
          </p:cNvSpPr>
          <p:nvPr/>
        </p:nvSpPr>
        <p:spPr>
          <a:xfrm xmlns:a="http://schemas.openxmlformats.org/drawingml/2006/main">
            <a:off x="6886575" y="2790825"/>
            <a:ext cx="36576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RMSE 2.048</a:t>
            </a:r>
          </a:p>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post-outcome variable included</a:t>
            </a:r>
          </a:p>
        </p:txBody>
      </p:sp>
      <p:sp>
        <p:nvSpPr>
          <p:cNvPr id="14" name="">
            <a:extLst xmlns:a="http://schemas.openxmlformats.org/drawingml/2006/main">
              <a:ext uri="{FF2B5EF4-FFF2-40B4-BE49-F238E27FC236}">
                <a16:creationId xmlns:a16="http://schemas.microsoft.com/office/drawing/2014/main" id="{CB872CAF-E1A0-44C0-AA12-517FFE92F8D0}"/>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CA24A"/>
                </a:solidFill>
                <a:latin typeface="Calibri"/>
                <a:ea typeface="Calibri"/>
                <a:cs typeface="Calibri"/>
              </a:defRPr>
            </a:pPr>
            <a:r>
              <a:rPr sz="1050" b="1">
                <a:solidFill>
                  <a:srgbClr val="DCA24A"/>
                </a:solidFill>
                <a:latin typeface="Calibri"/>
                <a:ea typeface="Calibri"/>
                <a:cs typeface="Calibri"/>
              </a:rPr>
              <a:t>Reject the 2.048 result: it estimates an impossible operating system.</a:t>
            </a:r>
          </a:p>
        </p:txBody>
      </p:sp>
    </p:spTree>
    <p:extLst>
      <p:ext uri="{BB962C8B-B14F-4D97-AF65-F5344CB8AC3E}">
        <p14:creationId xmlns:p14="http://schemas.microsoft.com/office/powerpoint/2010/main" val="1935113333"/>
      </p:ext>
    </p:extLst>
  </p:cSld>
</p:sld>
</file>

<file path=ppt/slides/slide22.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7D51F34-88D1-44ED-8BCB-85A1D61B7BA3}"/>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D07B5ABF-FD2C-4593-B770-F43C30FE3852}"/>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66AF808B-35C6-4812-ADCE-09C5872A4FEA}"/>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22</a:t>
            </a:r>
          </a:p>
        </p:txBody>
      </p:sp>
      <p:sp>
        <p:nvSpPr>
          <p:cNvPr id="4" name="">
            <a:extLst xmlns:a="http://schemas.openxmlformats.org/drawingml/2006/main">
              <a:ext uri="{FF2B5EF4-FFF2-40B4-BE49-F238E27FC236}">
                <a16:creationId xmlns:a16="http://schemas.microsoft.com/office/drawing/2014/main" id="{85417227-378C-4C87-A026-F1CF0DA66C7B}"/>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AAC52A-C430-4B67-824C-C87F810CCD17}"/>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CLASSIFICATION RESULT</a:t>
            </a:r>
          </a:p>
        </p:txBody>
      </p:sp>
      <p:sp>
        <p:nvSpPr>
          <p:cNvPr id="6" name="">
            <a:extLst xmlns:a="http://schemas.openxmlformats.org/drawingml/2006/main">
              <a:ext uri="{FF2B5EF4-FFF2-40B4-BE49-F238E27FC236}">
                <a16:creationId xmlns:a16="http://schemas.microsoft.com/office/drawing/2014/main" id="{1E26E021-FD77-48B5-A91D-0DB7DFBD805D}"/>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High-demand risk is evaluated as ranking plus threshold evidence</a:t>
            </a:r>
          </a:p>
        </p:txBody>
      </p:sp>
      <p:graphicFrame>
        <p:nvGraphicFramePr>
          <p:cNvPr id="21" name="Chart"/>
          <p:cNvGraphicFramePr/>
          <p:nvPr/>
        </p:nvGraphicFramePr>
        <p:xfrm>
          <a:off xmlns:a="http://schemas.openxmlformats.org/drawingml/2006/main" x="952500" y="2143125"/>
          <a:ext xmlns:a="http://schemas.openxmlformats.org/drawingml/2006/main" cx="7429500" cy="3333750"/>
        </p:xfrm>
        <a:graphic xmlns:a="http://schemas.openxmlformats.org/drawingml/2006/main">
          <a:graphicData uri="http://schemas.openxmlformats.org/drawingml/2006/chart">
            <c:chart xmlns:r="http://schemas.openxmlformats.org/officeDocument/2006/relationships" xmlns:c="http://schemas.openxmlformats.org/drawingml/2006/chart" r:id="Rbd7c7769be294ca1"/>
          </a:graphicData>
        </a:graphic>
      </p:graphicFrame>
      <p:sp>
        <p:nvSpPr>
          <p:cNvPr id="8" name="">
            <a:extLst xmlns:a="http://schemas.openxmlformats.org/drawingml/2006/main">
              <a:ext uri="{FF2B5EF4-FFF2-40B4-BE49-F238E27FC236}">
                <a16:creationId xmlns:a16="http://schemas.microsoft.com/office/drawing/2014/main" id="{451C2878-7F88-470F-942C-6A984965CCB4}"/>
              </a:ext>
            </a:extLst>
          </p:cNvPr>
          <p:cNvSpPr>
            <a:spLocks xmlns:a="http://schemas.openxmlformats.org/drawingml/2006/main" noGrp="1"/>
          </p:cNvSpPr>
          <p:nvPr/>
        </p:nvSpPr>
        <p:spPr>
          <a:xfrm xmlns:a="http://schemas.openxmlformats.org/drawingml/2006/main">
            <a:off x="8763000" y="2381250"/>
            <a:ext cx="2381250" cy="1143000"/>
          </a:xfrm>
          <a:prstGeom xmlns:a="http://schemas.openxmlformats.org/drawingml/2006/main" prst="roundRect">
            <a:avLst>
              <a:gd name="adj" fmla="val 6667"/>
            </a:avLst>
          </a:prstGeom>
          <a:solidFill xmlns:a="http://schemas.openxmlformats.org/drawingml/2006/main">
            <a:srgbClr val="0A233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3D1591-7F3D-4855-AD22-77CFC4B5BD96}"/>
              </a:ext>
            </a:extLst>
          </p:cNvPr>
          <p:cNvSpPr>
            <a:spLocks xmlns:a="http://schemas.openxmlformats.org/drawingml/2006/main" noGrp="1"/>
          </p:cNvSpPr>
          <p:nvPr/>
        </p:nvSpPr>
        <p:spPr>
          <a:xfrm xmlns:a="http://schemas.openxmlformats.org/drawingml/2006/main">
            <a:off x="8934450" y="2533650"/>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RANKING</a:t>
            </a:r>
          </a:p>
        </p:txBody>
      </p:sp>
      <p:sp>
        <p:nvSpPr>
          <p:cNvPr id="10" name="">
            <a:extLst xmlns:a="http://schemas.openxmlformats.org/drawingml/2006/main">
              <a:ext uri="{FF2B5EF4-FFF2-40B4-BE49-F238E27FC236}">
                <a16:creationId xmlns:a16="http://schemas.microsoft.com/office/drawing/2014/main" id="{C732510A-8791-4233-AEF8-DADE2ED0921A}"/>
              </a:ext>
            </a:extLst>
          </p:cNvPr>
          <p:cNvSpPr>
            <a:spLocks xmlns:a="http://schemas.openxmlformats.org/drawingml/2006/main" noGrp="1"/>
          </p:cNvSpPr>
          <p:nvPr/>
        </p:nvSpPr>
        <p:spPr>
          <a:xfrm xmlns:a="http://schemas.openxmlformats.org/drawingml/2006/main">
            <a:off x="8934450" y="2838450"/>
            <a:ext cx="2038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ROC AUC 0.955</a:t>
            </a:r>
          </a:p>
        </p:txBody>
      </p:sp>
      <p:sp>
        <p:nvSpPr>
          <p:cNvPr id="11" name="">
            <a:extLst xmlns:a="http://schemas.openxmlformats.org/drawingml/2006/main">
              <a:ext uri="{FF2B5EF4-FFF2-40B4-BE49-F238E27FC236}">
                <a16:creationId xmlns:a16="http://schemas.microsoft.com/office/drawing/2014/main" id="{08B4B02C-AD96-41CB-91D5-4AC87AB7EA1A}"/>
              </a:ext>
            </a:extLst>
          </p:cNvPr>
          <p:cNvSpPr>
            <a:spLocks xmlns:a="http://schemas.openxmlformats.org/drawingml/2006/main" noGrp="1"/>
          </p:cNvSpPr>
          <p:nvPr/>
        </p:nvSpPr>
        <p:spPr>
          <a:xfrm xmlns:a="http://schemas.openxmlformats.org/drawingml/2006/main">
            <a:off x="8763000" y="3762375"/>
            <a:ext cx="2381250" cy="1143000"/>
          </a:xfrm>
          <a:prstGeom xmlns:a="http://schemas.openxmlformats.org/drawingml/2006/main" prst="roundRect">
            <a:avLst>
              <a:gd name="adj" fmla="val 6667"/>
            </a:avLst>
          </a:prstGeom>
          <a:solidFill xmlns:a="http://schemas.openxmlformats.org/drawingml/2006/main">
            <a:srgbClr val="2F776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255A192-C883-4272-8C1B-A57E02FA47B9}"/>
              </a:ext>
            </a:extLst>
          </p:cNvPr>
          <p:cNvSpPr>
            <a:spLocks xmlns:a="http://schemas.openxmlformats.org/drawingml/2006/main" noGrp="1"/>
          </p:cNvSpPr>
          <p:nvPr/>
        </p:nvSpPr>
        <p:spPr>
          <a:xfrm xmlns:a="http://schemas.openxmlformats.org/drawingml/2006/main">
            <a:off x="8934450" y="391477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THRESHOLD</a:t>
            </a:r>
          </a:p>
        </p:txBody>
      </p:sp>
      <p:sp>
        <p:nvSpPr>
          <p:cNvPr id="13" name="">
            <a:extLst xmlns:a="http://schemas.openxmlformats.org/drawingml/2006/main">
              <a:ext uri="{FF2B5EF4-FFF2-40B4-BE49-F238E27FC236}">
                <a16:creationId xmlns:a16="http://schemas.microsoft.com/office/drawing/2014/main" id="{0803650E-6176-4458-91F3-B142446EDCA7}"/>
              </a:ext>
            </a:extLst>
          </p:cNvPr>
          <p:cNvSpPr>
            <a:spLocks xmlns:a="http://schemas.openxmlformats.org/drawingml/2006/main" noGrp="1"/>
          </p:cNvSpPr>
          <p:nvPr/>
        </p:nvSpPr>
        <p:spPr>
          <a:xfrm xmlns:a="http://schemas.openxmlformats.org/drawingml/2006/main">
            <a:off x="8934450" y="4219575"/>
            <a:ext cx="2038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F1 0.820</a:t>
            </a:r>
          </a:p>
        </p:txBody>
      </p:sp>
      <p:sp>
        <p:nvSpPr>
          <p:cNvPr id="14" name="">
            <a:extLst xmlns:a="http://schemas.openxmlformats.org/drawingml/2006/main">
              <a:ext uri="{FF2B5EF4-FFF2-40B4-BE49-F238E27FC236}">
                <a16:creationId xmlns:a16="http://schemas.microsoft.com/office/drawing/2014/main" id="{E9EB5559-A1C3-4DEE-BBF7-890D83266B6C}"/>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A strong score supports review; it does not select the intervention policy.</a:t>
            </a:r>
          </a:p>
        </p:txBody>
      </p:sp>
    </p:spTree>
    <p:extLst>
      <p:ext uri="{BB962C8B-B14F-4D97-AF65-F5344CB8AC3E}">
        <p14:creationId xmlns:p14="http://schemas.microsoft.com/office/powerpoint/2010/main" val="226435216"/>
      </p:ext>
    </p:extLst>
  </p:cSld>
</p:sld>
</file>

<file path=ppt/slides/slide23.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CA5867C-91A5-4910-B2DF-FCFE61384F28}"/>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471A0139-3834-4FBD-ADBF-A84CA03344D9}"/>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09E5923B-8D26-4200-841C-88F0E77C909A}"/>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23</a:t>
            </a:r>
          </a:p>
        </p:txBody>
      </p:sp>
      <p:sp>
        <p:nvSpPr>
          <p:cNvPr id="4" name="">
            <a:extLst xmlns:a="http://schemas.openxmlformats.org/drawingml/2006/main">
              <a:ext uri="{FF2B5EF4-FFF2-40B4-BE49-F238E27FC236}">
                <a16:creationId xmlns:a16="http://schemas.microsoft.com/office/drawing/2014/main" id="{1A0157BC-A213-48D2-AE35-38767A875800}"/>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E4299D-FBE1-4B32-AEC4-F47D852B176F}"/>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UNCERTAINTY AND SUBGROUPS</a:t>
            </a:r>
          </a:p>
        </p:txBody>
      </p:sp>
      <p:sp>
        <p:nvSpPr>
          <p:cNvPr id="6" name="">
            <a:extLst xmlns:a="http://schemas.openxmlformats.org/drawingml/2006/main">
              <a:ext uri="{FF2B5EF4-FFF2-40B4-BE49-F238E27FC236}">
                <a16:creationId xmlns:a16="http://schemas.microsoft.com/office/drawing/2014/main" id="{FF39088E-14A7-485A-B708-092742AB4F77}"/>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0A2336"/>
                </a:solidFill>
                <a:latin typeface="Calibri"/>
                <a:ea typeface="Calibri"/>
                <a:cs typeface="Calibri"/>
              </a:defRPr>
            </a:pPr>
            <a:r>
              <a:rPr sz="2100" b="0">
                <a:solidFill>
                  <a:srgbClr val="0A2336"/>
                </a:solidFill>
                <a:latin typeface="Calibri"/>
                <a:ea typeface="Calibri"/>
                <a:cs typeface="Calibri"/>
              </a:rPr>
              <a:t>Average performance must survive finite-sample and distribution checks</a:t>
            </a:r>
          </a:p>
        </p:txBody>
      </p:sp>
      <p:sp>
        <p:nvSpPr>
          <p:cNvPr id="7" name="">
            <a:extLst xmlns:a="http://schemas.openxmlformats.org/drawingml/2006/main">
              <a:ext uri="{FF2B5EF4-FFF2-40B4-BE49-F238E27FC236}">
                <a16:creationId xmlns:a16="http://schemas.microsoft.com/office/drawing/2014/main" id="{98AE6BBD-A6CA-463E-AAE8-157B483A4500}"/>
              </a:ext>
            </a:extLst>
          </p:cNvPr>
          <p:cNvSpPr>
            <a:spLocks xmlns:a="http://schemas.openxmlformats.org/drawingml/2006/main" noGrp="1"/>
          </p:cNvSpPr>
          <p:nvPr/>
        </p:nvSpPr>
        <p:spPr>
          <a:xfrm xmlns:a="http://schemas.openxmlformats.org/drawingml/2006/main">
            <a:off x="1047750" y="2238375"/>
            <a:ext cx="3048000" cy="2190750"/>
          </a:xfrm>
          <a:prstGeom xmlns:a="http://schemas.openxmlformats.org/drawingml/2006/main" prst="roundRect">
            <a:avLst>
              <a:gd name="adj" fmla="val 3478"/>
            </a:avLst>
          </a:prstGeom>
          <a:solidFill xmlns:a="http://schemas.openxmlformats.org/drawingml/2006/main">
            <a:srgbClr val="0A23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4128201-E9F0-40CD-941D-855E2446BDCB}"/>
              </a:ext>
            </a:extLst>
          </p:cNvPr>
          <p:cNvSpPr>
            <a:spLocks xmlns:a="http://schemas.openxmlformats.org/drawingml/2006/main" noGrp="1"/>
          </p:cNvSpPr>
          <p:nvPr/>
        </p:nvSpPr>
        <p:spPr>
          <a:xfrm xmlns:a="http://schemas.openxmlformats.org/drawingml/2006/main">
            <a:off x="12192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BOOTSTRAP</a:t>
            </a:r>
          </a:p>
        </p:txBody>
      </p:sp>
      <p:sp>
        <p:nvSpPr>
          <p:cNvPr id="9" name="">
            <a:extLst xmlns:a="http://schemas.openxmlformats.org/drawingml/2006/main">
              <a:ext uri="{FF2B5EF4-FFF2-40B4-BE49-F238E27FC236}">
                <a16:creationId xmlns:a16="http://schemas.microsoft.com/office/drawing/2014/main" id="{B0551BF4-F42B-49C4-8110-D7D33DFE58D9}"/>
              </a:ext>
            </a:extLst>
          </p:cNvPr>
          <p:cNvSpPr>
            <a:spLocks xmlns:a="http://schemas.openxmlformats.org/drawingml/2006/main" noGrp="1"/>
          </p:cNvSpPr>
          <p:nvPr/>
        </p:nvSpPr>
        <p:spPr>
          <a:xfrm xmlns:a="http://schemas.openxmlformats.org/drawingml/2006/main">
            <a:off x="1219200" y="2695575"/>
            <a:ext cx="27051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1,000 paired replicates</a:t>
            </a:r>
          </a:p>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95% interval for MAE improvement</a:t>
            </a:r>
          </a:p>
        </p:txBody>
      </p:sp>
      <p:sp>
        <p:nvSpPr>
          <p:cNvPr id="10" name="">
            <a:extLst xmlns:a="http://schemas.openxmlformats.org/drawingml/2006/main">
              <a:ext uri="{FF2B5EF4-FFF2-40B4-BE49-F238E27FC236}">
                <a16:creationId xmlns:a16="http://schemas.microsoft.com/office/drawing/2014/main" id="{FB891D65-1C9D-45DC-85A3-CAF8ACC260AC}"/>
              </a:ext>
            </a:extLst>
          </p:cNvPr>
          <p:cNvSpPr>
            <a:spLocks xmlns:a="http://schemas.openxmlformats.org/drawingml/2006/main" noGrp="1"/>
          </p:cNvSpPr>
          <p:nvPr/>
        </p:nvSpPr>
        <p:spPr>
          <a:xfrm xmlns:a="http://schemas.openxmlformats.org/drawingml/2006/main">
            <a:off x="4572000" y="2238375"/>
            <a:ext cx="3048000" cy="2190750"/>
          </a:xfrm>
          <a:prstGeom xmlns:a="http://schemas.openxmlformats.org/drawingml/2006/main" prst="roundRect">
            <a:avLst>
              <a:gd name="adj" fmla="val 3478"/>
            </a:avLst>
          </a:prstGeom>
          <a:solidFill xmlns:a="http://schemas.openxmlformats.org/drawingml/2006/main">
            <a:srgbClr val="2F776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E84E09-C46B-4800-85E8-86893B4E9AD2}"/>
              </a:ext>
            </a:extLst>
          </p:cNvPr>
          <p:cNvSpPr>
            <a:spLocks xmlns:a="http://schemas.openxmlformats.org/drawingml/2006/main" noGrp="1"/>
          </p:cNvSpPr>
          <p:nvPr/>
        </p:nvSpPr>
        <p:spPr>
          <a:xfrm xmlns:a="http://schemas.openxmlformats.org/drawingml/2006/main">
            <a:off x="474345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SUBGROUPS</a:t>
            </a:r>
          </a:p>
        </p:txBody>
      </p:sp>
      <p:sp>
        <p:nvSpPr>
          <p:cNvPr id="12" name="">
            <a:extLst xmlns:a="http://schemas.openxmlformats.org/drawingml/2006/main">
              <a:ext uri="{FF2B5EF4-FFF2-40B4-BE49-F238E27FC236}">
                <a16:creationId xmlns:a16="http://schemas.microsoft.com/office/drawing/2014/main" id="{84676830-84D8-4DBF-B52F-D4C92E1C3B83}"/>
              </a:ext>
            </a:extLst>
          </p:cNvPr>
          <p:cNvSpPr>
            <a:spLocks xmlns:a="http://schemas.openxmlformats.org/drawingml/2006/main" noGrp="1"/>
          </p:cNvSpPr>
          <p:nvPr/>
        </p:nvSpPr>
        <p:spPr>
          <a:xfrm xmlns:a="http://schemas.openxmlformats.org/drawingml/2006/main">
            <a:off x="4743450" y="2695575"/>
            <a:ext cx="27051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regional error and sample size</a:t>
            </a:r>
          </a:p>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not only overall averages</a:t>
            </a:r>
          </a:p>
        </p:txBody>
      </p:sp>
      <p:sp>
        <p:nvSpPr>
          <p:cNvPr id="13" name="">
            <a:extLst xmlns:a="http://schemas.openxmlformats.org/drawingml/2006/main">
              <a:ext uri="{FF2B5EF4-FFF2-40B4-BE49-F238E27FC236}">
                <a16:creationId xmlns:a16="http://schemas.microsoft.com/office/drawing/2014/main" id="{A6ECA0D4-19D2-4A05-AB64-96E9CADCD708}"/>
              </a:ext>
            </a:extLst>
          </p:cNvPr>
          <p:cNvSpPr>
            <a:spLocks xmlns:a="http://schemas.openxmlformats.org/drawingml/2006/main" noGrp="1"/>
          </p:cNvSpPr>
          <p:nvPr/>
        </p:nvSpPr>
        <p:spPr>
          <a:xfrm xmlns:a="http://schemas.openxmlformats.org/drawingml/2006/main">
            <a:off x="8096250" y="2238375"/>
            <a:ext cx="3048000" cy="2190750"/>
          </a:xfrm>
          <a:prstGeom xmlns:a="http://schemas.openxmlformats.org/drawingml/2006/main" prst="roundRect">
            <a:avLst>
              <a:gd name="adj" fmla="val 3478"/>
            </a:avLst>
          </a:prstGeom>
          <a:solidFill xmlns:a="http://schemas.openxmlformats.org/drawingml/2006/main">
            <a:srgbClr val="F1DFC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70D0737-DCA0-45D3-BCA9-0B191A63287E}"/>
              </a:ext>
            </a:extLst>
          </p:cNvPr>
          <p:cNvSpPr>
            <a:spLocks xmlns:a="http://schemas.openxmlformats.org/drawingml/2006/main" noGrp="1"/>
          </p:cNvSpPr>
          <p:nvPr/>
        </p:nvSpPr>
        <p:spPr>
          <a:xfrm xmlns:a="http://schemas.openxmlformats.org/drawingml/2006/main">
            <a:off x="8267700" y="2390775"/>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SENSITIVITY</a:t>
            </a:r>
          </a:p>
        </p:txBody>
      </p:sp>
      <p:sp>
        <p:nvSpPr>
          <p:cNvPr id="15" name="">
            <a:extLst xmlns:a="http://schemas.openxmlformats.org/drawingml/2006/main">
              <a:ext uri="{FF2B5EF4-FFF2-40B4-BE49-F238E27FC236}">
                <a16:creationId xmlns:a16="http://schemas.microsoft.com/office/drawing/2014/main" id="{224A7945-B699-4B72-A994-2F05D15CA632}"/>
              </a:ext>
            </a:extLst>
          </p:cNvPr>
          <p:cNvSpPr>
            <a:spLocks xmlns:a="http://schemas.openxmlformats.org/drawingml/2006/main" noGrp="1"/>
          </p:cNvSpPr>
          <p:nvPr/>
        </p:nvSpPr>
        <p:spPr>
          <a:xfrm xmlns:a="http://schemas.openxmlformats.org/drawingml/2006/main">
            <a:off x="8267700" y="2695575"/>
            <a:ext cx="27051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cut-off dates, noise, features</a:t>
            </a:r>
          </a:p>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and threshold choices</a:t>
            </a:r>
          </a:p>
        </p:txBody>
      </p:sp>
      <p:sp>
        <p:nvSpPr>
          <p:cNvPr id="16" name="">
            <a:extLst xmlns:a="http://schemas.openxmlformats.org/drawingml/2006/main">
              <a:ext uri="{FF2B5EF4-FFF2-40B4-BE49-F238E27FC236}">
                <a16:creationId xmlns:a16="http://schemas.microsoft.com/office/drawing/2014/main" id="{4B5488DE-E5CA-47B4-8546-3307E8B2F7F4}"/>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Uncertainty qualifies the evidence; it does not decorate it.</a:t>
            </a:r>
          </a:p>
        </p:txBody>
      </p:sp>
    </p:spTree>
    <p:extLst>
      <p:ext uri="{BB962C8B-B14F-4D97-AF65-F5344CB8AC3E}">
        <p14:creationId xmlns:p14="http://schemas.microsoft.com/office/powerpoint/2010/main" val="1224078189"/>
      </p:ext>
    </p:extLst>
  </p:cSld>
</p:sld>
</file>

<file path=ppt/slides/slide24.xml><?xml version="1.0" encoding="utf-8"?>
<p:sld xmlns:p="http://schemas.openxmlformats.org/presentationml/2006/main">
  <p:cSld>
    <p:bg>
      <p:bgPr>
        <a:solidFill xmlns:a="http://schemas.openxmlformats.org/drawingml/2006/main">
          <a:srgbClr val="03172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15E1B68-5DCB-40A4-AB5A-8BC688075046}"/>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2B603D92-36DA-44FC-9E37-036C20E8F263}"/>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67B7B4"/>
                </a:solidFill>
                <a:latin typeface="Calibri"/>
                <a:ea typeface="Calibri"/>
                <a:cs typeface="Calibri"/>
              </a:defRPr>
            </a:pPr>
            <a:r>
              <a:rPr sz="750" b="1">
                <a:solidFill>
                  <a:srgbClr val="67B7B4"/>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1929AA21-37C6-4862-A066-5C45FC54ED23}"/>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7B7B4"/>
                </a:solidFill>
                <a:latin typeface="Calibri"/>
                <a:ea typeface="Calibri"/>
                <a:cs typeface="Calibri"/>
              </a:defRPr>
            </a:pPr>
            <a:r>
              <a:rPr sz="750" b="1">
                <a:solidFill>
                  <a:srgbClr val="67B7B4"/>
                </a:solidFill>
                <a:latin typeface="Calibri"/>
                <a:ea typeface="Calibri"/>
                <a:cs typeface="Calibri"/>
              </a:rPr>
              <a:t>24</a:t>
            </a:r>
          </a:p>
        </p:txBody>
      </p:sp>
      <p:sp>
        <p:nvSpPr>
          <p:cNvPr id="4" name="">
            <a:extLst xmlns:a="http://schemas.openxmlformats.org/drawingml/2006/main">
              <a:ext uri="{FF2B5EF4-FFF2-40B4-BE49-F238E27FC236}">
                <a16:creationId xmlns:a16="http://schemas.microsoft.com/office/drawing/2014/main" id="{06C2264D-36AF-4A8B-8776-6C5422B1CA08}"/>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2F77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5E2E2C-226B-4988-8C2B-13CD646A156E}"/>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REPRODUCIBLE COMPUTATION</a:t>
            </a:r>
          </a:p>
        </p:txBody>
      </p:sp>
      <p:sp>
        <p:nvSpPr>
          <p:cNvPr id="6" name="">
            <a:extLst xmlns:a="http://schemas.openxmlformats.org/drawingml/2006/main">
              <a:ext uri="{FF2B5EF4-FFF2-40B4-BE49-F238E27FC236}">
                <a16:creationId xmlns:a16="http://schemas.microsoft.com/office/drawing/2014/main" id="{193B13A0-C489-49CD-A8B6-6F16E407D30A}"/>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FFFFFF"/>
                </a:solidFill>
                <a:latin typeface="Calibri"/>
                <a:ea typeface="Calibri"/>
                <a:cs typeface="Calibri"/>
              </a:defRPr>
            </a:pPr>
            <a:r>
              <a:rPr sz="2325" b="0">
                <a:solidFill>
                  <a:srgbClr val="FFFFFF"/>
                </a:solidFill>
                <a:latin typeface="Calibri"/>
                <a:ea typeface="Calibri"/>
                <a:cs typeface="Calibri"/>
              </a:rPr>
              <a:t>The notebook turns definitions into executable evidence</a:t>
            </a:r>
          </a:p>
        </p:txBody>
      </p:sp>
      <p:sp>
        <p:nvSpPr>
          <p:cNvPr id="7" name="">
            <a:extLst xmlns:a="http://schemas.openxmlformats.org/drawingml/2006/main">
              <a:ext uri="{FF2B5EF4-FFF2-40B4-BE49-F238E27FC236}">
                <a16:creationId xmlns:a16="http://schemas.microsoft.com/office/drawing/2014/main" id="{83A69030-A7CF-4AB9-B32E-CE86A76C5E27}"/>
              </a:ext>
            </a:extLst>
          </p:cNvPr>
          <p:cNvSpPr>
            <a:spLocks xmlns:a="http://schemas.openxmlformats.org/drawingml/2006/main" noGrp="1"/>
          </p:cNvSpPr>
          <p:nvPr/>
        </p:nvSpPr>
        <p:spPr>
          <a:xfrm xmlns:a="http://schemas.openxmlformats.org/drawingml/2006/main">
            <a:off x="457200" y="1581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DDE8E7"/>
                </a:solidFill>
                <a:latin typeface="Calibri"/>
                <a:ea typeface="Calibri"/>
                <a:cs typeface="Calibri"/>
              </a:defRPr>
            </a:pPr>
            <a:r>
              <a:rPr sz="1200" b="0">
                <a:solidFill>
                  <a:srgbClr val="DDE8E7"/>
                </a:solidFill>
                <a:latin typeface="Calibri"/>
                <a:ea typeface="Calibri"/>
                <a:cs typeface="Calibri"/>
              </a:rPr>
              <a:t>A rerun should reconstruct both the result and the reasoning record.</a:t>
            </a:r>
          </a:p>
        </p:txBody>
      </p:sp>
      <p:sp>
        <p:nvSpPr>
          <p:cNvPr id="8" name="">
            <a:extLst xmlns:a="http://schemas.openxmlformats.org/drawingml/2006/main">
              <a:ext uri="{FF2B5EF4-FFF2-40B4-BE49-F238E27FC236}">
                <a16:creationId xmlns:a16="http://schemas.microsoft.com/office/drawing/2014/main" id="{4B31D433-2280-47C4-A676-71002BE243CA}"/>
              </a:ext>
            </a:extLst>
          </p:cNvPr>
          <p:cNvSpPr>
            <a:spLocks xmlns:a="http://schemas.openxmlformats.org/drawingml/2006/main" noGrp="1"/>
          </p:cNvSpPr>
          <p:nvPr/>
        </p:nvSpPr>
        <p:spPr>
          <a:xfrm xmlns:a="http://schemas.openxmlformats.org/drawingml/2006/main">
            <a:off x="1238250" y="2095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EA98A746-39DF-4621-AEA8-9F90EE10835F}"/>
              </a:ext>
            </a:extLst>
          </p:cNvPr>
          <p:cNvSpPr>
            <a:spLocks xmlns:a="http://schemas.openxmlformats.org/drawingml/2006/main" noGrp="1"/>
          </p:cNvSpPr>
          <p:nvPr/>
        </p:nvSpPr>
        <p:spPr>
          <a:xfrm xmlns:a="http://schemas.openxmlformats.org/drawingml/2006/main">
            <a:off x="1733550" y="2228850"/>
            <a:ext cx="428625"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D84C302-B389-42B2-9116-BB291338396D}"/>
              </a:ext>
            </a:extLst>
          </p:cNvPr>
          <p:cNvSpPr>
            <a:spLocks xmlns:a="http://schemas.openxmlformats.org/drawingml/2006/main" noGrp="1"/>
          </p:cNvSpPr>
          <p:nvPr/>
        </p:nvSpPr>
        <p:spPr>
          <a:xfrm xmlns:a="http://schemas.openxmlformats.org/drawingml/2006/main">
            <a:off x="2381250" y="201930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Freeze seed and split identifiers</a:t>
            </a:r>
          </a:p>
        </p:txBody>
      </p:sp>
      <p:sp>
        <p:nvSpPr>
          <p:cNvPr id="11" name="">
            <a:extLst xmlns:a="http://schemas.openxmlformats.org/drawingml/2006/main">
              <a:ext uri="{FF2B5EF4-FFF2-40B4-BE49-F238E27FC236}">
                <a16:creationId xmlns:a16="http://schemas.microsoft.com/office/drawing/2014/main" id="{E6D4B1AB-C3AA-4079-BAEF-8FA2587FE273}"/>
              </a:ext>
            </a:extLst>
          </p:cNvPr>
          <p:cNvSpPr>
            <a:spLocks xmlns:a="http://schemas.openxmlformats.org/drawingml/2006/main" noGrp="1"/>
          </p:cNvSpPr>
          <p:nvPr/>
        </p:nvSpPr>
        <p:spPr>
          <a:xfrm xmlns:a="http://schemas.openxmlformats.org/drawingml/2006/main">
            <a:off x="1238250" y="26479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92D9EAEE-B360-42E5-BBA6-F468B1AE2F00}"/>
              </a:ext>
            </a:extLst>
          </p:cNvPr>
          <p:cNvSpPr>
            <a:spLocks xmlns:a="http://schemas.openxmlformats.org/drawingml/2006/main" noGrp="1"/>
          </p:cNvSpPr>
          <p:nvPr/>
        </p:nvSpPr>
        <p:spPr>
          <a:xfrm xmlns:a="http://schemas.openxmlformats.org/drawingml/2006/main">
            <a:off x="1733550" y="2781300"/>
            <a:ext cx="428625"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DAE2EC4-73AB-4A92-8C63-24DE58343D6D}"/>
              </a:ext>
            </a:extLst>
          </p:cNvPr>
          <p:cNvSpPr>
            <a:spLocks xmlns:a="http://schemas.openxmlformats.org/drawingml/2006/main" noGrp="1"/>
          </p:cNvSpPr>
          <p:nvPr/>
        </p:nvSpPr>
        <p:spPr>
          <a:xfrm xmlns:a="http://schemas.openxmlformats.org/drawingml/2006/main">
            <a:off x="2381250" y="257175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Fit preprocessing only on training data</a:t>
            </a:r>
          </a:p>
        </p:txBody>
      </p:sp>
      <p:sp>
        <p:nvSpPr>
          <p:cNvPr id="14" name="">
            <a:extLst xmlns:a="http://schemas.openxmlformats.org/drawingml/2006/main">
              <a:ext uri="{FF2B5EF4-FFF2-40B4-BE49-F238E27FC236}">
                <a16:creationId xmlns:a16="http://schemas.microsoft.com/office/drawing/2014/main" id="{2118F162-171E-42F7-AD56-412E49138579}"/>
              </a:ext>
            </a:extLst>
          </p:cNvPr>
          <p:cNvSpPr>
            <a:spLocks xmlns:a="http://schemas.openxmlformats.org/drawingml/2006/main" noGrp="1"/>
          </p:cNvSpPr>
          <p:nvPr/>
        </p:nvSpPr>
        <p:spPr>
          <a:xfrm xmlns:a="http://schemas.openxmlformats.org/drawingml/2006/main">
            <a:off x="1238250" y="3200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2C745833-29E4-45F7-A6EB-2A223FCEBB4A}"/>
              </a:ext>
            </a:extLst>
          </p:cNvPr>
          <p:cNvSpPr>
            <a:spLocks xmlns:a="http://schemas.openxmlformats.org/drawingml/2006/main" noGrp="1"/>
          </p:cNvSpPr>
          <p:nvPr/>
        </p:nvSpPr>
        <p:spPr>
          <a:xfrm xmlns:a="http://schemas.openxmlformats.org/drawingml/2006/main">
            <a:off x="1733550" y="3333750"/>
            <a:ext cx="428625"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8D25EB3-AAC5-4CA0-9948-351B7429B79A}"/>
              </a:ext>
            </a:extLst>
          </p:cNvPr>
          <p:cNvSpPr>
            <a:spLocks xmlns:a="http://schemas.openxmlformats.org/drawingml/2006/main" noGrp="1"/>
          </p:cNvSpPr>
          <p:nvPr/>
        </p:nvSpPr>
        <p:spPr>
          <a:xfrm xmlns:a="http://schemas.openxmlformats.org/drawingml/2006/main">
            <a:off x="2381250" y="312420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Execute regression and classification pipelines</a:t>
            </a:r>
          </a:p>
        </p:txBody>
      </p:sp>
      <p:sp>
        <p:nvSpPr>
          <p:cNvPr id="17" name="">
            <a:extLst xmlns:a="http://schemas.openxmlformats.org/drawingml/2006/main">
              <a:ext uri="{FF2B5EF4-FFF2-40B4-BE49-F238E27FC236}">
                <a16:creationId xmlns:a16="http://schemas.microsoft.com/office/drawing/2014/main" id="{512B5CA3-90C9-4948-B178-E0E1563EBEBD}"/>
              </a:ext>
            </a:extLst>
          </p:cNvPr>
          <p:cNvSpPr>
            <a:spLocks xmlns:a="http://schemas.openxmlformats.org/drawingml/2006/main" noGrp="1"/>
          </p:cNvSpPr>
          <p:nvPr/>
        </p:nvSpPr>
        <p:spPr>
          <a:xfrm xmlns:a="http://schemas.openxmlformats.org/drawingml/2006/main">
            <a:off x="1238250" y="3752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04</a:t>
            </a:r>
          </a:p>
        </p:txBody>
      </p:sp>
      <p:sp>
        <p:nvSpPr>
          <p:cNvPr id="18" name="">
            <a:extLst xmlns:a="http://schemas.openxmlformats.org/drawingml/2006/main">
              <a:ext uri="{FF2B5EF4-FFF2-40B4-BE49-F238E27FC236}">
                <a16:creationId xmlns:a16="http://schemas.microsoft.com/office/drawing/2014/main" id="{D31AB8E1-3C42-4424-B59D-B2147003F1C4}"/>
              </a:ext>
            </a:extLst>
          </p:cNvPr>
          <p:cNvSpPr>
            <a:spLocks xmlns:a="http://schemas.openxmlformats.org/drawingml/2006/main" noGrp="1"/>
          </p:cNvSpPr>
          <p:nvPr/>
        </p:nvSpPr>
        <p:spPr>
          <a:xfrm xmlns:a="http://schemas.openxmlformats.org/drawingml/2006/main">
            <a:off x="1733550" y="3886200"/>
            <a:ext cx="428625"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7ED3021-B11E-4024-B989-6A432FF2C8B8}"/>
              </a:ext>
            </a:extLst>
          </p:cNvPr>
          <p:cNvSpPr>
            <a:spLocks xmlns:a="http://schemas.openxmlformats.org/drawingml/2006/main" noGrp="1"/>
          </p:cNvSpPr>
          <p:nvPr/>
        </p:nvSpPr>
        <p:spPr>
          <a:xfrm xmlns:a="http://schemas.openxmlformats.org/drawingml/2006/main">
            <a:off x="2381250" y="367665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Reproduce leakage and learning-curve checks</a:t>
            </a:r>
          </a:p>
        </p:txBody>
      </p:sp>
      <p:sp>
        <p:nvSpPr>
          <p:cNvPr id="20" name="">
            <a:extLst xmlns:a="http://schemas.openxmlformats.org/drawingml/2006/main">
              <a:ext uri="{FF2B5EF4-FFF2-40B4-BE49-F238E27FC236}">
                <a16:creationId xmlns:a16="http://schemas.microsoft.com/office/drawing/2014/main" id="{D5455579-3147-4769-A71E-8CC2A291C68F}"/>
              </a:ext>
            </a:extLst>
          </p:cNvPr>
          <p:cNvSpPr>
            <a:spLocks xmlns:a="http://schemas.openxmlformats.org/drawingml/2006/main" noGrp="1"/>
          </p:cNvSpPr>
          <p:nvPr/>
        </p:nvSpPr>
        <p:spPr>
          <a:xfrm xmlns:a="http://schemas.openxmlformats.org/drawingml/2006/main">
            <a:off x="1238250" y="43053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05</a:t>
            </a:r>
          </a:p>
        </p:txBody>
      </p:sp>
      <p:sp>
        <p:nvSpPr>
          <p:cNvPr id="21" name="">
            <a:extLst xmlns:a="http://schemas.openxmlformats.org/drawingml/2006/main">
              <a:ext uri="{FF2B5EF4-FFF2-40B4-BE49-F238E27FC236}">
                <a16:creationId xmlns:a16="http://schemas.microsoft.com/office/drawing/2014/main" id="{58C4AA01-F339-4EDA-80FC-E33391FA1D98}"/>
              </a:ext>
            </a:extLst>
          </p:cNvPr>
          <p:cNvSpPr>
            <a:spLocks xmlns:a="http://schemas.openxmlformats.org/drawingml/2006/main" noGrp="1"/>
          </p:cNvSpPr>
          <p:nvPr/>
        </p:nvSpPr>
        <p:spPr>
          <a:xfrm xmlns:a="http://schemas.openxmlformats.org/drawingml/2006/main">
            <a:off x="1733550" y="4438650"/>
            <a:ext cx="428625"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A781353-5A76-488D-9664-3B7CAC3EBE8B}"/>
              </a:ext>
            </a:extLst>
          </p:cNvPr>
          <p:cNvSpPr>
            <a:spLocks xmlns:a="http://schemas.openxmlformats.org/drawingml/2006/main" noGrp="1"/>
          </p:cNvSpPr>
          <p:nvPr/>
        </p:nvSpPr>
        <p:spPr>
          <a:xfrm xmlns:a="http://schemas.openxmlformats.org/drawingml/2006/main">
            <a:off x="2381250" y="422910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Record metrics, uncertainty and subgroup results</a:t>
            </a:r>
          </a:p>
        </p:txBody>
      </p:sp>
      <p:sp>
        <p:nvSpPr>
          <p:cNvPr id="23" name="">
            <a:extLst xmlns:a="http://schemas.openxmlformats.org/drawingml/2006/main">
              <a:ext uri="{FF2B5EF4-FFF2-40B4-BE49-F238E27FC236}">
                <a16:creationId xmlns:a16="http://schemas.microsoft.com/office/drawing/2014/main" id="{F82CFA96-253E-4620-9862-8B588333CA7F}"/>
              </a:ext>
            </a:extLst>
          </p:cNvPr>
          <p:cNvSpPr>
            <a:spLocks xmlns:a="http://schemas.openxmlformats.org/drawingml/2006/main" noGrp="1"/>
          </p:cNvSpPr>
          <p:nvPr/>
        </p:nvSpPr>
        <p:spPr>
          <a:xfrm xmlns:a="http://schemas.openxmlformats.org/drawingml/2006/main">
            <a:off x="1238250" y="48577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06</a:t>
            </a:r>
          </a:p>
        </p:txBody>
      </p:sp>
      <p:sp>
        <p:nvSpPr>
          <p:cNvPr id="24" name="">
            <a:extLst xmlns:a="http://schemas.openxmlformats.org/drawingml/2006/main">
              <a:ext uri="{FF2B5EF4-FFF2-40B4-BE49-F238E27FC236}">
                <a16:creationId xmlns:a16="http://schemas.microsoft.com/office/drawing/2014/main" id="{6C69193E-6DD5-44DF-B6FA-E729B4D0B1C6}"/>
              </a:ext>
            </a:extLst>
          </p:cNvPr>
          <p:cNvSpPr>
            <a:spLocks xmlns:a="http://schemas.openxmlformats.org/drawingml/2006/main" noGrp="1"/>
          </p:cNvSpPr>
          <p:nvPr/>
        </p:nvSpPr>
        <p:spPr>
          <a:xfrm xmlns:a="http://schemas.openxmlformats.org/drawingml/2006/main">
            <a:off x="1733550" y="4991100"/>
            <a:ext cx="428625"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34A81B4-0480-481F-ADB6-13D935251FD8}"/>
              </a:ext>
            </a:extLst>
          </p:cNvPr>
          <p:cNvSpPr>
            <a:spLocks xmlns:a="http://schemas.openxmlformats.org/drawingml/2006/main" noGrp="1"/>
          </p:cNvSpPr>
          <p:nvPr/>
        </p:nvSpPr>
        <p:spPr>
          <a:xfrm xmlns:a="http://schemas.openxmlformats.org/drawingml/2006/main">
            <a:off x="2381250" y="478155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Preserve environment and decision metadata</a:t>
            </a:r>
          </a:p>
        </p:txBody>
      </p:sp>
      <p:sp>
        <p:nvSpPr>
          <p:cNvPr id="26" name="">
            <a:extLst xmlns:a="http://schemas.openxmlformats.org/drawingml/2006/main">
              <a:ext uri="{FF2B5EF4-FFF2-40B4-BE49-F238E27FC236}">
                <a16:creationId xmlns:a16="http://schemas.microsoft.com/office/drawing/2014/main" id="{F7D9B576-2A22-42E9-B25F-2C7A5044B467}"/>
              </a:ext>
            </a:extLst>
          </p:cNvPr>
          <p:cNvSpPr>
            <a:spLocks xmlns:a="http://schemas.openxmlformats.org/drawingml/2006/main" noGrp="1"/>
          </p:cNvSpPr>
          <p:nvPr/>
        </p:nvSpPr>
        <p:spPr>
          <a:xfrm xmlns:a="http://schemas.openxmlformats.org/drawingml/2006/main">
            <a:off x="9810750" y="4810125"/>
            <a:ext cx="1524000" cy="1000125"/>
          </a:xfrm>
          <a:prstGeom xmlns:a="http://schemas.openxmlformats.org/drawingml/2006/main" prst="roundRect">
            <a:avLst>
              <a:gd name="adj" fmla="val 7619"/>
            </a:avLst>
          </a:prstGeom>
          <a:solidFill xmlns:a="http://schemas.openxmlformats.org/drawingml/2006/main">
            <a:srgbClr val="DCA24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7C1A567-FFA9-4700-999B-F9B25C89F6E7}"/>
              </a:ext>
            </a:extLst>
          </p:cNvPr>
          <p:cNvSpPr>
            <a:spLocks xmlns:a="http://schemas.openxmlformats.org/drawingml/2006/main" noGrp="1"/>
          </p:cNvSpPr>
          <p:nvPr/>
        </p:nvSpPr>
        <p:spPr>
          <a:xfrm xmlns:a="http://schemas.openxmlformats.org/drawingml/2006/main">
            <a:off x="9982200" y="4962525"/>
            <a:ext cx="1181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03172A"/>
                </a:solidFill>
                <a:latin typeface="Calibri"/>
                <a:ea typeface="Calibri"/>
                <a:cs typeface="Calibri"/>
              </a:defRPr>
            </a:pPr>
            <a:r>
              <a:rPr sz="750" b="1">
                <a:solidFill>
                  <a:srgbClr val="03172A"/>
                </a:solidFill>
                <a:latin typeface="Calibri"/>
                <a:ea typeface="Calibri"/>
                <a:cs typeface="Calibri"/>
              </a:rPr>
              <a:t>PASS</a:t>
            </a:r>
          </a:p>
        </p:txBody>
      </p:sp>
      <p:sp>
        <p:nvSpPr>
          <p:cNvPr id="28" name="">
            <a:extLst xmlns:a="http://schemas.openxmlformats.org/drawingml/2006/main">
              <a:ext uri="{FF2B5EF4-FFF2-40B4-BE49-F238E27FC236}">
                <a16:creationId xmlns:a16="http://schemas.microsoft.com/office/drawing/2014/main" id="{D9E3275B-C038-4A9B-B60B-9DCF2B19C916}"/>
              </a:ext>
            </a:extLst>
          </p:cNvPr>
          <p:cNvSpPr>
            <a:spLocks xmlns:a="http://schemas.openxmlformats.org/drawingml/2006/main" noGrp="1"/>
          </p:cNvSpPr>
          <p:nvPr/>
        </p:nvSpPr>
        <p:spPr>
          <a:xfrm xmlns:a="http://schemas.openxmlformats.org/drawingml/2006/main">
            <a:off x="9982200" y="5267325"/>
            <a:ext cx="1181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SEED 42</a:t>
            </a:r>
          </a:p>
        </p:txBody>
      </p:sp>
    </p:spTree>
    <p:extLst>
      <p:ext uri="{BB962C8B-B14F-4D97-AF65-F5344CB8AC3E}">
        <p14:creationId xmlns:p14="http://schemas.microsoft.com/office/powerpoint/2010/main" val="1824198737"/>
      </p:ext>
    </p:extLst>
  </p:cSld>
</p:sld>
</file>

<file path=ppt/slides/slide25.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123799B-6450-4512-9F71-10B53341E184}"/>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6E79CD9A-DF24-4B76-9E55-2834F270D7CC}"/>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06E35661-56D7-4A05-91BB-6A3969C3A75B}"/>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25</a:t>
            </a:r>
          </a:p>
        </p:txBody>
      </p:sp>
      <p:sp>
        <p:nvSpPr>
          <p:cNvPr id="4" name="">
            <a:extLst xmlns:a="http://schemas.openxmlformats.org/drawingml/2006/main">
              <a:ext uri="{FF2B5EF4-FFF2-40B4-BE49-F238E27FC236}">
                <a16:creationId xmlns:a16="http://schemas.microsoft.com/office/drawing/2014/main" id="{ACF3B99B-B951-4A37-83E3-145ACDADB681}"/>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87F7B24-9DF0-4D02-A29F-AFD0F7C5BAC9}"/>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OFFICIAL STATISTICS</a:t>
            </a:r>
          </a:p>
        </p:txBody>
      </p:sp>
      <p:sp>
        <p:nvSpPr>
          <p:cNvPr id="6" name="">
            <a:extLst xmlns:a="http://schemas.openxmlformats.org/drawingml/2006/main">
              <a:ext uri="{FF2B5EF4-FFF2-40B4-BE49-F238E27FC236}">
                <a16:creationId xmlns:a16="http://schemas.microsoft.com/office/drawing/2014/main" id="{EED65DD5-0EC5-4D06-B3D0-71D839E17CA5}"/>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0A2336"/>
                </a:solidFill>
                <a:latin typeface="Calibri"/>
                <a:ea typeface="Calibri"/>
                <a:cs typeface="Calibri"/>
              </a:defRPr>
            </a:pPr>
            <a:r>
              <a:rPr sz="1950" b="0">
                <a:solidFill>
                  <a:srgbClr val="0A2336"/>
                </a:solidFill>
                <a:latin typeface="Calibri"/>
                <a:ea typeface="Calibri"/>
                <a:cs typeface="Calibri"/>
              </a:rPr>
              <a:t>Prediction can support statistical production without replacing statistical authority</a:t>
            </a:r>
          </a:p>
        </p:txBody>
      </p:sp>
      <p:sp>
        <p:nvSpPr>
          <p:cNvPr id="7" name="">
            <a:extLst xmlns:a="http://schemas.openxmlformats.org/drawingml/2006/main">
              <a:ext uri="{FF2B5EF4-FFF2-40B4-BE49-F238E27FC236}">
                <a16:creationId xmlns:a16="http://schemas.microsoft.com/office/drawing/2014/main" id="{F23830CA-961F-4313-BE8F-4202ECE72513}"/>
              </a:ext>
            </a:extLst>
          </p:cNvPr>
          <p:cNvSpPr>
            <a:spLocks xmlns:a="http://schemas.openxmlformats.org/drawingml/2006/main" noGrp="1"/>
          </p:cNvSpPr>
          <p:nvPr/>
        </p:nvSpPr>
        <p:spPr>
          <a:xfrm xmlns:a="http://schemas.openxmlformats.org/drawingml/2006/main">
            <a:off x="571500" y="2286000"/>
            <a:ext cx="2571750" cy="2047875"/>
          </a:xfrm>
          <a:prstGeom xmlns:a="http://schemas.openxmlformats.org/drawingml/2006/main" prst="roundRect">
            <a:avLst>
              <a:gd name="adj" fmla="val 3721"/>
            </a:avLst>
          </a:prstGeom>
          <a:solidFill xmlns:a="http://schemas.openxmlformats.org/drawingml/2006/main">
            <a:srgbClr val="0A23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9FC59A8-BAFA-47A5-9BB9-424ACDEF8D42}"/>
              </a:ext>
            </a:extLst>
          </p:cNvPr>
          <p:cNvSpPr>
            <a:spLocks xmlns:a="http://schemas.openxmlformats.org/drawingml/2006/main" noGrp="1"/>
          </p:cNvSpPr>
          <p:nvPr/>
        </p:nvSpPr>
        <p:spPr>
          <a:xfrm xmlns:a="http://schemas.openxmlformats.org/drawingml/2006/main">
            <a:off x="742950" y="2438400"/>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IMPUTE</a:t>
            </a:r>
          </a:p>
        </p:txBody>
      </p:sp>
      <p:sp>
        <p:nvSpPr>
          <p:cNvPr id="9" name="">
            <a:extLst xmlns:a="http://schemas.openxmlformats.org/drawingml/2006/main">
              <a:ext uri="{FF2B5EF4-FFF2-40B4-BE49-F238E27FC236}">
                <a16:creationId xmlns:a16="http://schemas.microsoft.com/office/drawing/2014/main" id="{F2D0AC0D-4837-4952-BE5F-C36A59559E04}"/>
              </a:ext>
            </a:extLst>
          </p:cNvPr>
          <p:cNvSpPr>
            <a:spLocks xmlns:a="http://schemas.openxmlformats.org/drawingml/2006/main" noGrp="1"/>
          </p:cNvSpPr>
          <p:nvPr/>
        </p:nvSpPr>
        <p:spPr>
          <a:xfrm xmlns:a="http://schemas.openxmlformats.org/drawingml/2006/main">
            <a:off x="742950" y="2743200"/>
            <a:ext cx="2228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assist missing-value treatment</a:t>
            </a:r>
          </a:p>
        </p:txBody>
      </p:sp>
      <p:sp>
        <p:nvSpPr>
          <p:cNvPr id="10" name="">
            <a:extLst xmlns:a="http://schemas.openxmlformats.org/drawingml/2006/main">
              <a:ext uri="{FF2B5EF4-FFF2-40B4-BE49-F238E27FC236}">
                <a16:creationId xmlns:a16="http://schemas.microsoft.com/office/drawing/2014/main" id="{55E3AE34-9C80-42CA-A66E-7BEB3E0AD312}"/>
              </a:ext>
            </a:extLst>
          </p:cNvPr>
          <p:cNvSpPr>
            <a:spLocks xmlns:a="http://schemas.openxmlformats.org/drawingml/2006/main" noGrp="1"/>
          </p:cNvSpPr>
          <p:nvPr/>
        </p:nvSpPr>
        <p:spPr>
          <a:xfrm xmlns:a="http://schemas.openxmlformats.org/drawingml/2006/main">
            <a:off x="3429000" y="2286000"/>
            <a:ext cx="2571750" cy="2047875"/>
          </a:xfrm>
          <a:prstGeom xmlns:a="http://schemas.openxmlformats.org/drawingml/2006/main" prst="roundRect">
            <a:avLst>
              <a:gd name="adj" fmla="val 3721"/>
            </a:avLst>
          </a:prstGeom>
          <a:solidFill xmlns:a="http://schemas.openxmlformats.org/drawingml/2006/main">
            <a:srgbClr val="0A233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5B519D0-12C7-42AF-B3A0-844114A79377}"/>
              </a:ext>
            </a:extLst>
          </p:cNvPr>
          <p:cNvSpPr>
            <a:spLocks xmlns:a="http://schemas.openxmlformats.org/drawingml/2006/main" noGrp="1"/>
          </p:cNvSpPr>
          <p:nvPr/>
        </p:nvSpPr>
        <p:spPr>
          <a:xfrm xmlns:a="http://schemas.openxmlformats.org/drawingml/2006/main">
            <a:off x="3600450" y="2438400"/>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CLASSIFY</a:t>
            </a:r>
          </a:p>
        </p:txBody>
      </p:sp>
      <p:sp>
        <p:nvSpPr>
          <p:cNvPr id="12" name="">
            <a:extLst xmlns:a="http://schemas.openxmlformats.org/drawingml/2006/main">
              <a:ext uri="{FF2B5EF4-FFF2-40B4-BE49-F238E27FC236}">
                <a16:creationId xmlns:a16="http://schemas.microsoft.com/office/drawing/2014/main" id="{17D924CC-F257-4F38-A61B-4300E6EBE701}"/>
              </a:ext>
            </a:extLst>
          </p:cNvPr>
          <p:cNvSpPr>
            <a:spLocks xmlns:a="http://schemas.openxmlformats.org/drawingml/2006/main" noGrp="1"/>
          </p:cNvSpPr>
          <p:nvPr/>
        </p:nvSpPr>
        <p:spPr>
          <a:xfrm xmlns:a="http://schemas.openxmlformats.org/drawingml/2006/main">
            <a:off x="3600450" y="2743200"/>
            <a:ext cx="2228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support coding and editing</a:t>
            </a:r>
          </a:p>
        </p:txBody>
      </p:sp>
      <p:sp>
        <p:nvSpPr>
          <p:cNvPr id="13" name="">
            <a:extLst xmlns:a="http://schemas.openxmlformats.org/drawingml/2006/main">
              <a:ext uri="{FF2B5EF4-FFF2-40B4-BE49-F238E27FC236}">
                <a16:creationId xmlns:a16="http://schemas.microsoft.com/office/drawing/2014/main" id="{D72A3422-4537-41AA-94B3-0E60FEE46ADD}"/>
              </a:ext>
            </a:extLst>
          </p:cNvPr>
          <p:cNvSpPr>
            <a:spLocks xmlns:a="http://schemas.openxmlformats.org/drawingml/2006/main" noGrp="1"/>
          </p:cNvSpPr>
          <p:nvPr/>
        </p:nvSpPr>
        <p:spPr>
          <a:xfrm xmlns:a="http://schemas.openxmlformats.org/drawingml/2006/main">
            <a:off x="6286500" y="2286000"/>
            <a:ext cx="2571750" cy="2047875"/>
          </a:xfrm>
          <a:prstGeom xmlns:a="http://schemas.openxmlformats.org/drawingml/2006/main" prst="roundRect">
            <a:avLst>
              <a:gd name="adj" fmla="val 3721"/>
            </a:avLst>
          </a:prstGeom>
          <a:solidFill xmlns:a="http://schemas.openxmlformats.org/drawingml/2006/main">
            <a:srgbClr val="2F776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7517EBE-1055-4663-BFBB-A64C99DE3E32}"/>
              </a:ext>
            </a:extLst>
          </p:cNvPr>
          <p:cNvSpPr>
            <a:spLocks xmlns:a="http://schemas.openxmlformats.org/drawingml/2006/main" noGrp="1"/>
          </p:cNvSpPr>
          <p:nvPr/>
        </p:nvSpPr>
        <p:spPr>
          <a:xfrm xmlns:a="http://schemas.openxmlformats.org/drawingml/2006/main">
            <a:off x="6457950" y="2438400"/>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NOWCAST</a:t>
            </a:r>
          </a:p>
        </p:txBody>
      </p:sp>
      <p:sp>
        <p:nvSpPr>
          <p:cNvPr id="15" name="">
            <a:extLst xmlns:a="http://schemas.openxmlformats.org/drawingml/2006/main">
              <a:ext uri="{FF2B5EF4-FFF2-40B4-BE49-F238E27FC236}">
                <a16:creationId xmlns:a16="http://schemas.microsoft.com/office/drawing/2014/main" id="{C88EBC99-50CB-45BC-8F98-EE76B8959659}"/>
              </a:ext>
            </a:extLst>
          </p:cNvPr>
          <p:cNvSpPr>
            <a:spLocks xmlns:a="http://schemas.openxmlformats.org/drawingml/2006/main" noGrp="1"/>
          </p:cNvSpPr>
          <p:nvPr/>
        </p:nvSpPr>
        <p:spPr>
          <a:xfrm xmlns:a="http://schemas.openxmlformats.org/drawingml/2006/main">
            <a:off x="6457950" y="2743200"/>
            <a:ext cx="2228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estimate timely indicators</a:t>
            </a:r>
          </a:p>
        </p:txBody>
      </p:sp>
      <p:sp>
        <p:nvSpPr>
          <p:cNvPr id="16" name="">
            <a:extLst xmlns:a="http://schemas.openxmlformats.org/drawingml/2006/main">
              <a:ext uri="{FF2B5EF4-FFF2-40B4-BE49-F238E27FC236}">
                <a16:creationId xmlns:a16="http://schemas.microsoft.com/office/drawing/2014/main" id="{3E0B8684-AFCA-4A4E-85F7-F62108D3A01A}"/>
              </a:ext>
            </a:extLst>
          </p:cNvPr>
          <p:cNvSpPr>
            <a:spLocks xmlns:a="http://schemas.openxmlformats.org/drawingml/2006/main" noGrp="1"/>
          </p:cNvSpPr>
          <p:nvPr/>
        </p:nvSpPr>
        <p:spPr>
          <a:xfrm xmlns:a="http://schemas.openxmlformats.org/drawingml/2006/main">
            <a:off x="9144000" y="2286000"/>
            <a:ext cx="2571750" cy="2047875"/>
          </a:xfrm>
          <a:prstGeom xmlns:a="http://schemas.openxmlformats.org/drawingml/2006/main" prst="roundRect">
            <a:avLst>
              <a:gd name="adj" fmla="val 3721"/>
            </a:avLst>
          </a:prstGeom>
          <a:solidFill xmlns:a="http://schemas.openxmlformats.org/drawingml/2006/main">
            <a:srgbClr val="0A233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3EB342A-B2F2-4BC3-90CC-4B8F0C2AFA9D}"/>
              </a:ext>
            </a:extLst>
          </p:cNvPr>
          <p:cNvSpPr>
            <a:spLocks xmlns:a="http://schemas.openxmlformats.org/drawingml/2006/main" noGrp="1"/>
          </p:cNvSpPr>
          <p:nvPr/>
        </p:nvSpPr>
        <p:spPr>
          <a:xfrm xmlns:a="http://schemas.openxmlformats.org/drawingml/2006/main">
            <a:off x="9315450" y="2438400"/>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TARGET</a:t>
            </a:r>
          </a:p>
        </p:txBody>
      </p:sp>
      <p:sp>
        <p:nvSpPr>
          <p:cNvPr id="18" name="">
            <a:extLst xmlns:a="http://schemas.openxmlformats.org/drawingml/2006/main">
              <a:ext uri="{FF2B5EF4-FFF2-40B4-BE49-F238E27FC236}">
                <a16:creationId xmlns:a16="http://schemas.microsoft.com/office/drawing/2014/main" id="{F1529C71-7F15-42C8-9E4E-CE350B255568}"/>
              </a:ext>
            </a:extLst>
          </p:cNvPr>
          <p:cNvSpPr>
            <a:spLocks xmlns:a="http://schemas.openxmlformats.org/drawingml/2006/main" noGrp="1"/>
          </p:cNvSpPr>
          <p:nvPr/>
        </p:nvSpPr>
        <p:spPr>
          <a:xfrm xmlns:a="http://schemas.openxmlformats.org/drawingml/2006/main">
            <a:off x="9315450" y="2743200"/>
            <a:ext cx="22288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focus review resources</a:t>
            </a:r>
          </a:p>
        </p:txBody>
      </p:sp>
      <p:sp>
        <p:nvSpPr>
          <p:cNvPr id="19" name="">
            <a:extLst xmlns:a="http://schemas.openxmlformats.org/drawingml/2006/main">
              <a:ext uri="{FF2B5EF4-FFF2-40B4-BE49-F238E27FC236}">
                <a16:creationId xmlns:a16="http://schemas.microsoft.com/office/drawing/2014/main" id="{4C330A15-F659-4E6B-9A69-EA39BB7F4F1A}"/>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Design weights, revisions, coverage and disclosure obligations remain visible.</a:t>
            </a:r>
          </a:p>
        </p:txBody>
      </p:sp>
    </p:spTree>
    <p:extLst>
      <p:ext uri="{BB962C8B-B14F-4D97-AF65-F5344CB8AC3E}">
        <p14:creationId xmlns:p14="http://schemas.microsoft.com/office/powerpoint/2010/main" val="589087246"/>
      </p:ext>
    </p:extLst>
  </p:cSld>
</p:sld>
</file>

<file path=ppt/slides/slide26.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F375190-2041-4BE4-88E9-9363D7F257FB}"/>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5E83514E-2853-4FD6-9265-13551E5521B0}"/>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348C5A87-3ED5-40CB-9338-E05D90103D5E}"/>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26</a:t>
            </a:r>
          </a:p>
        </p:txBody>
      </p:sp>
      <p:sp>
        <p:nvSpPr>
          <p:cNvPr id="4" name="">
            <a:extLst xmlns:a="http://schemas.openxmlformats.org/drawingml/2006/main">
              <a:ext uri="{FF2B5EF4-FFF2-40B4-BE49-F238E27FC236}">
                <a16:creationId xmlns:a16="http://schemas.microsoft.com/office/drawing/2014/main" id="{0D95A1D2-D885-48A2-A681-C95C52F4AA4A}"/>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7F274C-23E0-47EF-B135-8DF3944D0B8C}"/>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ARTIFICIAL INTELLIGENCE</a:t>
            </a:r>
          </a:p>
        </p:txBody>
      </p:sp>
      <p:sp>
        <p:nvSpPr>
          <p:cNvPr id="6" name="">
            <a:extLst xmlns:a="http://schemas.openxmlformats.org/drawingml/2006/main">
              <a:ext uri="{FF2B5EF4-FFF2-40B4-BE49-F238E27FC236}">
                <a16:creationId xmlns:a16="http://schemas.microsoft.com/office/drawing/2014/main" id="{84C03F1E-DFA0-4288-AC38-4F963378E76C}"/>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0A2336"/>
                </a:solidFill>
                <a:latin typeface="Calibri"/>
                <a:ea typeface="Calibri"/>
                <a:cs typeface="Calibri"/>
              </a:defRPr>
            </a:pPr>
            <a:r>
              <a:rPr sz="2100" b="0">
                <a:solidFill>
                  <a:srgbClr val="0A2336"/>
                </a:solidFill>
                <a:latin typeface="Calibri"/>
                <a:ea typeface="Calibri"/>
                <a:cs typeface="Calibri"/>
              </a:rPr>
              <a:t>AI systems need prediction evidence plus governed human responsibility</a:t>
            </a:r>
          </a:p>
        </p:txBody>
      </p:sp>
      <p:sp>
        <p:nvSpPr>
          <p:cNvPr id="7" name="">
            <a:extLst xmlns:a="http://schemas.openxmlformats.org/drawingml/2006/main">
              <a:ext uri="{FF2B5EF4-FFF2-40B4-BE49-F238E27FC236}">
                <a16:creationId xmlns:a16="http://schemas.microsoft.com/office/drawing/2014/main" id="{FBF70893-D563-4B8F-82C3-C9096A1CF46C}"/>
              </a:ext>
            </a:extLst>
          </p:cNvPr>
          <p:cNvSpPr>
            <a:spLocks xmlns:a="http://schemas.openxmlformats.org/drawingml/2006/main" noGrp="1"/>
          </p:cNvSpPr>
          <p:nvPr/>
        </p:nvSpPr>
        <p:spPr>
          <a:xfrm xmlns:a="http://schemas.openxmlformats.org/drawingml/2006/main">
            <a:off x="762000" y="2333625"/>
            <a:ext cx="2571750" cy="2000250"/>
          </a:xfrm>
          <a:prstGeom xmlns:a="http://schemas.openxmlformats.org/drawingml/2006/main" prst="roundRect">
            <a:avLst>
              <a:gd name="adj" fmla="val 3810"/>
            </a:avLst>
          </a:prstGeom>
          <a:solidFill xmlns:a="http://schemas.openxmlformats.org/drawingml/2006/main">
            <a:srgbClr val="0A23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0571CD-0202-423E-AA06-B5CC252B96E4}"/>
              </a:ext>
            </a:extLst>
          </p:cNvPr>
          <p:cNvSpPr>
            <a:spLocks xmlns:a="http://schemas.openxmlformats.org/drawingml/2006/main" noGrp="1"/>
          </p:cNvSpPr>
          <p:nvPr/>
        </p:nvSpPr>
        <p:spPr>
          <a:xfrm xmlns:a="http://schemas.openxmlformats.org/drawingml/2006/main">
            <a:off x="933450" y="248602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MODEL</a:t>
            </a:r>
          </a:p>
        </p:txBody>
      </p:sp>
      <p:sp>
        <p:nvSpPr>
          <p:cNvPr id="9" name="">
            <a:extLst xmlns:a="http://schemas.openxmlformats.org/drawingml/2006/main">
              <a:ext uri="{FF2B5EF4-FFF2-40B4-BE49-F238E27FC236}">
                <a16:creationId xmlns:a16="http://schemas.microsoft.com/office/drawing/2014/main" id="{FA0ED6DD-FD4E-4F2F-B0BE-B3AE2FEB1566}"/>
              </a:ext>
            </a:extLst>
          </p:cNvPr>
          <p:cNvSpPr>
            <a:spLocks xmlns:a="http://schemas.openxmlformats.org/drawingml/2006/main" noGrp="1"/>
          </p:cNvSpPr>
          <p:nvPr/>
        </p:nvSpPr>
        <p:spPr>
          <a:xfrm xmlns:a="http://schemas.openxmlformats.org/drawingml/2006/main">
            <a:off x="933450" y="2790825"/>
            <a:ext cx="2228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produces an estimate</a:t>
            </a:r>
          </a:p>
        </p:txBody>
      </p:sp>
      <p:sp>
        <p:nvSpPr>
          <p:cNvPr id="10" name="">
            <a:extLst xmlns:a="http://schemas.openxmlformats.org/drawingml/2006/main">
              <a:ext uri="{FF2B5EF4-FFF2-40B4-BE49-F238E27FC236}">
                <a16:creationId xmlns:a16="http://schemas.microsoft.com/office/drawing/2014/main" id="{F6D2622C-7A60-44E9-84A4-D37D7F92EF9A}"/>
              </a:ext>
            </a:extLst>
          </p:cNvPr>
          <p:cNvSpPr>
            <a:spLocks xmlns:a="http://schemas.openxmlformats.org/drawingml/2006/main" noGrp="1"/>
          </p:cNvSpPr>
          <p:nvPr/>
        </p:nvSpPr>
        <p:spPr>
          <a:xfrm xmlns:a="http://schemas.openxmlformats.org/drawingml/2006/main">
            <a:off x="3333750" y="304800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6460"/>
          </a:bodyPr>
          <a:lstStyle xmlns:a="http://schemas.openxmlformats.org/drawingml/2006/main"/>
          <a:p xmlns:a="http://schemas.openxmlformats.org/drawingml/2006/main">
            <a:pPr algn="ctr">
              <a:defRPr sz="1800" b="1">
                <a:solidFill>
                  <a:srgbClr val="2F776F"/>
                </a:solidFill>
                <a:latin typeface="Calibri"/>
                <a:ea typeface="Calibri"/>
                <a:cs typeface="Calibri"/>
              </a:defRPr>
            </a:pPr>
            <a:r>
              <a:rPr sz="1800" b="1">
                <a:solidFill>
                  <a:srgbClr val="2F776F"/>
                </a:solidFill>
                <a:latin typeface="Calibri"/>
                <a:ea typeface="Calibri"/>
                <a:cs typeface="Calibri"/>
              </a:rPr>
              <a:t>→</a:t>
            </a:r>
          </a:p>
        </p:txBody>
      </p:sp>
      <p:sp>
        <p:nvSpPr>
          <p:cNvPr id="11" name="">
            <a:extLst xmlns:a="http://schemas.openxmlformats.org/drawingml/2006/main">
              <a:ext uri="{FF2B5EF4-FFF2-40B4-BE49-F238E27FC236}">
                <a16:creationId xmlns:a16="http://schemas.microsoft.com/office/drawing/2014/main" id="{6F90D2CD-96A0-4E3E-B0C7-3AAA2274C982}"/>
              </a:ext>
            </a:extLst>
          </p:cNvPr>
          <p:cNvSpPr>
            <a:spLocks xmlns:a="http://schemas.openxmlformats.org/drawingml/2006/main" noGrp="1"/>
          </p:cNvSpPr>
          <p:nvPr/>
        </p:nvSpPr>
        <p:spPr>
          <a:xfrm xmlns:a="http://schemas.openxmlformats.org/drawingml/2006/main">
            <a:off x="3619500" y="2333625"/>
            <a:ext cx="2571750" cy="2000250"/>
          </a:xfrm>
          <a:prstGeom xmlns:a="http://schemas.openxmlformats.org/drawingml/2006/main" prst="roundRect">
            <a:avLst>
              <a:gd name="adj" fmla="val 3810"/>
            </a:avLst>
          </a:prstGeom>
          <a:solidFill xmlns:a="http://schemas.openxmlformats.org/drawingml/2006/main">
            <a:srgbClr val="0A233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DECE953-33D5-458F-A564-B1F32246F25F}"/>
              </a:ext>
            </a:extLst>
          </p:cNvPr>
          <p:cNvSpPr>
            <a:spLocks xmlns:a="http://schemas.openxmlformats.org/drawingml/2006/main" noGrp="1"/>
          </p:cNvSpPr>
          <p:nvPr/>
        </p:nvSpPr>
        <p:spPr>
          <a:xfrm xmlns:a="http://schemas.openxmlformats.org/drawingml/2006/main">
            <a:off x="3790950" y="248602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INTERFACE</a:t>
            </a:r>
          </a:p>
        </p:txBody>
      </p:sp>
      <p:sp>
        <p:nvSpPr>
          <p:cNvPr id="13" name="">
            <a:extLst xmlns:a="http://schemas.openxmlformats.org/drawingml/2006/main">
              <a:ext uri="{FF2B5EF4-FFF2-40B4-BE49-F238E27FC236}">
                <a16:creationId xmlns:a16="http://schemas.microsoft.com/office/drawing/2014/main" id="{BD301A82-8803-48E0-950B-8C23CAABB540}"/>
              </a:ext>
            </a:extLst>
          </p:cNvPr>
          <p:cNvSpPr>
            <a:spLocks xmlns:a="http://schemas.openxmlformats.org/drawingml/2006/main" noGrp="1"/>
          </p:cNvSpPr>
          <p:nvPr/>
        </p:nvSpPr>
        <p:spPr>
          <a:xfrm xmlns:a="http://schemas.openxmlformats.org/drawingml/2006/main">
            <a:off x="3790950" y="2790825"/>
            <a:ext cx="2228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communicates probability, horizon and limits</a:t>
            </a:r>
          </a:p>
        </p:txBody>
      </p:sp>
      <p:sp>
        <p:nvSpPr>
          <p:cNvPr id="14" name="">
            <a:extLst xmlns:a="http://schemas.openxmlformats.org/drawingml/2006/main">
              <a:ext uri="{FF2B5EF4-FFF2-40B4-BE49-F238E27FC236}">
                <a16:creationId xmlns:a16="http://schemas.microsoft.com/office/drawing/2014/main" id="{2097E4A5-20B5-4661-9549-19559E39172F}"/>
              </a:ext>
            </a:extLst>
          </p:cNvPr>
          <p:cNvSpPr>
            <a:spLocks xmlns:a="http://schemas.openxmlformats.org/drawingml/2006/main" noGrp="1"/>
          </p:cNvSpPr>
          <p:nvPr/>
        </p:nvSpPr>
        <p:spPr>
          <a:xfrm xmlns:a="http://schemas.openxmlformats.org/drawingml/2006/main">
            <a:off x="6191250" y="304800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6460"/>
          </a:bodyPr>
          <a:lstStyle xmlns:a="http://schemas.openxmlformats.org/drawingml/2006/main"/>
          <a:p xmlns:a="http://schemas.openxmlformats.org/drawingml/2006/main">
            <a:pPr algn="ctr">
              <a:defRPr sz="1800" b="1">
                <a:solidFill>
                  <a:srgbClr val="2F776F"/>
                </a:solidFill>
                <a:latin typeface="Calibri"/>
                <a:ea typeface="Calibri"/>
                <a:cs typeface="Calibri"/>
              </a:defRPr>
            </a:pPr>
            <a:r>
              <a:rPr sz="1800" b="1">
                <a:solidFill>
                  <a:srgbClr val="2F776F"/>
                </a:solidFill>
                <a:latin typeface="Calibri"/>
                <a:ea typeface="Calibri"/>
                <a:cs typeface="Calibri"/>
              </a:rPr>
              <a:t>→</a:t>
            </a:r>
          </a:p>
        </p:txBody>
      </p:sp>
      <p:sp>
        <p:nvSpPr>
          <p:cNvPr id="15" name="">
            <a:extLst xmlns:a="http://schemas.openxmlformats.org/drawingml/2006/main">
              <a:ext uri="{FF2B5EF4-FFF2-40B4-BE49-F238E27FC236}">
                <a16:creationId xmlns:a16="http://schemas.microsoft.com/office/drawing/2014/main" id="{7EC07A1C-59B3-49B5-87A5-9EDB01C5E46C}"/>
              </a:ext>
            </a:extLst>
          </p:cNvPr>
          <p:cNvSpPr>
            <a:spLocks xmlns:a="http://schemas.openxmlformats.org/drawingml/2006/main" noGrp="1"/>
          </p:cNvSpPr>
          <p:nvPr/>
        </p:nvSpPr>
        <p:spPr>
          <a:xfrm xmlns:a="http://schemas.openxmlformats.org/drawingml/2006/main">
            <a:off x="6477000" y="2333625"/>
            <a:ext cx="2571750" cy="2000250"/>
          </a:xfrm>
          <a:prstGeom xmlns:a="http://schemas.openxmlformats.org/drawingml/2006/main" prst="roundRect">
            <a:avLst>
              <a:gd name="adj" fmla="val 3810"/>
            </a:avLst>
          </a:prstGeom>
          <a:solidFill xmlns:a="http://schemas.openxmlformats.org/drawingml/2006/main">
            <a:srgbClr val="0A233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2930489-83BF-40F7-8E28-DCAC94B9545D}"/>
              </a:ext>
            </a:extLst>
          </p:cNvPr>
          <p:cNvSpPr>
            <a:spLocks xmlns:a="http://schemas.openxmlformats.org/drawingml/2006/main" noGrp="1"/>
          </p:cNvSpPr>
          <p:nvPr/>
        </p:nvSpPr>
        <p:spPr>
          <a:xfrm xmlns:a="http://schemas.openxmlformats.org/drawingml/2006/main">
            <a:off x="6648450" y="248602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REVIEWER</a:t>
            </a:r>
          </a:p>
        </p:txBody>
      </p:sp>
      <p:sp>
        <p:nvSpPr>
          <p:cNvPr id="17" name="">
            <a:extLst xmlns:a="http://schemas.openxmlformats.org/drawingml/2006/main">
              <a:ext uri="{FF2B5EF4-FFF2-40B4-BE49-F238E27FC236}">
                <a16:creationId xmlns:a16="http://schemas.microsoft.com/office/drawing/2014/main" id="{9DFCAFF8-A602-4BD2-AF6E-2E72E7EA33A6}"/>
              </a:ext>
            </a:extLst>
          </p:cNvPr>
          <p:cNvSpPr>
            <a:spLocks xmlns:a="http://schemas.openxmlformats.org/drawingml/2006/main" noGrp="1"/>
          </p:cNvSpPr>
          <p:nvPr/>
        </p:nvSpPr>
        <p:spPr>
          <a:xfrm xmlns:a="http://schemas.openxmlformats.org/drawingml/2006/main">
            <a:off x="6648450" y="2790825"/>
            <a:ext cx="2228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interprets context and exceptions</a:t>
            </a:r>
          </a:p>
        </p:txBody>
      </p:sp>
      <p:sp>
        <p:nvSpPr>
          <p:cNvPr id="18" name="">
            <a:extLst xmlns:a="http://schemas.openxmlformats.org/drawingml/2006/main">
              <a:ext uri="{FF2B5EF4-FFF2-40B4-BE49-F238E27FC236}">
                <a16:creationId xmlns:a16="http://schemas.microsoft.com/office/drawing/2014/main" id="{C788F216-5F76-4193-888E-D0B00725665A}"/>
              </a:ext>
            </a:extLst>
          </p:cNvPr>
          <p:cNvSpPr>
            <a:spLocks xmlns:a="http://schemas.openxmlformats.org/drawingml/2006/main" noGrp="1"/>
          </p:cNvSpPr>
          <p:nvPr/>
        </p:nvSpPr>
        <p:spPr>
          <a:xfrm xmlns:a="http://schemas.openxmlformats.org/drawingml/2006/main">
            <a:off x="9048750" y="304800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6460"/>
          </a:bodyPr>
          <a:lstStyle xmlns:a="http://schemas.openxmlformats.org/drawingml/2006/main"/>
          <a:p xmlns:a="http://schemas.openxmlformats.org/drawingml/2006/main">
            <a:pPr algn="ctr">
              <a:defRPr sz="1800" b="1">
                <a:solidFill>
                  <a:srgbClr val="2F776F"/>
                </a:solidFill>
                <a:latin typeface="Calibri"/>
                <a:ea typeface="Calibri"/>
                <a:cs typeface="Calibri"/>
              </a:defRPr>
            </a:pPr>
            <a:r>
              <a:rPr sz="1800" b="1">
                <a:solidFill>
                  <a:srgbClr val="2F776F"/>
                </a:solidFill>
                <a:latin typeface="Calibri"/>
                <a:ea typeface="Calibri"/>
                <a:cs typeface="Calibri"/>
              </a:rPr>
              <a:t>→</a:t>
            </a:r>
          </a:p>
        </p:txBody>
      </p:sp>
      <p:sp>
        <p:nvSpPr>
          <p:cNvPr id="19" name="">
            <a:extLst xmlns:a="http://schemas.openxmlformats.org/drawingml/2006/main">
              <a:ext uri="{FF2B5EF4-FFF2-40B4-BE49-F238E27FC236}">
                <a16:creationId xmlns:a16="http://schemas.microsoft.com/office/drawing/2014/main" id="{301137CE-8D70-4D23-A87B-7A4780D43FA9}"/>
              </a:ext>
            </a:extLst>
          </p:cNvPr>
          <p:cNvSpPr>
            <a:spLocks xmlns:a="http://schemas.openxmlformats.org/drawingml/2006/main" noGrp="1"/>
          </p:cNvSpPr>
          <p:nvPr/>
        </p:nvSpPr>
        <p:spPr>
          <a:xfrm xmlns:a="http://schemas.openxmlformats.org/drawingml/2006/main">
            <a:off x="9334500" y="2333625"/>
            <a:ext cx="2571750" cy="2000250"/>
          </a:xfrm>
          <a:prstGeom xmlns:a="http://schemas.openxmlformats.org/drawingml/2006/main" prst="roundRect">
            <a:avLst>
              <a:gd name="adj" fmla="val 3810"/>
            </a:avLst>
          </a:prstGeom>
          <a:solidFill xmlns:a="http://schemas.openxmlformats.org/drawingml/2006/main">
            <a:srgbClr val="DCA2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1639DB2-344E-4F46-9097-9D1E92B20267}"/>
              </a:ext>
            </a:extLst>
          </p:cNvPr>
          <p:cNvSpPr>
            <a:spLocks xmlns:a="http://schemas.openxmlformats.org/drawingml/2006/main" noGrp="1"/>
          </p:cNvSpPr>
          <p:nvPr/>
        </p:nvSpPr>
        <p:spPr>
          <a:xfrm xmlns:a="http://schemas.openxmlformats.org/drawingml/2006/main">
            <a:off x="9505950" y="248602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03172A"/>
                </a:solidFill>
                <a:latin typeface="Calibri"/>
                <a:ea typeface="Calibri"/>
                <a:cs typeface="Calibri"/>
              </a:defRPr>
            </a:pPr>
            <a:r>
              <a:rPr sz="750" b="1">
                <a:solidFill>
                  <a:srgbClr val="03172A"/>
                </a:solidFill>
                <a:latin typeface="Calibri"/>
                <a:ea typeface="Calibri"/>
                <a:cs typeface="Calibri"/>
              </a:rPr>
              <a:t>AUTHORITY</a:t>
            </a:r>
          </a:p>
        </p:txBody>
      </p:sp>
      <p:sp>
        <p:nvSpPr>
          <p:cNvPr id="21" name="">
            <a:extLst xmlns:a="http://schemas.openxmlformats.org/drawingml/2006/main">
              <a:ext uri="{FF2B5EF4-FFF2-40B4-BE49-F238E27FC236}">
                <a16:creationId xmlns:a16="http://schemas.microsoft.com/office/drawing/2014/main" id="{D076E784-91AD-47D8-96D2-17F55D71394A}"/>
              </a:ext>
            </a:extLst>
          </p:cNvPr>
          <p:cNvSpPr>
            <a:spLocks xmlns:a="http://schemas.openxmlformats.org/drawingml/2006/main" noGrp="1"/>
          </p:cNvSpPr>
          <p:nvPr/>
        </p:nvSpPr>
        <p:spPr>
          <a:xfrm xmlns:a="http://schemas.openxmlformats.org/drawingml/2006/main">
            <a:off x="9505950" y="2790825"/>
            <a:ext cx="2228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owns the decision and consequences</a:t>
            </a:r>
          </a:p>
        </p:txBody>
      </p:sp>
      <p:sp>
        <p:nvSpPr>
          <p:cNvPr id="22" name="">
            <a:extLst xmlns:a="http://schemas.openxmlformats.org/drawingml/2006/main">
              <a:ext uri="{FF2B5EF4-FFF2-40B4-BE49-F238E27FC236}">
                <a16:creationId xmlns:a16="http://schemas.microsoft.com/office/drawing/2014/main" id="{9FE658F0-52BA-46F1-A857-BE5AE59888AD}"/>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Automation changes the workflow; it does not erase accountability.</a:t>
            </a:r>
          </a:p>
        </p:txBody>
      </p:sp>
    </p:spTree>
    <p:extLst>
      <p:ext uri="{BB962C8B-B14F-4D97-AF65-F5344CB8AC3E}">
        <p14:creationId xmlns:p14="http://schemas.microsoft.com/office/powerpoint/2010/main" val="1762639436"/>
      </p:ext>
    </p:extLst>
  </p:cSld>
</p:sld>
</file>

<file path=ppt/slides/slide27.xml><?xml version="1.0" encoding="utf-8"?>
<p:sld xmlns:p="http://schemas.openxmlformats.org/presentationml/2006/main">
  <p:cSld>
    <p:bg>
      <p:bgPr>
        <a:solidFill xmlns:a="http://schemas.openxmlformats.org/drawingml/2006/main">
          <a:srgbClr val="03172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DB6F460-3208-4D59-A026-F9D763451500}"/>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09015E9B-C3D1-4A4E-BBE8-3B6FE10E284E}"/>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67B7B4"/>
                </a:solidFill>
                <a:latin typeface="Calibri"/>
                <a:ea typeface="Calibri"/>
                <a:cs typeface="Calibri"/>
              </a:defRPr>
            </a:pPr>
            <a:r>
              <a:rPr sz="750" b="1">
                <a:solidFill>
                  <a:srgbClr val="67B7B4"/>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70BA2ED8-08F5-4CFD-8C2F-3A838369DBE8}"/>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7B7B4"/>
                </a:solidFill>
                <a:latin typeface="Calibri"/>
                <a:ea typeface="Calibri"/>
                <a:cs typeface="Calibri"/>
              </a:defRPr>
            </a:pPr>
            <a:r>
              <a:rPr sz="750" b="1">
                <a:solidFill>
                  <a:srgbClr val="67B7B4"/>
                </a:solidFill>
                <a:latin typeface="Calibri"/>
                <a:ea typeface="Calibri"/>
                <a:cs typeface="Calibri"/>
              </a:rPr>
              <a:t>27</a:t>
            </a:r>
          </a:p>
        </p:txBody>
      </p:sp>
      <p:sp>
        <p:nvSpPr>
          <p:cNvPr id="4" name="">
            <a:extLst xmlns:a="http://schemas.openxmlformats.org/drawingml/2006/main">
              <a:ext uri="{FF2B5EF4-FFF2-40B4-BE49-F238E27FC236}">
                <a16:creationId xmlns:a16="http://schemas.microsoft.com/office/drawing/2014/main" id="{854505E5-0A56-4503-A072-DC9669D15736}"/>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2F77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E43DE0-F7A9-4517-AE5C-999181C4FE9D}"/>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AI REASONING CLINIC</a:t>
            </a:r>
          </a:p>
        </p:txBody>
      </p:sp>
      <p:sp>
        <p:nvSpPr>
          <p:cNvPr id="6" name="">
            <a:extLst xmlns:a="http://schemas.openxmlformats.org/drawingml/2006/main">
              <a:ext uri="{FF2B5EF4-FFF2-40B4-BE49-F238E27FC236}">
                <a16:creationId xmlns:a16="http://schemas.microsoft.com/office/drawing/2014/main" id="{348191D6-C206-4AC4-A7D2-665F4B6A3616}"/>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FFFFFF"/>
                </a:solidFill>
                <a:latin typeface="Calibri"/>
                <a:ea typeface="Calibri"/>
                <a:cs typeface="Calibri"/>
              </a:defRPr>
            </a:pPr>
            <a:r>
              <a:rPr sz="2100" b="0">
                <a:solidFill>
                  <a:srgbClr val="FFFFFF"/>
                </a:solidFill>
                <a:latin typeface="Calibri"/>
                <a:ea typeface="Calibri"/>
                <a:cs typeface="Calibri"/>
              </a:rPr>
              <a:t>A near-perfect score is a prompt for investigation—not deployment</a:t>
            </a:r>
          </a:p>
        </p:txBody>
      </p:sp>
      <p:sp>
        <p:nvSpPr>
          <p:cNvPr id="7" name="">
            <a:extLst xmlns:a="http://schemas.openxmlformats.org/drawingml/2006/main">
              <a:ext uri="{FF2B5EF4-FFF2-40B4-BE49-F238E27FC236}">
                <a16:creationId xmlns:a16="http://schemas.microsoft.com/office/drawing/2014/main" id="{D996E007-0C0D-43EC-A347-4435CC205B25}"/>
              </a:ext>
            </a:extLst>
          </p:cNvPr>
          <p:cNvSpPr>
            <a:spLocks xmlns:a="http://schemas.openxmlformats.org/drawingml/2006/main" noGrp="1"/>
          </p:cNvSpPr>
          <p:nvPr/>
        </p:nvSpPr>
        <p:spPr>
          <a:xfrm xmlns:a="http://schemas.openxmlformats.org/drawingml/2006/main">
            <a:off x="457200" y="1581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DDE8E7"/>
                </a:solidFill>
                <a:latin typeface="Calibri"/>
                <a:ea typeface="Calibri"/>
                <a:cs typeface="Calibri"/>
              </a:defRPr>
            </a:pPr>
            <a:r>
              <a:rPr sz="1200" b="0">
                <a:solidFill>
                  <a:srgbClr val="DDE8E7"/>
                </a:solidFill>
                <a:latin typeface="Calibri"/>
                <a:ea typeface="Calibri"/>
                <a:cs typeface="Calibri"/>
              </a:rPr>
              <a:t>Evaluate the claim before accepting the conclusion.</a:t>
            </a:r>
          </a:p>
        </p:txBody>
      </p:sp>
      <p:sp>
        <p:nvSpPr>
          <p:cNvPr id="8" name="">
            <a:extLst xmlns:a="http://schemas.openxmlformats.org/drawingml/2006/main">
              <a:ext uri="{FF2B5EF4-FFF2-40B4-BE49-F238E27FC236}">
                <a16:creationId xmlns:a16="http://schemas.microsoft.com/office/drawing/2014/main" id="{05804C67-E750-451B-BB61-A952DE8CEF28}"/>
              </a:ext>
            </a:extLst>
          </p:cNvPr>
          <p:cNvSpPr>
            <a:spLocks xmlns:a="http://schemas.openxmlformats.org/drawingml/2006/main" noGrp="1"/>
          </p:cNvSpPr>
          <p:nvPr/>
        </p:nvSpPr>
        <p:spPr>
          <a:xfrm xmlns:a="http://schemas.openxmlformats.org/drawingml/2006/main">
            <a:off x="952500" y="2238375"/>
            <a:ext cx="4476750" cy="2000250"/>
          </a:xfrm>
          <a:prstGeom xmlns:a="http://schemas.openxmlformats.org/drawingml/2006/main" prst="roundRect">
            <a:avLst>
              <a:gd name="adj" fmla="val 3810"/>
            </a:avLst>
          </a:prstGeom>
          <a:solidFill xmlns:a="http://schemas.openxmlformats.org/drawingml/2006/main">
            <a:srgbClr val="0A233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082861-A6A7-4CFB-9D20-9D01FD747D52}"/>
              </a:ext>
            </a:extLst>
          </p:cNvPr>
          <p:cNvSpPr>
            <a:spLocks xmlns:a="http://schemas.openxmlformats.org/drawingml/2006/main" noGrp="1"/>
          </p:cNvSpPr>
          <p:nvPr/>
        </p:nvSpPr>
        <p:spPr>
          <a:xfrm xmlns:a="http://schemas.openxmlformats.org/drawingml/2006/main">
            <a:off x="1123950" y="2390775"/>
            <a:ext cx="413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AI CLAIM</a:t>
            </a:r>
          </a:p>
        </p:txBody>
      </p:sp>
      <p:sp>
        <p:nvSpPr>
          <p:cNvPr id="10" name="">
            <a:extLst xmlns:a="http://schemas.openxmlformats.org/drawingml/2006/main">
              <a:ext uri="{FF2B5EF4-FFF2-40B4-BE49-F238E27FC236}">
                <a16:creationId xmlns:a16="http://schemas.microsoft.com/office/drawing/2014/main" id="{57516E30-7FAF-4E04-84F7-53E269347177}"/>
              </a:ext>
            </a:extLst>
          </p:cNvPr>
          <p:cNvSpPr>
            <a:spLocks xmlns:a="http://schemas.openxmlformats.org/drawingml/2006/main" noGrp="1"/>
          </p:cNvSpPr>
          <p:nvPr/>
        </p:nvSpPr>
        <p:spPr>
          <a:xfrm xmlns:a="http://schemas.openxmlformats.org/drawingml/2006/main">
            <a:off x="1123950" y="2695575"/>
            <a:ext cx="4133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“The model achieves almost perfect accuracy, so it is ready for deployment.”</a:t>
            </a:r>
          </a:p>
        </p:txBody>
      </p:sp>
      <p:sp>
        <p:nvSpPr>
          <p:cNvPr id="11" name="">
            <a:extLst xmlns:a="http://schemas.openxmlformats.org/drawingml/2006/main">
              <a:ext uri="{FF2B5EF4-FFF2-40B4-BE49-F238E27FC236}">
                <a16:creationId xmlns:a16="http://schemas.microsoft.com/office/drawing/2014/main" id="{B2D0BA47-C65B-4598-8DC5-B1FEAA902123}"/>
              </a:ext>
            </a:extLst>
          </p:cNvPr>
          <p:cNvSpPr>
            <a:spLocks xmlns:a="http://schemas.openxmlformats.org/drawingml/2006/main" noGrp="1"/>
          </p:cNvSpPr>
          <p:nvPr/>
        </p:nvSpPr>
        <p:spPr>
          <a:xfrm xmlns:a="http://schemas.openxmlformats.org/drawingml/2006/main">
            <a:off x="6762750" y="2238375"/>
            <a:ext cx="4476750" cy="2000250"/>
          </a:xfrm>
          <a:prstGeom xmlns:a="http://schemas.openxmlformats.org/drawingml/2006/main" prst="roundRect">
            <a:avLst>
              <a:gd name="adj" fmla="val 3810"/>
            </a:avLst>
          </a:prstGeom>
          <a:solidFill xmlns:a="http://schemas.openxmlformats.org/drawingml/2006/main">
            <a:srgbClr val="DCA24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7A52A18-94E9-4807-B236-A2AFF0503FC5}"/>
              </a:ext>
            </a:extLst>
          </p:cNvPr>
          <p:cNvSpPr>
            <a:spLocks xmlns:a="http://schemas.openxmlformats.org/drawingml/2006/main" noGrp="1"/>
          </p:cNvSpPr>
          <p:nvPr/>
        </p:nvSpPr>
        <p:spPr>
          <a:xfrm xmlns:a="http://schemas.openxmlformats.org/drawingml/2006/main">
            <a:off x="6934200" y="2390775"/>
            <a:ext cx="413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03172A"/>
                </a:solidFill>
                <a:latin typeface="Calibri"/>
                <a:ea typeface="Calibri"/>
                <a:cs typeface="Calibri"/>
              </a:defRPr>
            </a:pPr>
            <a:r>
              <a:rPr sz="750" b="1">
                <a:solidFill>
                  <a:srgbClr val="03172A"/>
                </a:solidFill>
                <a:latin typeface="Calibri"/>
                <a:ea typeface="Calibri"/>
                <a:cs typeface="Calibri"/>
              </a:rPr>
              <a:t>CONTROLLED REVISION</a:t>
            </a:r>
          </a:p>
        </p:txBody>
      </p:sp>
      <p:sp>
        <p:nvSpPr>
          <p:cNvPr id="13" name="">
            <a:extLst xmlns:a="http://schemas.openxmlformats.org/drawingml/2006/main">
              <a:ext uri="{FF2B5EF4-FFF2-40B4-BE49-F238E27FC236}">
                <a16:creationId xmlns:a16="http://schemas.microsoft.com/office/drawing/2014/main" id="{2C036F50-0AA4-4916-9B2A-369E1A01E919}"/>
              </a:ext>
            </a:extLst>
          </p:cNvPr>
          <p:cNvSpPr>
            <a:spLocks xmlns:a="http://schemas.openxmlformats.org/drawingml/2006/main" noGrp="1"/>
          </p:cNvSpPr>
          <p:nvPr/>
        </p:nvSpPr>
        <p:spPr>
          <a:xfrm xmlns:a="http://schemas.openxmlformats.org/drawingml/2006/main">
            <a:off x="6934200" y="2695575"/>
            <a:ext cx="4133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A2336"/>
                </a:solidFill>
                <a:latin typeface="Calibri"/>
                <a:ea typeface="Calibri"/>
                <a:cs typeface="Calibri"/>
              </a:defRPr>
            </a:pPr>
            <a:r>
              <a:rPr sz="1275" b="1">
                <a:solidFill>
                  <a:srgbClr val="0A2336"/>
                </a:solidFill>
                <a:latin typeface="Calibri"/>
                <a:ea typeface="Calibri"/>
                <a:cs typeface="Calibri"/>
              </a:rPr>
              <a:t>Promising under the stated design; still audit leakage, baselines, uncertainty, subgroups and intended use.</a:t>
            </a:r>
          </a:p>
        </p:txBody>
      </p:sp>
      <p:sp>
        <p:nvSpPr>
          <p:cNvPr id="14" name="">
            <a:extLst xmlns:a="http://schemas.openxmlformats.org/drawingml/2006/main">
              <a:ext uri="{FF2B5EF4-FFF2-40B4-BE49-F238E27FC236}">
                <a16:creationId xmlns:a16="http://schemas.microsoft.com/office/drawing/2014/main" id="{5792BE46-0448-4101-90DC-3D212D5ACF7D}"/>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67B7B4"/>
                </a:solidFill>
                <a:latin typeface="Calibri"/>
                <a:ea typeface="Calibri"/>
                <a:cs typeface="Calibri"/>
              </a:defRPr>
            </a:pPr>
            <a:r>
              <a:rPr sz="1050" b="1">
                <a:solidFill>
                  <a:srgbClr val="67B7B4"/>
                </a:solidFill>
                <a:latin typeface="Calibri"/>
                <a:ea typeface="Calibri"/>
                <a:cs typeface="Calibri"/>
              </a:rPr>
              <a:t>Reasoning quality is part of model quality.</a:t>
            </a:r>
          </a:p>
        </p:txBody>
      </p:sp>
    </p:spTree>
    <p:extLst>
      <p:ext uri="{BB962C8B-B14F-4D97-AF65-F5344CB8AC3E}">
        <p14:creationId xmlns:p14="http://schemas.microsoft.com/office/powerpoint/2010/main" val="1719485016"/>
      </p:ext>
    </p:extLst>
  </p:cSld>
</p:sld>
</file>

<file path=ppt/slides/slide28.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38B466C-6E7F-4FE7-AB84-A0323A830977}"/>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31AD8FD1-1D55-40FD-A34C-5A2962D0FBFF}"/>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4E6472"/>
                </a:solidFill>
                <a:latin typeface="Calibri"/>
                <a:ea typeface="Calibri"/>
                <a:cs typeface="Calibri"/>
              </a:defRPr>
            </a:pPr>
            <a:r>
              <a:rPr sz="750" b="1">
                <a:solidFill>
                  <a:srgbClr val="4E6472"/>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CBFACF59-C77E-46B2-8661-43B778595FF8}"/>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4E6472"/>
                </a:solidFill>
                <a:latin typeface="Calibri"/>
                <a:ea typeface="Calibri"/>
                <a:cs typeface="Calibri"/>
              </a:defRPr>
            </a:pPr>
            <a:r>
              <a:rPr sz="750" b="1">
                <a:solidFill>
                  <a:srgbClr val="4E6472"/>
                </a:solidFill>
                <a:latin typeface="Calibri"/>
                <a:ea typeface="Calibri"/>
                <a:cs typeface="Calibri"/>
              </a:rPr>
              <a:t>28</a:t>
            </a:r>
          </a:p>
        </p:txBody>
      </p:sp>
      <p:sp>
        <p:nvSpPr>
          <p:cNvPr id="4" name="">
            <a:extLst xmlns:a="http://schemas.openxmlformats.org/drawingml/2006/main">
              <a:ext uri="{FF2B5EF4-FFF2-40B4-BE49-F238E27FC236}">
                <a16:creationId xmlns:a16="http://schemas.microsoft.com/office/drawing/2014/main" id="{18E71963-2820-4377-A911-547CB47C36FD}"/>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C8C0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CE31A0-F9DC-43CA-86C2-A0B71F6337DC}"/>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2F776F"/>
                </a:solidFill>
                <a:latin typeface="Calibri"/>
                <a:ea typeface="Calibri"/>
                <a:cs typeface="Calibri"/>
              </a:defRPr>
            </a:pPr>
            <a:r>
              <a:rPr sz="750" b="1">
                <a:solidFill>
                  <a:srgbClr val="2F776F"/>
                </a:solidFill>
                <a:latin typeface="Calibri"/>
                <a:ea typeface="Calibri"/>
                <a:cs typeface="Calibri"/>
              </a:rPr>
              <a:t>GOVERNANCE STRESS TEST</a:t>
            </a:r>
          </a:p>
        </p:txBody>
      </p:sp>
      <p:sp>
        <p:nvSpPr>
          <p:cNvPr id="6" name="">
            <a:extLst xmlns:a="http://schemas.openxmlformats.org/drawingml/2006/main">
              <a:ext uri="{FF2B5EF4-FFF2-40B4-BE49-F238E27FC236}">
                <a16:creationId xmlns:a16="http://schemas.microsoft.com/office/drawing/2014/main" id="{30FF1792-957C-460C-8978-D06D2CEC6A88}"/>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0A2336"/>
                </a:solidFill>
                <a:latin typeface="Calibri"/>
                <a:ea typeface="Calibri"/>
                <a:cs typeface="Calibri"/>
              </a:defRPr>
            </a:pPr>
            <a:r>
              <a:rPr sz="2325" b="0">
                <a:solidFill>
                  <a:srgbClr val="0A2336"/>
                </a:solidFill>
                <a:latin typeface="Calibri"/>
                <a:ea typeface="Calibri"/>
                <a:cs typeface="Calibri"/>
              </a:rPr>
              <a:t>Deployment requires warning, suspension and recovery rules</a:t>
            </a:r>
          </a:p>
        </p:txBody>
      </p:sp>
      <p:sp>
        <p:nvSpPr>
          <p:cNvPr id="7" name="">
            <a:extLst xmlns:a="http://schemas.openxmlformats.org/drawingml/2006/main">
              <a:ext uri="{FF2B5EF4-FFF2-40B4-BE49-F238E27FC236}">
                <a16:creationId xmlns:a16="http://schemas.microsoft.com/office/drawing/2014/main" id="{632FD862-9407-4856-BB74-9DD4751FBE0D}"/>
              </a:ext>
            </a:extLst>
          </p:cNvPr>
          <p:cNvSpPr>
            <a:spLocks xmlns:a="http://schemas.openxmlformats.org/drawingml/2006/main" noGrp="1"/>
          </p:cNvSpPr>
          <p:nvPr/>
        </p:nvSpPr>
        <p:spPr>
          <a:xfrm xmlns:a="http://schemas.openxmlformats.org/drawingml/2006/main">
            <a:off x="1047750" y="2286000"/>
            <a:ext cx="3048000" cy="2095500"/>
          </a:xfrm>
          <a:prstGeom xmlns:a="http://schemas.openxmlformats.org/drawingml/2006/main" prst="roundRect">
            <a:avLst>
              <a:gd name="adj" fmla="val 3636"/>
            </a:avLst>
          </a:prstGeom>
          <a:solidFill xmlns:a="http://schemas.openxmlformats.org/drawingml/2006/main">
            <a:srgbClr val="0A23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160CC2-A7E9-4B7E-B545-1DDDF3F238BD}"/>
              </a:ext>
            </a:extLst>
          </p:cNvPr>
          <p:cNvSpPr>
            <a:spLocks xmlns:a="http://schemas.openxmlformats.org/drawingml/2006/main" noGrp="1"/>
          </p:cNvSpPr>
          <p:nvPr/>
        </p:nvSpPr>
        <p:spPr>
          <a:xfrm xmlns:a="http://schemas.openxmlformats.org/drawingml/2006/main">
            <a:off x="1219200" y="2438400"/>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WARNING</a:t>
            </a:r>
          </a:p>
        </p:txBody>
      </p:sp>
      <p:sp>
        <p:nvSpPr>
          <p:cNvPr id="9" name="">
            <a:extLst xmlns:a="http://schemas.openxmlformats.org/drawingml/2006/main">
              <a:ext uri="{FF2B5EF4-FFF2-40B4-BE49-F238E27FC236}">
                <a16:creationId xmlns:a16="http://schemas.microsoft.com/office/drawing/2014/main" id="{BDA4C86E-F48D-4984-A819-16017871D591}"/>
              </a:ext>
            </a:extLst>
          </p:cNvPr>
          <p:cNvSpPr>
            <a:spLocks xmlns:a="http://schemas.openxmlformats.org/drawingml/2006/main" noGrp="1"/>
          </p:cNvSpPr>
          <p:nvPr/>
        </p:nvSpPr>
        <p:spPr>
          <a:xfrm xmlns:a="http://schemas.openxmlformats.org/drawingml/2006/main">
            <a:off x="1219200" y="2743200"/>
            <a:ext cx="27051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investigate under heightened review</a:t>
            </a:r>
          </a:p>
        </p:txBody>
      </p:sp>
      <p:sp>
        <p:nvSpPr>
          <p:cNvPr id="10" name="">
            <a:extLst xmlns:a="http://schemas.openxmlformats.org/drawingml/2006/main">
              <a:ext uri="{FF2B5EF4-FFF2-40B4-BE49-F238E27FC236}">
                <a16:creationId xmlns:a16="http://schemas.microsoft.com/office/drawing/2014/main" id="{D8383263-FD36-4A54-A22F-192433BA5A5B}"/>
              </a:ext>
            </a:extLst>
          </p:cNvPr>
          <p:cNvSpPr>
            <a:spLocks xmlns:a="http://schemas.openxmlformats.org/drawingml/2006/main" noGrp="1"/>
          </p:cNvSpPr>
          <p:nvPr/>
        </p:nvSpPr>
        <p:spPr>
          <a:xfrm xmlns:a="http://schemas.openxmlformats.org/drawingml/2006/main">
            <a:off x="4476750" y="2286000"/>
            <a:ext cx="3048000" cy="2095500"/>
          </a:xfrm>
          <a:prstGeom xmlns:a="http://schemas.openxmlformats.org/drawingml/2006/main" prst="roundRect">
            <a:avLst>
              <a:gd name="adj" fmla="val 3636"/>
            </a:avLst>
          </a:prstGeom>
          <a:solidFill xmlns:a="http://schemas.openxmlformats.org/drawingml/2006/main">
            <a:srgbClr val="B94A4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2F6153D-EAF7-4119-81F1-359F213DF253}"/>
              </a:ext>
            </a:extLst>
          </p:cNvPr>
          <p:cNvSpPr>
            <a:spLocks xmlns:a="http://schemas.openxmlformats.org/drawingml/2006/main" noGrp="1"/>
          </p:cNvSpPr>
          <p:nvPr/>
        </p:nvSpPr>
        <p:spPr>
          <a:xfrm xmlns:a="http://schemas.openxmlformats.org/drawingml/2006/main">
            <a:off x="4648200" y="2438400"/>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FFFFFF"/>
                </a:solidFill>
                <a:latin typeface="Calibri"/>
                <a:ea typeface="Calibri"/>
                <a:cs typeface="Calibri"/>
              </a:defRPr>
            </a:pPr>
            <a:r>
              <a:rPr sz="750" b="1">
                <a:solidFill>
                  <a:srgbClr val="FFFFFF"/>
                </a:solidFill>
                <a:latin typeface="Calibri"/>
                <a:ea typeface="Calibri"/>
                <a:cs typeface="Calibri"/>
              </a:rPr>
              <a:t>SUSPENSION</a:t>
            </a:r>
          </a:p>
        </p:txBody>
      </p:sp>
      <p:sp>
        <p:nvSpPr>
          <p:cNvPr id="12" name="">
            <a:extLst xmlns:a="http://schemas.openxmlformats.org/drawingml/2006/main">
              <a:ext uri="{FF2B5EF4-FFF2-40B4-BE49-F238E27FC236}">
                <a16:creationId xmlns:a16="http://schemas.microsoft.com/office/drawing/2014/main" id="{7BEC3253-CA27-4DF6-9F0F-9ED8247314FF}"/>
              </a:ext>
            </a:extLst>
          </p:cNvPr>
          <p:cNvSpPr>
            <a:spLocks xmlns:a="http://schemas.openxmlformats.org/drawingml/2006/main" noGrp="1"/>
          </p:cNvSpPr>
          <p:nvPr/>
        </p:nvSpPr>
        <p:spPr>
          <a:xfrm xmlns:a="http://schemas.openxmlformats.org/drawingml/2006/main">
            <a:off x="4648200" y="2743200"/>
            <a:ext cx="27051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stop automated or high-impact use</a:t>
            </a:r>
          </a:p>
        </p:txBody>
      </p:sp>
      <p:sp>
        <p:nvSpPr>
          <p:cNvPr id="13" name="">
            <a:extLst xmlns:a="http://schemas.openxmlformats.org/drawingml/2006/main">
              <a:ext uri="{FF2B5EF4-FFF2-40B4-BE49-F238E27FC236}">
                <a16:creationId xmlns:a16="http://schemas.microsoft.com/office/drawing/2014/main" id="{F5C46CF8-C986-4338-AB51-4852F162E60E}"/>
              </a:ext>
            </a:extLst>
          </p:cNvPr>
          <p:cNvSpPr>
            <a:spLocks xmlns:a="http://schemas.openxmlformats.org/drawingml/2006/main" noGrp="1"/>
          </p:cNvSpPr>
          <p:nvPr/>
        </p:nvSpPr>
        <p:spPr>
          <a:xfrm xmlns:a="http://schemas.openxmlformats.org/drawingml/2006/main">
            <a:off x="7905750" y="2286000"/>
            <a:ext cx="3048000" cy="2095500"/>
          </a:xfrm>
          <a:prstGeom xmlns:a="http://schemas.openxmlformats.org/drawingml/2006/main" prst="roundRect">
            <a:avLst>
              <a:gd name="adj" fmla="val 3636"/>
            </a:avLst>
          </a:prstGeom>
          <a:solidFill xmlns:a="http://schemas.openxmlformats.org/drawingml/2006/main">
            <a:srgbClr val="2F776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41ABBE4-8075-4E07-84CC-165A730AB7D9}"/>
              </a:ext>
            </a:extLst>
          </p:cNvPr>
          <p:cNvSpPr>
            <a:spLocks xmlns:a="http://schemas.openxmlformats.org/drawingml/2006/main" noGrp="1"/>
          </p:cNvSpPr>
          <p:nvPr/>
        </p:nvSpPr>
        <p:spPr>
          <a:xfrm xmlns:a="http://schemas.openxmlformats.org/drawingml/2006/main">
            <a:off x="8077200" y="2438400"/>
            <a:ext cx="270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RECOVERY</a:t>
            </a:r>
          </a:p>
        </p:txBody>
      </p:sp>
      <p:sp>
        <p:nvSpPr>
          <p:cNvPr id="15" name="">
            <a:extLst xmlns:a="http://schemas.openxmlformats.org/drawingml/2006/main">
              <a:ext uri="{FF2B5EF4-FFF2-40B4-BE49-F238E27FC236}">
                <a16:creationId xmlns:a16="http://schemas.microsoft.com/office/drawing/2014/main" id="{2834878B-887D-4A1E-A020-3C828B885098}"/>
              </a:ext>
            </a:extLst>
          </p:cNvPr>
          <p:cNvSpPr>
            <a:spLocks xmlns:a="http://schemas.openxmlformats.org/drawingml/2006/main" noGrp="1"/>
          </p:cNvSpPr>
          <p:nvPr/>
        </p:nvSpPr>
        <p:spPr>
          <a:xfrm xmlns:a="http://schemas.openxmlformats.org/drawingml/2006/main">
            <a:off x="8077200" y="2743200"/>
            <a:ext cx="27051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document evidence required to resume</a:t>
            </a:r>
          </a:p>
        </p:txBody>
      </p:sp>
      <p:sp>
        <p:nvSpPr>
          <p:cNvPr id="16" name="">
            <a:extLst xmlns:a="http://schemas.openxmlformats.org/drawingml/2006/main">
              <a:ext uri="{FF2B5EF4-FFF2-40B4-BE49-F238E27FC236}">
                <a16:creationId xmlns:a16="http://schemas.microsoft.com/office/drawing/2014/main" id="{65EB1A25-CA0F-44FF-BE04-BC22AB168578}"/>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76F"/>
                </a:solidFill>
                <a:latin typeface="Calibri"/>
                <a:ea typeface="Calibri"/>
                <a:cs typeface="Calibri"/>
              </a:defRPr>
            </a:pPr>
            <a:r>
              <a:rPr sz="1050" b="1">
                <a:solidFill>
                  <a:srgbClr val="2F776F"/>
                </a:solidFill>
                <a:latin typeface="Calibri"/>
                <a:ea typeface="Calibri"/>
                <a:cs typeface="Calibri"/>
              </a:rPr>
              <a:t>Every trigger needs an owner, evidence window, response time and record.</a:t>
            </a:r>
          </a:p>
        </p:txBody>
      </p:sp>
    </p:spTree>
    <p:extLst>
      <p:ext uri="{BB962C8B-B14F-4D97-AF65-F5344CB8AC3E}">
        <p14:creationId xmlns:p14="http://schemas.microsoft.com/office/powerpoint/2010/main" val="1018949223"/>
      </p:ext>
    </p:extLst>
  </p:cSld>
</p:sld>
</file>

<file path=ppt/slides/slide29.xml><?xml version="1.0" encoding="utf-8"?>
<p:sld xmlns:p="http://schemas.openxmlformats.org/presentationml/2006/main">
  <p:cSld>
    <p:bg>
      <p:bgPr>
        <a:solidFill xmlns:a="http://schemas.openxmlformats.org/drawingml/2006/main">
          <a:srgbClr val="03172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567FA9B-C2CA-4131-BBD9-63CCDA653986}"/>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6C04AB64-F7A0-4107-8969-6A678D7BE95F}"/>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67B7B4"/>
                </a:solidFill>
                <a:latin typeface="Calibri"/>
                <a:ea typeface="Calibri"/>
                <a:cs typeface="Calibri"/>
              </a:defRPr>
            </a:pPr>
            <a:r>
              <a:rPr sz="750" b="1">
                <a:solidFill>
                  <a:srgbClr val="67B7B4"/>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7E92D137-BA62-4125-80D6-E18D85F24904}"/>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7B7B4"/>
                </a:solidFill>
                <a:latin typeface="Calibri"/>
                <a:ea typeface="Calibri"/>
                <a:cs typeface="Calibri"/>
              </a:defRPr>
            </a:pPr>
            <a:r>
              <a:rPr sz="750" b="1">
                <a:solidFill>
                  <a:srgbClr val="67B7B4"/>
                </a:solidFill>
                <a:latin typeface="Calibri"/>
                <a:ea typeface="Calibri"/>
                <a:cs typeface="Calibri"/>
              </a:rPr>
              <a:t>29</a:t>
            </a:r>
          </a:p>
        </p:txBody>
      </p:sp>
      <p:sp>
        <p:nvSpPr>
          <p:cNvPr id="4" name="">
            <a:extLst xmlns:a="http://schemas.openxmlformats.org/drawingml/2006/main">
              <a:ext uri="{FF2B5EF4-FFF2-40B4-BE49-F238E27FC236}">
                <a16:creationId xmlns:a16="http://schemas.microsoft.com/office/drawing/2014/main" id="{D115618E-1452-4832-8AAF-04FB83292FD9}"/>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2F77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3C0546-3188-490E-BBE8-CC56B2C493B5}"/>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SRAI EVIDENCE CHAIN</a:t>
            </a:r>
          </a:p>
        </p:txBody>
      </p:sp>
      <p:sp>
        <p:nvSpPr>
          <p:cNvPr id="6" name="">
            <a:extLst xmlns:a="http://schemas.openxmlformats.org/drawingml/2006/main">
              <a:ext uri="{FF2B5EF4-FFF2-40B4-BE49-F238E27FC236}">
                <a16:creationId xmlns:a16="http://schemas.microsoft.com/office/drawing/2014/main" id="{C6C491B2-EFD5-4D58-8839-333F8C939A55}"/>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FFFFFF"/>
                </a:solidFill>
                <a:latin typeface="Calibri"/>
                <a:ea typeface="Calibri"/>
                <a:cs typeface="Calibri"/>
              </a:defRPr>
            </a:pPr>
            <a:r>
              <a:rPr sz="2100" b="0">
                <a:solidFill>
                  <a:srgbClr val="FFFFFF"/>
                </a:solidFill>
                <a:latin typeface="Calibri"/>
                <a:ea typeface="Calibri"/>
                <a:cs typeface="Calibri"/>
              </a:rPr>
              <a:t>A defensible prediction can be reconstructed from seven linked records</a:t>
            </a:r>
          </a:p>
        </p:txBody>
      </p:sp>
      <p:sp>
        <p:nvSpPr>
          <p:cNvPr id="7" name="">
            <a:extLst xmlns:a="http://schemas.openxmlformats.org/drawingml/2006/main">
              <a:ext uri="{FF2B5EF4-FFF2-40B4-BE49-F238E27FC236}">
                <a16:creationId xmlns:a16="http://schemas.microsoft.com/office/drawing/2014/main" id="{1D4F510E-AADA-4AE5-94CD-DBA2CFB2B88B}"/>
              </a:ext>
            </a:extLst>
          </p:cNvPr>
          <p:cNvSpPr>
            <a:spLocks xmlns:a="http://schemas.openxmlformats.org/drawingml/2006/main" noGrp="1"/>
          </p:cNvSpPr>
          <p:nvPr/>
        </p:nvSpPr>
        <p:spPr>
          <a:xfrm xmlns:a="http://schemas.openxmlformats.org/drawingml/2006/main">
            <a:off x="857250" y="20955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BC98B771-722B-401E-ABC1-6536230ACF92}"/>
              </a:ext>
            </a:extLst>
          </p:cNvPr>
          <p:cNvSpPr>
            <a:spLocks xmlns:a="http://schemas.openxmlformats.org/drawingml/2006/main" noGrp="1"/>
          </p:cNvSpPr>
          <p:nvPr/>
        </p:nvSpPr>
        <p:spPr>
          <a:xfrm xmlns:a="http://schemas.openxmlformats.org/drawingml/2006/main">
            <a:off x="1333500" y="22098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E6BCE23-A121-4F45-AB62-95DBA347003F}"/>
              </a:ext>
            </a:extLst>
          </p:cNvPr>
          <p:cNvSpPr>
            <a:spLocks xmlns:a="http://schemas.openxmlformats.org/drawingml/2006/main" noGrp="1"/>
          </p:cNvSpPr>
          <p:nvPr/>
        </p:nvSpPr>
        <p:spPr>
          <a:xfrm xmlns:a="http://schemas.openxmlformats.org/drawingml/2006/main">
            <a:off x="1952625" y="20097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Decision purpose and authorized use</a:t>
            </a:r>
          </a:p>
        </p:txBody>
      </p:sp>
      <p:sp>
        <p:nvSpPr>
          <p:cNvPr id="10" name="">
            <a:extLst xmlns:a="http://schemas.openxmlformats.org/drawingml/2006/main">
              <a:ext uri="{FF2B5EF4-FFF2-40B4-BE49-F238E27FC236}">
                <a16:creationId xmlns:a16="http://schemas.microsoft.com/office/drawing/2014/main" id="{118DC69F-A466-4C92-8E42-8A9D65141ADF}"/>
              </a:ext>
            </a:extLst>
          </p:cNvPr>
          <p:cNvSpPr>
            <a:spLocks xmlns:a="http://schemas.openxmlformats.org/drawingml/2006/main" noGrp="1"/>
          </p:cNvSpPr>
          <p:nvPr/>
        </p:nvSpPr>
        <p:spPr>
          <a:xfrm xmlns:a="http://schemas.openxmlformats.org/drawingml/2006/main">
            <a:off x="857250" y="26479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02</a:t>
            </a:r>
          </a:p>
        </p:txBody>
      </p:sp>
      <p:sp>
        <p:nvSpPr>
          <p:cNvPr id="11" name="">
            <a:extLst xmlns:a="http://schemas.openxmlformats.org/drawingml/2006/main">
              <a:ext uri="{FF2B5EF4-FFF2-40B4-BE49-F238E27FC236}">
                <a16:creationId xmlns:a16="http://schemas.microsoft.com/office/drawing/2014/main" id="{49EC3FEA-0A44-4B56-B49D-C9047D4B2303}"/>
              </a:ext>
            </a:extLst>
          </p:cNvPr>
          <p:cNvSpPr>
            <a:spLocks xmlns:a="http://schemas.openxmlformats.org/drawingml/2006/main" noGrp="1"/>
          </p:cNvSpPr>
          <p:nvPr/>
        </p:nvSpPr>
        <p:spPr>
          <a:xfrm xmlns:a="http://schemas.openxmlformats.org/drawingml/2006/main">
            <a:off x="1333500" y="276225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E494DBE-A772-4098-B593-E0181D9D57E5}"/>
              </a:ext>
            </a:extLst>
          </p:cNvPr>
          <p:cNvSpPr>
            <a:spLocks xmlns:a="http://schemas.openxmlformats.org/drawingml/2006/main" noGrp="1"/>
          </p:cNvSpPr>
          <p:nvPr/>
        </p:nvSpPr>
        <p:spPr>
          <a:xfrm xmlns:a="http://schemas.openxmlformats.org/drawingml/2006/main">
            <a:off x="1952625" y="25622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Unit, target, horizon and admissible information</a:t>
            </a:r>
          </a:p>
        </p:txBody>
      </p:sp>
      <p:sp>
        <p:nvSpPr>
          <p:cNvPr id="13" name="">
            <a:extLst xmlns:a="http://schemas.openxmlformats.org/drawingml/2006/main">
              <a:ext uri="{FF2B5EF4-FFF2-40B4-BE49-F238E27FC236}">
                <a16:creationId xmlns:a16="http://schemas.microsoft.com/office/drawing/2014/main" id="{07BC424C-A24A-4B06-A07A-12C2B66E8C5D}"/>
              </a:ext>
            </a:extLst>
          </p:cNvPr>
          <p:cNvSpPr>
            <a:spLocks xmlns:a="http://schemas.openxmlformats.org/drawingml/2006/main" noGrp="1"/>
          </p:cNvSpPr>
          <p:nvPr/>
        </p:nvSpPr>
        <p:spPr>
          <a:xfrm xmlns:a="http://schemas.openxmlformats.org/drawingml/2006/main">
            <a:off x="857250" y="32004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03</a:t>
            </a:r>
          </a:p>
        </p:txBody>
      </p:sp>
      <p:sp>
        <p:nvSpPr>
          <p:cNvPr id="14" name="">
            <a:extLst xmlns:a="http://schemas.openxmlformats.org/drawingml/2006/main">
              <a:ext uri="{FF2B5EF4-FFF2-40B4-BE49-F238E27FC236}">
                <a16:creationId xmlns:a16="http://schemas.microsoft.com/office/drawing/2014/main" id="{DE7E1016-7EE0-4F01-B844-66BCCD756332}"/>
              </a:ext>
            </a:extLst>
          </p:cNvPr>
          <p:cNvSpPr>
            <a:spLocks xmlns:a="http://schemas.openxmlformats.org/drawingml/2006/main" noGrp="1"/>
          </p:cNvSpPr>
          <p:nvPr/>
        </p:nvSpPr>
        <p:spPr>
          <a:xfrm xmlns:a="http://schemas.openxmlformats.org/drawingml/2006/main">
            <a:off x="1333500" y="33147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92E124-5FA3-41E4-95ED-52E862644A8D}"/>
              </a:ext>
            </a:extLst>
          </p:cNvPr>
          <p:cNvSpPr>
            <a:spLocks xmlns:a="http://schemas.openxmlformats.org/drawingml/2006/main" noGrp="1"/>
          </p:cNvSpPr>
          <p:nvPr/>
        </p:nvSpPr>
        <p:spPr>
          <a:xfrm xmlns:a="http://schemas.openxmlformats.org/drawingml/2006/main">
            <a:off x="1952625" y="31146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Data provenance and partition design</a:t>
            </a:r>
          </a:p>
        </p:txBody>
      </p:sp>
      <p:sp>
        <p:nvSpPr>
          <p:cNvPr id="16" name="">
            <a:extLst xmlns:a="http://schemas.openxmlformats.org/drawingml/2006/main">
              <a:ext uri="{FF2B5EF4-FFF2-40B4-BE49-F238E27FC236}">
                <a16:creationId xmlns:a16="http://schemas.microsoft.com/office/drawing/2014/main" id="{6D72BCB1-1A9D-42AF-8589-A3E3A87D050E}"/>
              </a:ext>
            </a:extLst>
          </p:cNvPr>
          <p:cNvSpPr>
            <a:spLocks xmlns:a="http://schemas.openxmlformats.org/drawingml/2006/main" noGrp="1"/>
          </p:cNvSpPr>
          <p:nvPr/>
        </p:nvSpPr>
        <p:spPr>
          <a:xfrm xmlns:a="http://schemas.openxmlformats.org/drawingml/2006/main">
            <a:off x="857250" y="37528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9A54E84C-6B42-40AE-8E08-79ACF8825E8A}"/>
              </a:ext>
            </a:extLst>
          </p:cNvPr>
          <p:cNvSpPr>
            <a:spLocks xmlns:a="http://schemas.openxmlformats.org/drawingml/2006/main" noGrp="1"/>
          </p:cNvSpPr>
          <p:nvPr/>
        </p:nvSpPr>
        <p:spPr>
          <a:xfrm xmlns:a="http://schemas.openxmlformats.org/drawingml/2006/main">
            <a:off x="1333500" y="386715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91C04B4-C1BD-4B7A-AB80-D1E5A339E65B}"/>
              </a:ext>
            </a:extLst>
          </p:cNvPr>
          <p:cNvSpPr>
            <a:spLocks xmlns:a="http://schemas.openxmlformats.org/drawingml/2006/main" noGrp="1"/>
          </p:cNvSpPr>
          <p:nvPr/>
        </p:nvSpPr>
        <p:spPr>
          <a:xfrm xmlns:a="http://schemas.openxmlformats.org/drawingml/2006/main">
            <a:off x="1952625" y="36671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Baseline, model and learned preprocessing</a:t>
            </a:r>
          </a:p>
        </p:txBody>
      </p:sp>
      <p:sp>
        <p:nvSpPr>
          <p:cNvPr id="19" name="">
            <a:extLst xmlns:a="http://schemas.openxmlformats.org/drawingml/2006/main">
              <a:ext uri="{FF2B5EF4-FFF2-40B4-BE49-F238E27FC236}">
                <a16:creationId xmlns:a16="http://schemas.microsoft.com/office/drawing/2014/main" id="{18605D13-D145-445E-802E-F554EB3F0D1D}"/>
              </a:ext>
            </a:extLst>
          </p:cNvPr>
          <p:cNvSpPr>
            <a:spLocks xmlns:a="http://schemas.openxmlformats.org/drawingml/2006/main" noGrp="1"/>
          </p:cNvSpPr>
          <p:nvPr/>
        </p:nvSpPr>
        <p:spPr>
          <a:xfrm xmlns:a="http://schemas.openxmlformats.org/drawingml/2006/main">
            <a:off x="857250" y="43053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05</a:t>
            </a:r>
          </a:p>
        </p:txBody>
      </p:sp>
      <p:sp>
        <p:nvSpPr>
          <p:cNvPr id="20" name="">
            <a:extLst xmlns:a="http://schemas.openxmlformats.org/drawingml/2006/main">
              <a:ext uri="{FF2B5EF4-FFF2-40B4-BE49-F238E27FC236}">
                <a16:creationId xmlns:a16="http://schemas.microsoft.com/office/drawing/2014/main" id="{106E0107-2E1F-4361-AB3B-E026B9ED563D}"/>
              </a:ext>
            </a:extLst>
          </p:cNvPr>
          <p:cNvSpPr>
            <a:spLocks xmlns:a="http://schemas.openxmlformats.org/drawingml/2006/main" noGrp="1"/>
          </p:cNvSpPr>
          <p:nvPr/>
        </p:nvSpPr>
        <p:spPr>
          <a:xfrm xmlns:a="http://schemas.openxmlformats.org/drawingml/2006/main">
            <a:off x="1333500" y="44196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5E6CF04-146D-4345-9145-36786D61F1F3}"/>
              </a:ext>
            </a:extLst>
          </p:cNvPr>
          <p:cNvSpPr>
            <a:spLocks xmlns:a="http://schemas.openxmlformats.org/drawingml/2006/main" noGrp="1"/>
          </p:cNvSpPr>
          <p:nvPr/>
        </p:nvSpPr>
        <p:spPr>
          <a:xfrm xmlns:a="http://schemas.openxmlformats.org/drawingml/2006/main">
            <a:off x="1952625" y="42195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Verification and validation evidence</a:t>
            </a:r>
          </a:p>
        </p:txBody>
      </p:sp>
      <p:sp>
        <p:nvSpPr>
          <p:cNvPr id="22" name="">
            <a:extLst xmlns:a="http://schemas.openxmlformats.org/drawingml/2006/main">
              <a:ext uri="{FF2B5EF4-FFF2-40B4-BE49-F238E27FC236}">
                <a16:creationId xmlns:a16="http://schemas.microsoft.com/office/drawing/2014/main" id="{88B02B05-4859-4EE4-A870-04AEF199C9E8}"/>
              </a:ext>
            </a:extLst>
          </p:cNvPr>
          <p:cNvSpPr>
            <a:spLocks xmlns:a="http://schemas.openxmlformats.org/drawingml/2006/main" noGrp="1"/>
          </p:cNvSpPr>
          <p:nvPr/>
        </p:nvSpPr>
        <p:spPr>
          <a:xfrm xmlns:a="http://schemas.openxmlformats.org/drawingml/2006/main">
            <a:off x="857250" y="48577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06</a:t>
            </a:r>
          </a:p>
        </p:txBody>
      </p:sp>
      <p:sp>
        <p:nvSpPr>
          <p:cNvPr id="23" name="">
            <a:extLst xmlns:a="http://schemas.openxmlformats.org/drawingml/2006/main">
              <a:ext uri="{FF2B5EF4-FFF2-40B4-BE49-F238E27FC236}">
                <a16:creationId xmlns:a16="http://schemas.microsoft.com/office/drawing/2014/main" id="{FA000146-21B9-43A0-A8C7-91D401A9470E}"/>
              </a:ext>
            </a:extLst>
          </p:cNvPr>
          <p:cNvSpPr>
            <a:spLocks xmlns:a="http://schemas.openxmlformats.org/drawingml/2006/main" noGrp="1"/>
          </p:cNvSpPr>
          <p:nvPr/>
        </p:nvSpPr>
        <p:spPr>
          <a:xfrm xmlns:a="http://schemas.openxmlformats.org/drawingml/2006/main">
            <a:off x="1333500" y="497205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3429247-1B88-49CA-9950-ABA3B8B47B10}"/>
              </a:ext>
            </a:extLst>
          </p:cNvPr>
          <p:cNvSpPr>
            <a:spLocks xmlns:a="http://schemas.openxmlformats.org/drawingml/2006/main" noGrp="1"/>
          </p:cNvSpPr>
          <p:nvPr/>
        </p:nvSpPr>
        <p:spPr>
          <a:xfrm xmlns:a="http://schemas.openxmlformats.org/drawingml/2006/main">
            <a:off x="1952625" y="47720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Calibri"/>
                <a:ea typeface="Calibri"/>
                <a:cs typeface="Calibri"/>
              </a:defRPr>
            </a:pPr>
            <a:r>
              <a:rPr sz="1275" b="0">
                <a:solidFill>
                  <a:srgbClr val="FFFFFF"/>
                </a:solidFill>
                <a:latin typeface="Calibri"/>
                <a:ea typeface="Calibri"/>
                <a:cs typeface="Calibri"/>
              </a:rPr>
              <a:t>Uncertainty, subgroup and sensitivity findings</a:t>
            </a:r>
          </a:p>
        </p:txBody>
      </p:sp>
      <p:sp>
        <p:nvSpPr>
          <p:cNvPr id="25" name="">
            <a:extLst xmlns:a="http://schemas.openxmlformats.org/drawingml/2006/main">
              <a:ext uri="{FF2B5EF4-FFF2-40B4-BE49-F238E27FC236}">
                <a16:creationId xmlns:a16="http://schemas.microsoft.com/office/drawing/2014/main" id="{FF0B1664-0BCA-4833-8396-77BB5588FCAB}"/>
              </a:ext>
            </a:extLst>
          </p:cNvPr>
          <p:cNvSpPr>
            <a:spLocks xmlns:a="http://schemas.openxmlformats.org/drawingml/2006/main" noGrp="1"/>
          </p:cNvSpPr>
          <p:nvPr/>
        </p:nvSpPr>
        <p:spPr>
          <a:xfrm xmlns:a="http://schemas.openxmlformats.org/drawingml/2006/main">
            <a:off x="857250" y="54102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07</a:t>
            </a:r>
          </a:p>
        </p:txBody>
      </p:sp>
      <p:sp>
        <p:nvSpPr>
          <p:cNvPr id="26" name="">
            <a:extLst xmlns:a="http://schemas.openxmlformats.org/drawingml/2006/main">
              <a:ext uri="{FF2B5EF4-FFF2-40B4-BE49-F238E27FC236}">
                <a16:creationId xmlns:a16="http://schemas.microsoft.com/office/drawing/2014/main" id="{5F5F2035-7101-4126-ABDB-5A7B31A1AEC5}"/>
              </a:ext>
            </a:extLst>
          </p:cNvPr>
          <p:cNvSpPr>
            <a:spLocks xmlns:a="http://schemas.openxmlformats.org/drawingml/2006/main" noGrp="1"/>
          </p:cNvSpPr>
          <p:nvPr/>
        </p:nvSpPr>
        <p:spPr>
          <a:xfrm xmlns:a="http://schemas.openxmlformats.org/drawingml/2006/main">
            <a:off x="1333500" y="5524500"/>
            <a:ext cx="438150" cy="1905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87C75A0-2D04-429F-A7FE-F0405728E574}"/>
              </a:ext>
            </a:extLst>
          </p:cNvPr>
          <p:cNvSpPr>
            <a:spLocks xmlns:a="http://schemas.openxmlformats.org/drawingml/2006/main" noGrp="1"/>
          </p:cNvSpPr>
          <p:nvPr/>
        </p:nvSpPr>
        <p:spPr>
          <a:xfrm xmlns:a="http://schemas.openxmlformats.org/drawingml/2006/main">
            <a:off x="1952625" y="53244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Interpretation, limitations, monitoring and accountability</a:t>
            </a:r>
          </a:p>
        </p:txBody>
      </p:sp>
      <p:sp>
        <p:nvSpPr>
          <p:cNvPr id="28" name="">
            <a:extLst xmlns:a="http://schemas.openxmlformats.org/drawingml/2006/main">
              <a:ext uri="{FF2B5EF4-FFF2-40B4-BE49-F238E27FC236}">
                <a16:creationId xmlns:a16="http://schemas.microsoft.com/office/drawing/2014/main" id="{EA7F71AC-5C03-4B78-B8EC-18B44837D8AB}"/>
              </a:ext>
            </a:extLst>
          </p:cNvPr>
          <p:cNvSpPr>
            <a:spLocks xmlns:a="http://schemas.openxmlformats.org/drawingml/2006/main" noGrp="1"/>
          </p:cNvSpPr>
          <p:nvPr/>
        </p:nvSpPr>
        <p:spPr>
          <a:xfrm xmlns:a="http://schemas.openxmlformats.org/drawingml/2006/main">
            <a:off x="1143000" y="6191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67B7B4"/>
                </a:solidFill>
                <a:latin typeface="Calibri"/>
                <a:ea typeface="Calibri"/>
                <a:cs typeface="Calibri"/>
              </a:defRPr>
            </a:pPr>
            <a:r>
              <a:rPr sz="1050" b="1">
                <a:solidFill>
                  <a:srgbClr val="67B7B4"/>
                </a:solidFill>
                <a:latin typeface="Calibri"/>
                <a:ea typeface="Calibri"/>
                <a:cs typeface="Calibri"/>
              </a:rPr>
              <a:t>A missing link limits the claim the system can support.</a:t>
            </a:r>
          </a:p>
        </p:txBody>
      </p:sp>
    </p:spTree>
    <p:extLst>
      <p:ext uri="{BB962C8B-B14F-4D97-AF65-F5344CB8AC3E}">
        <p14:creationId xmlns:p14="http://schemas.microsoft.com/office/powerpoint/2010/main" val="473671309"/>
      </p:ext>
    </p:extLst>
  </p:cSld>
</p:sld>
</file>

<file path=ppt/slides/slide30.xml><?xml version="1.0" encoding="utf-8"?>
<p:sld xmlns:p="http://schemas.openxmlformats.org/presentationml/2006/main">
  <p:cSld>
    <p:bg>
      <p:bgPr>
        <a:solidFill xmlns:a="http://schemas.openxmlformats.org/drawingml/2006/main">
          <a:srgbClr val="03172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CB03CFE-4465-4A74-A8E0-54C3DCA97842}"/>
              </a:ext>
            </a:extLst>
          </p:cNvPr>
          <p:cNvSpPr>
            <a:spLocks xmlns:a="http://schemas.openxmlformats.org/drawingml/2006/main" noGrp="1"/>
          </p:cNvSpPr>
          <p:nvPr/>
        </p:nvSpPr>
        <p:spPr>
          <a:xfrm xmlns:a="http://schemas.openxmlformats.org/drawingml/2006/main">
            <a:off x="457200" y="209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DCA24A"/>
                </a:solidFill>
                <a:latin typeface="Calibri"/>
                <a:ea typeface="Calibri"/>
                <a:cs typeface="Calibri"/>
              </a:defRPr>
            </a:pPr>
            <a:r>
              <a:rPr sz="900" b="1">
                <a:solidFill>
                  <a:srgbClr val="DCA24A"/>
                </a:solidFill>
                <a:latin typeface="Calibri"/>
                <a:ea typeface="Calibri"/>
                <a:cs typeface="Calibri"/>
              </a:rPr>
              <a:t>SRAI</a:t>
            </a:r>
          </a:p>
        </p:txBody>
      </p:sp>
      <p:sp>
        <p:nvSpPr>
          <p:cNvPr id="2" name="">
            <a:extLst xmlns:a="http://schemas.openxmlformats.org/drawingml/2006/main">
              <a:ext uri="{FF2B5EF4-FFF2-40B4-BE49-F238E27FC236}">
                <a16:creationId xmlns:a16="http://schemas.microsoft.com/office/drawing/2014/main" id="{A9C93029-2094-42E4-8D43-D59EBE9CDF44}"/>
              </a:ext>
            </a:extLst>
          </p:cNvPr>
          <p:cNvSpPr>
            <a:spLocks xmlns:a="http://schemas.openxmlformats.org/drawingml/2006/main" noGrp="1"/>
          </p:cNvSpPr>
          <p:nvPr/>
        </p:nvSpPr>
        <p:spPr>
          <a:xfrm xmlns:a="http://schemas.openxmlformats.org/drawingml/2006/main">
            <a:off x="29527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67B7B4"/>
                </a:solidFill>
                <a:latin typeface="Calibri"/>
                <a:ea typeface="Calibri"/>
                <a:cs typeface="Calibri"/>
              </a:defRPr>
            </a:pPr>
            <a:r>
              <a:rPr sz="750" b="1">
                <a:solidFill>
                  <a:srgbClr val="67B7B4"/>
                </a:solidFill>
                <a:latin typeface="Calibri"/>
                <a:ea typeface="Calibri"/>
                <a:cs typeface="Calibri"/>
              </a:rPr>
              <a:t>BOOK 2 · LESSON 1</a:t>
            </a:r>
          </a:p>
        </p:txBody>
      </p:sp>
      <p:sp>
        <p:nvSpPr>
          <p:cNvPr id="3" name="">
            <a:extLst xmlns:a="http://schemas.openxmlformats.org/drawingml/2006/main">
              <a:ext uri="{FF2B5EF4-FFF2-40B4-BE49-F238E27FC236}">
                <a16:creationId xmlns:a16="http://schemas.microsoft.com/office/drawing/2014/main" id="{B85999F1-5A4E-4D96-85A4-D37570593380}"/>
              </a:ext>
            </a:extLst>
          </p:cNvPr>
          <p:cNvSpPr>
            <a:spLocks xmlns:a="http://schemas.openxmlformats.org/drawingml/2006/main" noGrp="1"/>
          </p:cNvSpPr>
          <p:nvPr/>
        </p:nvSpPr>
        <p:spPr>
          <a:xfrm xmlns:a="http://schemas.openxmlformats.org/drawingml/2006/main">
            <a:off x="11239500" y="2095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7B7B4"/>
                </a:solidFill>
                <a:latin typeface="Calibri"/>
                <a:ea typeface="Calibri"/>
                <a:cs typeface="Calibri"/>
              </a:defRPr>
            </a:pPr>
            <a:r>
              <a:rPr sz="750" b="1">
                <a:solidFill>
                  <a:srgbClr val="67B7B4"/>
                </a:solidFill>
                <a:latin typeface="Calibri"/>
                <a:ea typeface="Calibri"/>
                <a:cs typeface="Calibri"/>
              </a:rPr>
              <a:t>30</a:t>
            </a:r>
          </a:p>
        </p:txBody>
      </p:sp>
      <p:sp>
        <p:nvSpPr>
          <p:cNvPr id="4" name="">
            <a:extLst xmlns:a="http://schemas.openxmlformats.org/drawingml/2006/main">
              <a:ext uri="{FF2B5EF4-FFF2-40B4-BE49-F238E27FC236}">
                <a16:creationId xmlns:a16="http://schemas.microsoft.com/office/drawing/2014/main" id="{B0220FF9-E2ED-402D-AB11-62243A19B1EB}"/>
              </a:ext>
            </a:extLst>
          </p:cNvPr>
          <p:cNvSpPr>
            <a:spLocks xmlns:a="http://schemas.openxmlformats.org/drawingml/2006/main" noGrp="1"/>
          </p:cNvSpPr>
          <p:nvPr/>
        </p:nvSpPr>
        <p:spPr>
          <a:xfrm xmlns:a="http://schemas.openxmlformats.org/drawingml/2006/main">
            <a:off x="457200" y="476250"/>
            <a:ext cx="11277600" cy="9525"/>
          </a:xfrm>
          <a:prstGeom xmlns:a="http://schemas.openxmlformats.org/drawingml/2006/main" prst="rect">
            <a:avLst/>
          </a:prstGeom>
          <a:solidFill xmlns:a="http://schemas.openxmlformats.org/drawingml/2006/main">
            <a:srgbClr val="2F77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85C6FC-81E3-439E-A2FB-D579960B40BE}"/>
              </a:ext>
            </a:extLst>
          </p:cNvPr>
          <p:cNvSpPr>
            <a:spLocks xmlns:a="http://schemas.openxmlformats.org/drawingml/2006/main" noGrp="1"/>
          </p:cNvSpPr>
          <p:nvPr/>
        </p:nvSpPr>
        <p:spPr>
          <a:xfrm xmlns:a="http://schemas.openxmlformats.org/drawingml/2006/main">
            <a:off x="685800" y="6667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SRAI PRINCIPLE NO. 31</a:t>
            </a:r>
          </a:p>
        </p:txBody>
      </p:sp>
      <p:sp>
        <p:nvSpPr>
          <p:cNvPr id="6" name="">
            <a:extLst xmlns:a="http://schemas.openxmlformats.org/drawingml/2006/main">
              <a:ext uri="{FF2B5EF4-FFF2-40B4-BE49-F238E27FC236}">
                <a16:creationId xmlns:a16="http://schemas.microsoft.com/office/drawing/2014/main" id="{4D2718AD-0392-4103-A2FD-364DF78A104E}"/>
              </a:ext>
            </a:extLst>
          </p:cNvPr>
          <p:cNvSpPr>
            <a:spLocks xmlns:a="http://schemas.openxmlformats.org/drawingml/2006/main" noGrp="1"/>
          </p:cNvSpPr>
          <p:nvPr/>
        </p:nvSpPr>
        <p:spPr>
          <a:xfrm xmlns:a="http://schemas.openxmlformats.org/drawingml/2006/main">
            <a:off x="457200" y="9144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FFFFFF"/>
                </a:solidFill>
                <a:latin typeface="Calibri"/>
                <a:ea typeface="Calibri"/>
                <a:cs typeface="Calibri"/>
              </a:defRPr>
            </a:pPr>
            <a:r>
              <a:rPr sz="2325" b="0">
                <a:solidFill>
                  <a:srgbClr val="FFFFFF"/>
                </a:solidFill>
                <a:latin typeface="Calibri"/>
                <a:ea typeface="Calibri"/>
                <a:cs typeface="Calibri"/>
              </a:rPr>
              <a:t>Generalization is not a score; it is a controlled claim</a:t>
            </a:r>
          </a:p>
        </p:txBody>
      </p:sp>
      <p:sp>
        <p:nvSpPr>
          <p:cNvPr id="7" name="">
            <a:extLst xmlns:a="http://schemas.openxmlformats.org/drawingml/2006/main">
              <a:ext uri="{FF2B5EF4-FFF2-40B4-BE49-F238E27FC236}">
                <a16:creationId xmlns:a16="http://schemas.microsoft.com/office/drawing/2014/main" id="{9DF6077F-10CF-4D46-B0BF-BF49EA192FC9}"/>
              </a:ext>
            </a:extLst>
          </p:cNvPr>
          <p:cNvSpPr>
            <a:spLocks xmlns:a="http://schemas.openxmlformats.org/drawingml/2006/main" noGrp="1"/>
          </p:cNvSpPr>
          <p:nvPr/>
        </p:nvSpPr>
        <p:spPr>
          <a:xfrm xmlns:a="http://schemas.openxmlformats.org/drawingml/2006/main">
            <a:off x="457200" y="1581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DDE8E7"/>
                </a:solidFill>
                <a:latin typeface="Calibri"/>
                <a:ea typeface="Calibri"/>
                <a:cs typeface="Calibri"/>
              </a:defRPr>
            </a:pPr>
            <a:r>
              <a:rPr sz="1200" b="0">
                <a:solidFill>
                  <a:srgbClr val="DDE8E7"/>
                </a:solidFill>
                <a:latin typeface="Calibri"/>
                <a:ea typeface="Calibri"/>
                <a:cs typeface="Calibri"/>
              </a:rPr>
              <a:t>The claim survives only when its boundary, evidence and intended use remain explicit.</a:t>
            </a:r>
          </a:p>
        </p:txBody>
      </p:sp>
      <p:sp>
        <p:nvSpPr>
          <p:cNvPr id="8" name="">
            <a:extLst xmlns:a="http://schemas.openxmlformats.org/drawingml/2006/main">
              <a:ext uri="{FF2B5EF4-FFF2-40B4-BE49-F238E27FC236}">
                <a16:creationId xmlns:a16="http://schemas.microsoft.com/office/drawing/2014/main" id="{9F562FCC-8966-47C0-9B0D-41064835DB61}"/>
              </a:ext>
            </a:extLst>
          </p:cNvPr>
          <p:cNvSpPr>
            <a:spLocks xmlns:a="http://schemas.openxmlformats.org/drawingml/2006/main" noGrp="1"/>
          </p:cNvSpPr>
          <p:nvPr/>
        </p:nvSpPr>
        <p:spPr>
          <a:xfrm xmlns:a="http://schemas.openxmlformats.org/drawingml/2006/main">
            <a:off x="857250" y="2238375"/>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DDE8E7"/>
                </a:solidFill>
                <a:latin typeface="Calibri"/>
                <a:ea typeface="Calibri"/>
                <a:cs typeface="Calibri"/>
              </a:defRPr>
            </a:pPr>
            <a:r>
              <a:rPr sz="1350" b="0">
                <a:solidFill>
                  <a:srgbClr val="DDE8E7"/>
                </a:solidFill>
                <a:latin typeface="Calibri"/>
                <a:ea typeface="Calibri"/>
                <a:cs typeface="Calibri"/>
              </a:rPr>
              <a:t>Prediction becomes evidence only after</a:t>
            </a:r>
          </a:p>
        </p:txBody>
      </p:sp>
      <p:sp>
        <p:nvSpPr>
          <p:cNvPr id="9" name="">
            <a:extLst xmlns:a="http://schemas.openxmlformats.org/drawingml/2006/main">
              <a:ext uri="{FF2B5EF4-FFF2-40B4-BE49-F238E27FC236}">
                <a16:creationId xmlns:a16="http://schemas.microsoft.com/office/drawing/2014/main" id="{E13EA70B-CBBB-4AAC-93B4-0F0785F69C22}"/>
              </a:ext>
            </a:extLst>
          </p:cNvPr>
          <p:cNvSpPr>
            <a:spLocks xmlns:a="http://schemas.openxmlformats.org/drawingml/2006/main" noGrp="1"/>
          </p:cNvSpPr>
          <p:nvPr/>
        </p:nvSpPr>
        <p:spPr>
          <a:xfrm xmlns:a="http://schemas.openxmlformats.org/drawingml/2006/main">
            <a:off x="857250" y="2714625"/>
            <a:ext cx="733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the information boundary, evaluation design,</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uncertainty and accountability have been justified.</a:t>
            </a:r>
          </a:p>
        </p:txBody>
      </p:sp>
      <p:sp>
        <p:nvSpPr>
          <p:cNvPr id="10" name="">
            <a:extLst xmlns:a="http://schemas.openxmlformats.org/drawingml/2006/main">
              <a:ext uri="{FF2B5EF4-FFF2-40B4-BE49-F238E27FC236}">
                <a16:creationId xmlns:a16="http://schemas.microsoft.com/office/drawing/2014/main" id="{24392A84-327A-44AC-89A8-77A627636076}"/>
              </a:ext>
            </a:extLst>
          </p:cNvPr>
          <p:cNvSpPr>
            <a:spLocks xmlns:a="http://schemas.openxmlformats.org/drawingml/2006/main" noGrp="1"/>
          </p:cNvSpPr>
          <p:nvPr/>
        </p:nvSpPr>
        <p:spPr>
          <a:xfrm xmlns:a="http://schemas.openxmlformats.org/drawingml/2006/main">
            <a:off x="857250" y="4333875"/>
            <a:ext cx="1714500" cy="38100"/>
          </a:xfrm>
          <a:prstGeom xmlns:a="http://schemas.openxmlformats.org/drawingml/2006/main" prst="rect">
            <a:avLst/>
          </a:prstGeom>
          <a:solidFill xmlns:a="http://schemas.openxmlformats.org/drawingml/2006/main">
            <a:srgbClr val="67B7B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47E3B61-BD8F-450F-AE5E-D4695938EE2C}"/>
              </a:ext>
            </a:extLst>
          </p:cNvPr>
          <p:cNvSpPr>
            <a:spLocks xmlns:a="http://schemas.openxmlformats.org/drawingml/2006/main" noGrp="1"/>
          </p:cNvSpPr>
          <p:nvPr/>
        </p:nvSpPr>
        <p:spPr>
          <a:xfrm xmlns:a="http://schemas.openxmlformats.org/drawingml/2006/main">
            <a:off x="857250" y="481012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CA24A"/>
                </a:solidFill>
                <a:latin typeface="Calibri"/>
                <a:ea typeface="Calibri"/>
                <a:cs typeface="Calibri"/>
              </a:defRPr>
            </a:pPr>
            <a:r>
              <a:rPr sz="975" b="1">
                <a:solidFill>
                  <a:srgbClr val="DCA24A"/>
                </a:solidFill>
                <a:latin typeface="Calibri"/>
                <a:ea typeface="Calibri"/>
                <a:cs typeface="Calibri"/>
              </a:rPr>
              <a:t>Next · Linear regression</a:t>
            </a:r>
          </a:p>
        </p:txBody>
      </p:sp>
      <p:sp>
        <p:nvSpPr>
          <p:cNvPr id="12" name="">
            <a:extLst xmlns:a="http://schemas.openxmlformats.org/drawingml/2006/main">
              <a:ext uri="{FF2B5EF4-FFF2-40B4-BE49-F238E27FC236}">
                <a16:creationId xmlns:a16="http://schemas.microsoft.com/office/drawing/2014/main" id="{8CC7FB2C-773D-4AD3-9959-1D2B20AB195A}"/>
              </a:ext>
            </a:extLst>
          </p:cNvPr>
          <p:cNvSpPr>
            <a:spLocks xmlns:a="http://schemas.openxmlformats.org/drawingml/2006/main" noGrp="1"/>
          </p:cNvSpPr>
          <p:nvPr/>
        </p:nvSpPr>
        <p:spPr>
          <a:xfrm xmlns:a="http://schemas.openxmlformats.org/drawingml/2006/main">
            <a:off x="8810625" y="2000250"/>
            <a:ext cx="2476500" cy="2476500"/>
          </a:xfrm>
          <a:prstGeom xmlns:a="http://schemas.openxmlformats.org/drawingml/2006/main" prst="roundRect">
            <a:avLst>
              <a:gd name="adj" fmla="val 3077"/>
            </a:avLst>
          </a:prstGeom>
          <a:solidFill xmlns:a="http://schemas.openxmlformats.org/drawingml/2006/main">
            <a:srgbClr val="0A233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8C9B2C9-A6A7-4686-A42B-16F6717D8454}"/>
              </a:ext>
            </a:extLst>
          </p:cNvPr>
          <p:cNvSpPr>
            <a:spLocks xmlns:a="http://schemas.openxmlformats.org/drawingml/2006/main" noGrp="1"/>
          </p:cNvSpPr>
          <p:nvPr/>
        </p:nvSpPr>
        <p:spPr>
          <a:xfrm xmlns:a="http://schemas.openxmlformats.org/drawingml/2006/main">
            <a:off x="8982075" y="2152650"/>
            <a:ext cx="2133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1">
                <a:solidFill>
                  <a:srgbClr val="DCA24A"/>
                </a:solidFill>
                <a:latin typeface="Calibri"/>
                <a:ea typeface="Calibri"/>
                <a:cs typeface="Calibri"/>
              </a:defRPr>
            </a:pPr>
            <a:r>
              <a:rPr sz="750" b="1">
                <a:solidFill>
                  <a:srgbClr val="DCA24A"/>
                </a:solidFill>
                <a:latin typeface="Calibri"/>
                <a:ea typeface="Calibri"/>
                <a:cs typeface="Calibri"/>
              </a:rPr>
              <a:t>CONTROLLED RESOURCES</a:t>
            </a:r>
          </a:p>
        </p:txBody>
      </p:sp>
      <p:sp>
        <p:nvSpPr>
          <p:cNvPr id="14" name="">
            <a:extLst xmlns:a="http://schemas.openxmlformats.org/drawingml/2006/main">
              <a:ext uri="{FF2B5EF4-FFF2-40B4-BE49-F238E27FC236}">
                <a16:creationId xmlns:a16="http://schemas.microsoft.com/office/drawing/2014/main" id="{5FF6F5C9-6260-4F4C-908D-A25B719D3722}"/>
              </a:ext>
            </a:extLst>
          </p:cNvPr>
          <p:cNvSpPr>
            <a:spLocks xmlns:a="http://schemas.openxmlformats.org/drawingml/2006/main" noGrp="1"/>
          </p:cNvSpPr>
          <p:nvPr/>
        </p:nvSpPr>
        <p:spPr>
          <a:xfrm xmlns:a="http://schemas.openxmlformats.org/drawingml/2006/main">
            <a:off x="8982075" y="2457450"/>
            <a:ext cx="21336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Chapter 1</a:t>
            </a:r>
          </a:p>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Canonical notebook</a:t>
            </a:r>
          </a:p>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Executed evidence</a:t>
            </a:r>
          </a:p>
          <a:p xmlns:a="http://schemas.openxmlformats.org/drawingml/2006/main">
            <a:pPr algn="l">
              <a:defRPr sz="1275" b="1">
                <a:solidFill>
                  <a:srgbClr val="FFFFFF"/>
                </a:solidFill>
                <a:latin typeface="Calibri"/>
                <a:ea typeface="Calibri"/>
                <a:cs typeface="Calibri"/>
              </a:defRPr>
            </a:pPr>
            <a:r>
              <a:rPr sz="1275" b="1">
                <a:solidFill>
                  <a:srgbClr val="FFFFFF"/>
                </a:solidFill>
                <a:latin typeface="Calibri"/>
                <a:ea typeface="Calibri"/>
                <a:cs typeface="Calibri"/>
              </a:rPr>
              <a:t>Review record</a:t>
            </a:r>
          </a:p>
        </p:txBody>
      </p:sp>
    </p:spTree>
    <p:extLst>
      <p:ext uri="{BB962C8B-B14F-4D97-AF65-F5344CB8AC3E}">
        <p14:creationId xmlns:p14="http://schemas.microsoft.com/office/powerpoint/2010/main" val="833811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2026-09-10T11:36:46.8520000Z</dcterms:created>
  <dcterms:modified xsi:type="dcterms:W3CDTF">2026-09-10T11:36:46.8520000Z</dcterms:modified>
</coreProperties>
</file>